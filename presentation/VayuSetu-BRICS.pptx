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13375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a:t>HOOK (20 s): VayuSetu finds the pollution hotspot on your street, proves it with independent evidence, and makes sure it gets fixed. Live today in 12 cities: six major Indian cities and the six other BRICS capitals. 137 live ground stations, 13 languages, Gemini doing four grounded jobs.</a:t>
            </a:r>
            <a:endParaRPr lang="en-IN"/>
          </a:p>
        </p:txBody>
      </p:sp>
    </p:spTree>
    <p:extLst>
      <p:ext uri="{BB962C8B-B14F-4D97-AF65-F5344CB8AC3E}">
        <p14:creationId xmlns:p14="http://schemas.microsoft.com/office/powerpoint/2010/main" val="38014500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a:t>PROBLEM (40 s): WHO says 99% of people live where its air-quality guidelines are not met; 4.2 million premature deaths from outdoor air in 2019; 89% of them in low- and middle-income countries. Three gaps: street sources vanish into the city average, smoke crosses borders, and data never reaches a crew.</a:t>
            </a:r>
            <a:endParaRPr lang="en-IN"/>
          </a:p>
        </p:txBody>
      </p:sp>
    </p:spTree>
    <p:extLst>
      <p:ext uri="{BB962C8B-B14F-4D97-AF65-F5344CB8AC3E}">
        <p14:creationId xmlns:p14="http://schemas.microsoft.com/office/powerpoint/2010/main" val="18883509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a:t>SOLUTION (45 s): Sense, verify, fuse, act. Then the contrast: street-level cells instead of one city number; five evidence sources instead of one feed; every report checked; and the story ends with a routed work order and residents confirming the fix.</a:t>
            </a:r>
            <a:endParaRPr lang="en-IN"/>
          </a:p>
        </p:txBody>
      </p:sp>
    </p:spTree>
    <p:extLst>
      <p:ext uri="{BB962C8B-B14F-4D97-AF65-F5344CB8AC3E}">
        <p14:creationId xmlns:p14="http://schemas.microsoft.com/office/powerpoint/2010/main" val="37680767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a:t>ARCHITECTURE (45 s): Three boxes: inputs, Google Cloud, outputs. Key decision: everything is indexed to the same H3 hexagon (~0.7 km2), so a citizen photo, a station reading and a satellite pixel are compared in the same place. Cloud Scheduler runs the scan and BigQuery ingest every 30 minutes.</a:t>
            </a:r>
            <a:endParaRPr lang="en-IN"/>
          </a:p>
        </p:txBody>
      </p:sp>
    </p:spTree>
    <p:extLst>
      <p:ext uri="{BB962C8B-B14F-4D97-AF65-F5344CB8AC3E}">
        <p14:creationId xmlns:p14="http://schemas.microsoft.com/office/powerpoint/2010/main" val="16250075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a:t>GEMINI (50 s): Four jobs. Photo check (vision + JSON, authenticity). Operations copilot (function calling over 7 live tools). Work orders (structured output, English + local language, repeat-hotspot aware). Resident summaries (13 languages, cached, read-aloud). Guardrails: facts in, facts cited; Flash-Lite fallback; the page says so if both fail; health advice comes from Google, not Gemini.</a:t>
            </a:r>
            <a:endParaRPr lang="en-IN"/>
          </a:p>
        </p:txBody>
      </p:sp>
    </p:spTree>
    <p:extLst>
      <p:ext uri="{BB962C8B-B14F-4D97-AF65-F5344CB8AC3E}">
        <p14:creationId xmlns:p14="http://schemas.microsoft.com/office/powerpoint/2010/main" val="40782947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a:t>VERIFICATION (45 s): Report, classify, integrity (EXIF time/GPS, duplicate hashes, screenshots), fuse, dispatch. Six promotion tiers, strongest first. 53 of our 55 incidents were raised automatically by the 30-minute station + satellite scan. Flagged reports never count toward promotion.</a:t>
            </a:r>
            <a:endParaRPr lang="en-IN"/>
          </a:p>
        </p:txBody>
      </p:sp>
    </p:spTree>
    <p:extLst>
      <p:ext uri="{BB962C8B-B14F-4D97-AF65-F5344CB8AC3E}">
        <p14:creationId xmlns:p14="http://schemas.microsoft.com/office/powerpoint/2010/main" val="7312705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a:t>RESIDENTS (50 s) - DEMO /report then /zone/8831aa42b7fffff: photo, voice note (Speak), pin, Submit Report, Track this report. Area page: an AQI gauge for the nearest station (India's National AQI in Indian cities, the US EPA AQI in the BRICS capitals), station 0.27 km away, Gemini summary with Read aloud, Google health advice, 30-day history, about 71,838 residents within 1 km. After a fix, reporters answer 'Is it fixed?'.</a:t>
            </a:r>
            <a:endParaRPr lang="en-IN"/>
          </a:p>
        </p:txBody>
      </p:sp>
    </p:spTree>
    <p:extLst>
      <p:ext uri="{BB962C8B-B14F-4D97-AF65-F5344CB8AC3E}">
        <p14:creationId xmlns:p14="http://schemas.microsoft.com/office/powerpoint/2010/main" val="35874514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a:t>OPERATORS (50 s) - DEMO /dashboard (signed in): Response queue ranked by evidence, with Repeat hotspot / Overdue / Disputed chips. Review opens the evidence trail, Last 30 days, Field context (Load) and Draft with Gemini. Live map: stations, hotspots and satellite fires, 2D or 3D. Do not resolve a real incident on stage.</a:t>
            </a:r>
            <a:endParaRPr lang="en-IN"/>
          </a:p>
        </p:txBody>
      </p:sp>
    </p:spTree>
    <p:extLst>
      <p:ext uri="{BB962C8B-B14F-4D97-AF65-F5344CB8AC3E}">
        <p14:creationId xmlns:p14="http://schemas.microsoft.com/office/powerpoint/2010/main" val="12887921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a:t>CLOSING THE LOOP (50 s): Most systems stop at 'resolved'. Reporters get 72 h to answer 'Is it fixed?' on the web or FIXED/STILL on WhatsApp. 'Still there' reopens it as Disputed. Every step is logged, so repeat spots are flagged and the next work order targets the source. Tested end to end against the live database.</a:t>
            </a:r>
            <a:endParaRPr lang="en-IN"/>
          </a:p>
        </p:txBody>
      </p:sp>
    </p:spTree>
    <p:extLst>
      <p:ext uri="{BB962C8B-B14F-4D97-AF65-F5344CB8AC3E}">
        <p14:creationId xmlns:p14="http://schemas.microsoft.com/office/powerpoint/2010/main" val="24816068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a:t>FORECASTS (45 s) - DEMO /forecast: Every 30 min Cloud Scheduler pulls every station into BigQuery; Indian cities merge OpenAQ, WAQI and CPCB, the BRICS capitals use WAQI. A forecast needs 12 hours of a station's own readings; until then it uses Google's modelled history from a separate table, labelled 'Modelled data'. Real readings always win; ARIMA_PLUS trains only on them. 12 of 12 cities have a forecast, including Hyderabad, where CPCB has been offline since 24 Sep.</a:t>
            </a:r>
            <a:endParaRPr lang="en-IN"/>
          </a:p>
        </p:txBody>
      </p:sp>
    </p:spTree>
    <p:extLst>
      <p:ext uri="{BB962C8B-B14F-4D97-AF65-F5344CB8AC3E}">
        <p14:creationId xmlns:p14="http://schemas.microsoft.com/office/powerpoint/2010/main" val="31357936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a:t>INDIA + BRICS (40 s): Twelve cities in two groups. Six Indian cities share India's NAAQS (PM2.5 60 ug/m3); the six other BRICS capitals keep their own national limits (75, 35, 40, 60, 55, 50 ug/m3). 137 stations live, 53 of 55 hotspots automatic. A new city is one configuration entry. Live counts from 29 Sep 2026.</a:t>
            </a:r>
            <a:endParaRPr lang="en-IN"/>
          </a:p>
        </p:txBody>
      </p:sp>
    </p:spTree>
    <p:extLst>
      <p:ext uri="{BB962C8B-B14F-4D97-AF65-F5344CB8AC3E}">
        <p14:creationId xmlns:p14="http://schemas.microsoft.com/office/powerpoint/2010/main" val="39880235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a:t>CLOSE (40 s): Next 90 days: pilot with one municipal team; alerts near you on WhatsApp; after-photo proof of the fix. Citizens get a voice, operators an evidence-backed list, nations one engine with their own rules. Clean air, verified street by street, across India and BRICS. Thank you.</a:t>
            </a:r>
            <a:endParaRPr lang="en-IN"/>
          </a:p>
        </p:txBody>
      </p:sp>
    </p:spTree>
    <p:extLst>
      <p:ext uri="{BB962C8B-B14F-4D97-AF65-F5344CB8AC3E}">
        <p14:creationId xmlns:p14="http://schemas.microsoft.com/office/powerpoint/2010/main" val="42092858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3.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8.png"/><Relationship Id="rId10" Type="http://schemas.openxmlformats.org/officeDocument/2006/relationships/image" Target="../media/image14.png"/><Relationship Id="rId11" Type="http://schemas.openxmlformats.org/officeDocument/2006/relationships/image" Target="../media/image15.png"/><Relationship Id="rId12" Type="http://schemas.openxmlformats.org/officeDocument/2006/relationships/image" Target="../media/image16.png"/><Relationship Id="rId13" Type="http://schemas.openxmlformats.org/officeDocument/2006/relationships/image" Target="../media/image17.png"/><Relationship Id="rId14" Type="http://schemas.openxmlformats.org/officeDocument/2006/relationships/image" Target="../media/image18.png"/><Relationship Id="rId15"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2.png"/><Relationship Id="rId5" Type="http://schemas.openxmlformats.org/officeDocument/2006/relationships/image" Target="../media/image18.png"/><Relationship Id="rId6"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12.png"/><Relationship Id="rId5" Type="http://schemas.openxmlformats.org/officeDocument/2006/relationships/image" Target="../media/image21.png"/><Relationship Id="rId6" Type="http://schemas.openxmlformats.org/officeDocument/2006/relationships/image" Target="../media/image8.png"/><Relationship Id="rId7"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16.png"/><Relationship Id="rId7" Type="http://schemas.openxmlformats.org/officeDocument/2006/relationships/image" Target="../media/image25.png"/><Relationship Id="rId8"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17.png"/><Relationship Id="rId6" Type="http://schemas.openxmlformats.org/officeDocument/2006/relationships/image" Target="../media/image7.png"/><Relationship Id="rId7"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9.png"/><Relationship Id="rId6" Type="http://schemas.openxmlformats.org/officeDocument/2006/relationships/image" Target="../media/image26.png"/><Relationship Id="rId7" Type="http://schemas.openxmlformats.org/officeDocument/2006/relationships/image" Target="../media/image15.png"/><Relationship Id="rId8"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30.png"/><Relationship Id="rId5" Type="http://schemas.openxmlformats.org/officeDocument/2006/relationships/image" Target="../media/image11.png"/><Relationship Id="rId6" Type="http://schemas.openxmlformats.org/officeDocument/2006/relationships/image" Target="../media/image3.png"/><Relationship Id="rId7" Type="http://schemas.openxmlformats.org/officeDocument/2006/relationships/image" Target="../media/image15.png"/><Relationship Id="rId8"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image" Target="../media/image36.png"/><Relationship Id="rId9" Type="http://schemas.openxmlformats.org/officeDocument/2006/relationships/image" Target="../media/image37.png"/><Relationship Id="rId10" Type="http://schemas.openxmlformats.org/officeDocument/2006/relationships/image" Target="../media/image3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E1F17"/>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0" y="0"/>
            <a:ext cx="12191695" cy="6858000"/>
          </a:xfrm>
          <a:prstGeom prst="rect">
            <a:avLst/>
          </a:prstGeom>
          <a:solidFill>
            <a:srgbClr val="0E1F17">
              <a:alpha val="7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40080" y="640080"/>
            <a:ext cx="2468880" cy="365760"/>
          </a:xfrm>
          <a:prstGeom prst="roundRect">
            <a:avLst>
              <a:gd name="adj" fmla="val 50000"/>
            </a:avLst>
          </a:prstGeom>
          <a:solidFill>
            <a:srgbClr val="0E1F17"/>
          </a:solidFill>
          <a:ln w="12700">
            <a:solidFill>
              <a:srgbClr val="7CE3A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7CE3A0"/>
                </a:solidFill>
                <a:latin typeface="Calibri"/>
              </a:rPr>
              <a:t>INDIA + BRICS · SUSTAINABILITY</a:t>
            </a:r>
          </a:p>
        </p:txBody>
      </p:sp>
      <p:sp>
        <p:nvSpPr>
          <p:cNvPr id="5" name="TextBox 4"/>
          <p:cNvSpPr txBox="1"/>
          <p:nvPr/>
        </p:nvSpPr>
        <p:spPr>
          <a:xfrm>
            <a:off x="640080" y="1325880"/>
            <a:ext cx="7315200" cy="1097280"/>
          </a:xfrm>
          <a:prstGeom prst="rect">
            <a:avLst/>
          </a:prstGeom>
          <a:noFill/>
        </p:spPr>
        <p:txBody>
          <a:bodyPr wrap="square" lIns="0" tIns="0" rIns="0" bIns="0" anchor="t">
            <a:spAutoFit/>
          </a:bodyPr>
          <a:lstStyle/>
          <a:p>
            <a:pPr algn="l"/>
            <a:r>
              <a:rPr sz="6600" b="1">
                <a:solidFill>
                  <a:srgbClr val="FFFFFF"/>
                </a:solidFill>
                <a:latin typeface="Georgia"/>
              </a:rPr>
              <a:t>VayuSetu</a:t>
            </a:r>
          </a:p>
        </p:txBody>
      </p:sp>
      <p:sp>
        <p:nvSpPr>
          <p:cNvPr id="6" name="TextBox 5"/>
          <p:cNvSpPr txBox="1"/>
          <p:nvPr/>
        </p:nvSpPr>
        <p:spPr>
          <a:xfrm>
            <a:off x="640080" y="2514600"/>
            <a:ext cx="7498079" cy="1097280"/>
          </a:xfrm>
          <a:prstGeom prst="rect">
            <a:avLst/>
          </a:prstGeom>
          <a:noFill/>
        </p:spPr>
        <p:txBody>
          <a:bodyPr wrap="square" lIns="0" tIns="0" rIns="0" bIns="0" anchor="t">
            <a:spAutoFit/>
          </a:bodyPr>
          <a:lstStyle/>
          <a:p>
            <a:pPr algn="l">
              <a:lnSpc>
                <a:spcPct val="105000"/>
              </a:lnSpc>
            </a:pPr>
            <a:r>
              <a:rPr sz="2600" b="1">
                <a:solidFill>
                  <a:srgbClr val="7CE3A0"/>
                </a:solidFill>
                <a:latin typeface="Georgia"/>
              </a:rPr>
              <a:t>Find the pollution hotspot on your street, prove it, and get it fixed.</a:t>
            </a:r>
          </a:p>
        </p:txBody>
      </p:sp>
      <p:sp>
        <p:nvSpPr>
          <p:cNvPr id="7" name="TextBox 6"/>
          <p:cNvSpPr txBox="1"/>
          <p:nvPr/>
        </p:nvSpPr>
        <p:spPr>
          <a:xfrm>
            <a:off x="640080" y="3703320"/>
            <a:ext cx="6766560" cy="868680"/>
          </a:xfrm>
          <a:prstGeom prst="rect">
            <a:avLst/>
          </a:prstGeom>
          <a:noFill/>
        </p:spPr>
        <p:txBody>
          <a:bodyPr wrap="square" lIns="0" tIns="0" rIns="0" bIns="0" anchor="t">
            <a:spAutoFit/>
          </a:bodyPr>
          <a:lstStyle/>
          <a:p>
            <a:pPr algn="l"/>
            <a:r>
              <a:rPr sz="1600" b="0">
                <a:solidFill>
                  <a:srgbClr val="D7E6DC"/>
                </a:solidFill>
                <a:latin typeface="Calibri"/>
              </a:rPr>
              <a:t>Citizen photos, ground stations and satellites, verified by Gemini and routed to the agency that can clear it.</a:t>
            </a:r>
          </a:p>
        </p:txBody>
      </p:sp>
      <p:sp>
        <p:nvSpPr>
          <p:cNvPr id="8" name="TextBox 7"/>
          <p:cNvSpPr txBox="1"/>
          <p:nvPr/>
        </p:nvSpPr>
        <p:spPr>
          <a:xfrm>
            <a:off x="640080" y="4846320"/>
            <a:ext cx="1874519" cy="548640"/>
          </a:xfrm>
          <a:prstGeom prst="rect">
            <a:avLst/>
          </a:prstGeom>
          <a:noFill/>
        </p:spPr>
        <p:txBody>
          <a:bodyPr wrap="square" lIns="0" tIns="0" rIns="0" bIns="0" anchor="t">
            <a:spAutoFit/>
          </a:bodyPr>
          <a:lstStyle/>
          <a:p>
            <a:pPr algn="l"/>
            <a:r>
              <a:rPr sz="3000" b="1">
                <a:solidFill>
                  <a:srgbClr val="FFFFFF"/>
                </a:solidFill>
                <a:latin typeface="Georgia"/>
              </a:rPr>
              <a:t>12</a:t>
            </a:r>
          </a:p>
        </p:txBody>
      </p:sp>
      <p:sp>
        <p:nvSpPr>
          <p:cNvPr id="9" name="TextBox 8"/>
          <p:cNvSpPr txBox="1"/>
          <p:nvPr/>
        </p:nvSpPr>
        <p:spPr>
          <a:xfrm>
            <a:off x="640080" y="5413248"/>
            <a:ext cx="1874519" cy="411480"/>
          </a:xfrm>
          <a:prstGeom prst="rect">
            <a:avLst/>
          </a:prstGeom>
          <a:noFill/>
        </p:spPr>
        <p:txBody>
          <a:bodyPr wrap="square" lIns="0" tIns="0" rIns="0" bIns="0" anchor="t">
            <a:spAutoFit/>
          </a:bodyPr>
          <a:lstStyle/>
          <a:p>
            <a:pPr algn="l"/>
            <a:r>
              <a:rPr sz="1200" b="0">
                <a:solidFill>
                  <a:srgbClr val="C9DCD0"/>
                </a:solidFill>
                <a:latin typeface="Calibri"/>
              </a:rPr>
              <a:t>cities live, India + BRICS</a:t>
            </a:r>
          </a:p>
        </p:txBody>
      </p:sp>
      <p:sp>
        <p:nvSpPr>
          <p:cNvPr id="10" name="TextBox 9"/>
          <p:cNvSpPr txBox="1"/>
          <p:nvPr/>
        </p:nvSpPr>
        <p:spPr>
          <a:xfrm>
            <a:off x="2651760" y="4846320"/>
            <a:ext cx="1874519" cy="548640"/>
          </a:xfrm>
          <a:prstGeom prst="rect">
            <a:avLst/>
          </a:prstGeom>
          <a:noFill/>
        </p:spPr>
        <p:txBody>
          <a:bodyPr wrap="square" lIns="0" tIns="0" rIns="0" bIns="0" anchor="t">
            <a:spAutoFit/>
          </a:bodyPr>
          <a:lstStyle/>
          <a:p>
            <a:pPr algn="l"/>
            <a:r>
              <a:rPr sz="3000" b="1">
                <a:solidFill>
                  <a:srgbClr val="FFFFFF"/>
                </a:solidFill>
                <a:latin typeface="Georgia"/>
              </a:rPr>
              <a:t>137</a:t>
            </a:r>
          </a:p>
        </p:txBody>
      </p:sp>
      <p:sp>
        <p:nvSpPr>
          <p:cNvPr id="11" name="TextBox 10"/>
          <p:cNvSpPr txBox="1"/>
          <p:nvPr/>
        </p:nvSpPr>
        <p:spPr>
          <a:xfrm>
            <a:off x="2651760" y="5413248"/>
            <a:ext cx="1874519" cy="411480"/>
          </a:xfrm>
          <a:prstGeom prst="rect">
            <a:avLst/>
          </a:prstGeom>
          <a:noFill/>
        </p:spPr>
        <p:txBody>
          <a:bodyPr wrap="square" lIns="0" tIns="0" rIns="0" bIns="0" anchor="t">
            <a:spAutoFit/>
          </a:bodyPr>
          <a:lstStyle/>
          <a:p>
            <a:pPr algn="l"/>
            <a:r>
              <a:rPr sz="1200" b="0">
                <a:solidFill>
                  <a:srgbClr val="C9DCD0"/>
                </a:solidFill>
                <a:latin typeface="Calibri"/>
              </a:rPr>
              <a:t>ground stations live</a:t>
            </a:r>
          </a:p>
        </p:txBody>
      </p:sp>
      <p:sp>
        <p:nvSpPr>
          <p:cNvPr id="12" name="TextBox 11"/>
          <p:cNvSpPr txBox="1"/>
          <p:nvPr/>
        </p:nvSpPr>
        <p:spPr>
          <a:xfrm>
            <a:off x="4663440" y="4846320"/>
            <a:ext cx="1874519" cy="548640"/>
          </a:xfrm>
          <a:prstGeom prst="rect">
            <a:avLst/>
          </a:prstGeom>
          <a:noFill/>
        </p:spPr>
        <p:txBody>
          <a:bodyPr wrap="square" lIns="0" tIns="0" rIns="0" bIns="0" anchor="t">
            <a:spAutoFit/>
          </a:bodyPr>
          <a:lstStyle/>
          <a:p>
            <a:pPr algn="l"/>
            <a:r>
              <a:rPr sz="3000" b="1">
                <a:solidFill>
                  <a:srgbClr val="FFFFFF"/>
                </a:solidFill>
                <a:latin typeface="Georgia"/>
              </a:rPr>
              <a:t>13</a:t>
            </a:r>
          </a:p>
        </p:txBody>
      </p:sp>
      <p:sp>
        <p:nvSpPr>
          <p:cNvPr id="13" name="TextBox 12"/>
          <p:cNvSpPr txBox="1"/>
          <p:nvPr/>
        </p:nvSpPr>
        <p:spPr>
          <a:xfrm>
            <a:off x="4663440" y="5413248"/>
            <a:ext cx="1874519" cy="411480"/>
          </a:xfrm>
          <a:prstGeom prst="rect">
            <a:avLst/>
          </a:prstGeom>
          <a:noFill/>
        </p:spPr>
        <p:txBody>
          <a:bodyPr wrap="square" lIns="0" tIns="0" rIns="0" bIns="0" anchor="t">
            <a:spAutoFit/>
          </a:bodyPr>
          <a:lstStyle/>
          <a:p>
            <a:pPr algn="l"/>
            <a:r>
              <a:rPr sz="1200" b="0">
                <a:solidFill>
                  <a:srgbClr val="C9DCD0"/>
                </a:solidFill>
                <a:latin typeface="Calibri"/>
              </a:rPr>
              <a:t>languages</a:t>
            </a:r>
          </a:p>
        </p:txBody>
      </p:sp>
      <p:sp>
        <p:nvSpPr>
          <p:cNvPr id="14" name="TextBox 13"/>
          <p:cNvSpPr txBox="1"/>
          <p:nvPr/>
        </p:nvSpPr>
        <p:spPr>
          <a:xfrm>
            <a:off x="6675120" y="4846320"/>
            <a:ext cx="1874519" cy="548640"/>
          </a:xfrm>
          <a:prstGeom prst="rect">
            <a:avLst/>
          </a:prstGeom>
          <a:noFill/>
        </p:spPr>
        <p:txBody>
          <a:bodyPr wrap="square" lIns="0" tIns="0" rIns="0" bIns="0" anchor="t">
            <a:spAutoFit/>
          </a:bodyPr>
          <a:lstStyle/>
          <a:p>
            <a:pPr algn="l"/>
            <a:r>
              <a:rPr sz="3000" b="1">
                <a:solidFill>
                  <a:srgbClr val="FFFFFF"/>
                </a:solidFill>
                <a:latin typeface="Georgia"/>
              </a:rPr>
              <a:t>4</a:t>
            </a:r>
          </a:p>
        </p:txBody>
      </p:sp>
      <p:sp>
        <p:nvSpPr>
          <p:cNvPr id="15" name="TextBox 14"/>
          <p:cNvSpPr txBox="1"/>
          <p:nvPr/>
        </p:nvSpPr>
        <p:spPr>
          <a:xfrm>
            <a:off x="6675120" y="5413248"/>
            <a:ext cx="1874519" cy="411480"/>
          </a:xfrm>
          <a:prstGeom prst="rect">
            <a:avLst/>
          </a:prstGeom>
          <a:noFill/>
        </p:spPr>
        <p:txBody>
          <a:bodyPr wrap="square" lIns="0" tIns="0" rIns="0" bIns="0" anchor="t">
            <a:spAutoFit/>
          </a:bodyPr>
          <a:lstStyle/>
          <a:p>
            <a:pPr algn="l"/>
            <a:r>
              <a:rPr sz="1200" b="0">
                <a:solidFill>
                  <a:srgbClr val="C9DCD0"/>
                </a:solidFill>
                <a:latin typeface="Calibri"/>
              </a:rPr>
              <a:t>Gemini jobs, all grounded</a:t>
            </a:r>
          </a:p>
        </p:txBody>
      </p:sp>
      <p:sp>
        <p:nvSpPr>
          <p:cNvPr id="16" name="TextBox 15"/>
          <p:cNvSpPr txBox="1"/>
          <p:nvPr/>
        </p:nvSpPr>
        <p:spPr>
          <a:xfrm>
            <a:off x="640080" y="6172200"/>
            <a:ext cx="10058400" cy="274320"/>
          </a:xfrm>
          <a:prstGeom prst="rect">
            <a:avLst/>
          </a:prstGeom>
          <a:noFill/>
        </p:spPr>
        <p:txBody>
          <a:bodyPr wrap="square" lIns="0" tIns="0" rIns="0" bIns="0" anchor="t">
            <a:spAutoFit/>
          </a:bodyPr>
          <a:lstStyle/>
          <a:p>
            <a:pPr algn="l"/>
            <a:r>
              <a:rPr sz="1100" b="0">
                <a:solidFill>
                  <a:srgbClr val="8FB39E"/>
                </a:solidFill>
                <a:latin typeface="Calibri"/>
              </a:rPr>
              <a:t>Live: cleanair-backend--cleanair-clear-streets.asia-southeast1.hosted.app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8229600" cy="274320"/>
          </a:xfrm>
          <a:prstGeom prst="rect">
            <a:avLst/>
          </a:prstGeom>
          <a:noFill/>
        </p:spPr>
        <p:txBody>
          <a:bodyPr wrap="square" lIns="0" tIns="0" rIns="0" bIns="0" anchor="t">
            <a:spAutoFit/>
          </a:bodyPr>
          <a:lstStyle/>
          <a:p>
            <a:pPr algn="l"/>
            <a:r>
              <a:rPr sz="1200" b="1" spc="300">
                <a:solidFill>
                  <a:srgbClr val="2E9E55"/>
                </a:solidFill>
                <a:latin typeface="Calibri"/>
              </a:rPr>
              <a:t>THE PROBLEM</a:t>
            </a:r>
          </a:p>
        </p:txBody>
      </p:sp>
      <p:sp>
        <p:nvSpPr>
          <p:cNvPr id="3" name="TextBox 2"/>
          <p:cNvSpPr txBox="1"/>
          <p:nvPr/>
        </p:nvSpPr>
        <p:spPr>
          <a:xfrm>
            <a:off x="640080" y="777240"/>
            <a:ext cx="10881360" cy="822960"/>
          </a:xfrm>
          <a:prstGeom prst="rect">
            <a:avLst/>
          </a:prstGeom>
          <a:noFill/>
        </p:spPr>
        <p:txBody>
          <a:bodyPr wrap="square" lIns="0" tIns="0" rIns="0" bIns="0" anchor="t">
            <a:spAutoFit/>
          </a:bodyPr>
          <a:lstStyle/>
          <a:p>
            <a:pPr algn="l"/>
            <a:r>
              <a:rPr sz="3200" b="1">
                <a:solidFill>
                  <a:srgbClr val="14231B"/>
                </a:solidFill>
                <a:latin typeface="Georgia"/>
              </a:rPr>
              <a:t>A city-wide AQI hides the air people breathe</a:t>
            </a:r>
          </a:p>
        </p:txBody>
      </p:sp>
      <p:sp>
        <p:nvSpPr>
          <p:cNvPr id="4" name="TextBox 3"/>
          <p:cNvSpPr txBox="1"/>
          <p:nvPr/>
        </p:nvSpPr>
        <p:spPr>
          <a:xfrm>
            <a:off x="10908792" y="6446520"/>
            <a:ext cx="640080" cy="228600"/>
          </a:xfrm>
          <a:prstGeom prst="rect">
            <a:avLst/>
          </a:prstGeom>
          <a:noFill/>
        </p:spPr>
        <p:txBody>
          <a:bodyPr wrap="square" lIns="0" tIns="0" rIns="0" bIns="0" anchor="t">
            <a:spAutoFit/>
          </a:bodyPr>
          <a:lstStyle/>
          <a:p>
            <a:pPr algn="r"/>
            <a:r>
              <a:rPr sz="1000" b="0">
                <a:solidFill>
                  <a:srgbClr val="56655C"/>
                </a:solidFill>
                <a:latin typeface="Calibri"/>
              </a:rPr>
              <a:t>02 / 12</a:t>
            </a:r>
          </a:p>
        </p:txBody>
      </p:sp>
      <p:sp>
        <p:nvSpPr>
          <p:cNvPr id="5" name="Rounded Rectangle 4"/>
          <p:cNvSpPr/>
          <p:nvPr/>
        </p:nvSpPr>
        <p:spPr>
          <a:xfrm>
            <a:off x="640080" y="1691640"/>
            <a:ext cx="3456432" cy="1463040"/>
          </a:xfrm>
          <a:prstGeom prst="roundRect">
            <a:avLst>
              <a:gd name="adj" fmla="val 5000"/>
            </a:avLst>
          </a:prstGeom>
          <a:solidFill>
            <a:srgbClr val="F4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810512"/>
            <a:ext cx="3017520" cy="685800"/>
          </a:xfrm>
          <a:prstGeom prst="rect">
            <a:avLst/>
          </a:prstGeom>
          <a:noFill/>
        </p:spPr>
        <p:txBody>
          <a:bodyPr wrap="square" lIns="0" tIns="0" rIns="0" bIns="0" anchor="t">
            <a:spAutoFit/>
          </a:bodyPr>
          <a:lstStyle/>
          <a:p>
            <a:pPr algn="l"/>
            <a:r>
              <a:rPr sz="4000" b="1">
                <a:solidFill>
                  <a:srgbClr val="1F6B3A"/>
                </a:solidFill>
                <a:latin typeface="Georgia"/>
              </a:rPr>
              <a:t>99%</a:t>
            </a:r>
          </a:p>
        </p:txBody>
      </p:sp>
      <p:sp>
        <p:nvSpPr>
          <p:cNvPr id="7" name="TextBox 6"/>
          <p:cNvSpPr txBox="1"/>
          <p:nvPr/>
        </p:nvSpPr>
        <p:spPr>
          <a:xfrm>
            <a:off x="914400" y="2542032"/>
            <a:ext cx="3017520" cy="548640"/>
          </a:xfrm>
          <a:prstGeom prst="rect">
            <a:avLst/>
          </a:prstGeom>
          <a:noFill/>
        </p:spPr>
        <p:txBody>
          <a:bodyPr wrap="square" lIns="0" tIns="0" rIns="0" bIns="0" anchor="t">
            <a:spAutoFit/>
          </a:bodyPr>
          <a:lstStyle/>
          <a:p>
            <a:pPr algn="l"/>
            <a:r>
              <a:rPr sz="1250" b="0">
                <a:solidFill>
                  <a:srgbClr val="14231B"/>
                </a:solidFill>
                <a:latin typeface="Calibri"/>
              </a:rPr>
              <a:t>of people live where WHO air-quality guidelines are not met</a:t>
            </a:r>
          </a:p>
        </p:txBody>
      </p:sp>
      <p:sp>
        <p:nvSpPr>
          <p:cNvPr id="8" name="Rounded Rectangle 7"/>
          <p:cNvSpPr/>
          <p:nvPr/>
        </p:nvSpPr>
        <p:spPr>
          <a:xfrm>
            <a:off x="4315968" y="1691640"/>
            <a:ext cx="3456432" cy="1463040"/>
          </a:xfrm>
          <a:prstGeom prst="roundRect">
            <a:avLst>
              <a:gd name="adj" fmla="val 5000"/>
            </a:avLst>
          </a:prstGeom>
          <a:solidFill>
            <a:srgbClr val="F4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90288" y="1810512"/>
            <a:ext cx="3017520" cy="685800"/>
          </a:xfrm>
          <a:prstGeom prst="rect">
            <a:avLst/>
          </a:prstGeom>
          <a:noFill/>
        </p:spPr>
        <p:txBody>
          <a:bodyPr wrap="square" lIns="0" tIns="0" rIns="0" bIns="0" anchor="t">
            <a:spAutoFit/>
          </a:bodyPr>
          <a:lstStyle/>
          <a:p>
            <a:pPr algn="l"/>
            <a:r>
              <a:rPr sz="4000" b="1">
                <a:solidFill>
                  <a:srgbClr val="E4572E"/>
                </a:solidFill>
                <a:latin typeface="Georgia"/>
              </a:rPr>
              <a:t>4.2 M</a:t>
            </a:r>
          </a:p>
        </p:txBody>
      </p:sp>
      <p:sp>
        <p:nvSpPr>
          <p:cNvPr id="10" name="TextBox 9"/>
          <p:cNvSpPr txBox="1"/>
          <p:nvPr/>
        </p:nvSpPr>
        <p:spPr>
          <a:xfrm>
            <a:off x="4590288" y="2542032"/>
            <a:ext cx="3017520" cy="548640"/>
          </a:xfrm>
          <a:prstGeom prst="rect">
            <a:avLst/>
          </a:prstGeom>
          <a:noFill/>
        </p:spPr>
        <p:txBody>
          <a:bodyPr wrap="square" lIns="0" tIns="0" rIns="0" bIns="0" anchor="t">
            <a:spAutoFit/>
          </a:bodyPr>
          <a:lstStyle/>
          <a:p>
            <a:pPr algn="l"/>
            <a:r>
              <a:rPr sz="1250" b="0">
                <a:solidFill>
                  <a:srgbClr val="14231B"/>
                </a:solidFill>
                <a:latin typeface="Calibri"/>
              </a:rPr>
              <a:t>premature deaths from outdoor air pollution in 2019</a:t>
            </a:r>
          </a:p>
        </p:txBody>
      </p:sp>
      <p:sp>
        <p:nvSpPr>
          <p:cNvPr id="11" name="Rounded Rectangle 10"/>
          <p:cNvSpPr/>
          <p:nvPr/>
        </p:nvSpPr>
        <p:spPr>
          <a:xfrm>
            <a:off x="7991855" y="1691640"/>
            <a:ext cx="3456432" cy="1463040"/>
          </a:xfrm>
          <a:prstGeom prst="roundRect">
            <a:avLst>
              <a:gd name="adj" fmla="val 5000"/>
            </a:avLst>
          </a:prstGeom>
          <a:solidFill>
            <a:srgbClr val="F4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66175" y="1810512"/>
            <a:ext cx="3017520" cy="685800"/>
          </a:xfrm>
          <a:prstGeom prst="rect">
            <a:avLst/>
          </a:prstGeom>
          <a:noFill/>
        </p:spPr>
        <p:txBody>
          <a:bodyPr wrap="square" lIns="0" tIns="0" rIns="0" bIns="0" anchor="t">
            <a:spAutoFit/>
          </a:bodyPr>
          <a:lstStyle/>
          <a:p>
            <a:pPr algn="l"/>
            <a:r>
              <a:rPr sz="4000" b="1">
                <a:solidFill>
                  <a:srgbClr val="1F6B3A"/>
                </a:solidFill>
                <a:latin typeface="Georgia"/>
              </a:rPr>
              <a:t>89%</a:t>
            </a:r>
          </a:p>
        </p:txBody>
      </p:sp>
      <p:sp>
        <p:nvSpPr>
          <p:cNvPr id="13" name="TextBox 12"/>
          <p:cNvSpPr txBox="1"/>
          <p:nvPr/>
        </p:nvSpPr>
        <p:spPr>
          <a:xfrm>
            <a:off x="8266175" y="2542032"/>
            <a:ext cx="3017520" cy="548640"/>
          </a:xfrm>
          <a:prstGeom prst="rect">
            <a:avLst/>
          </a:prstGeom>
          <a:noFill/>
        </p:spPr>
        <p:txBody>
          <a:bodyPr wrap="square" lIns="0" tIns="0" rIns="0" bIns="0" anchor="t">
            <a:spAutoFit/>
          </a:bodyPr>
          <a:lstStyle/>
          <a:p>
            <a:pPr algn="l"/>
            <a:r>
              <a:rPr sz="1250" b="0">
                <a:solidFill>
                  <a:srgbClr val="14231B"/>
                </a:solidFill>
                <a:latin typeface="Calibri"/>
              </a:rPr>
              <a:t>of those deaths are in low- and middle-income countries</a:t>
            </a:r>
          </a:p>
        </p:txBody>
      </p:sp>
      <p:sp>
        <p:nvSpPr>
          <p:cNvPr id="14" name="Oval 13"/>
          <p:cNvSpPr/>
          <p:nvPr/>
        </p:nvSpPr>
        <p:spPr>
          <a:xfrm>
            <a:off x="640080" y="3520440"/>
            <a:ext cx="548640" cy="548640"/>
          </a:xfrm>
          <a:prstGeom prst="ellipse">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image.png"/>
          <p:cNvPicPr>
            <a:picLocks noChangeAspect="1"/>
          </p:cNvPicPr>
          <p:nvPr/>
        </p:nvPicPr>
        <p:blipFill>
          <a:blip r:embed="rId3"/>
          <a:stretch>
            <a:fillRect/>
          </a:stretch>
        </p:blipFill>
        <p:spPr>
          <a:xfrm>
            <a:off x="777240" y="3657600"/>
            <a:ext cx="274320" cy="274320"/>
          </a:xfrm>
          <a:prstGeom prst="rect">
            <a:avLst/>
          </a:prstGeom>
        </p:spPr>
      </p:pic>
      <p:sp>
        <p:nvSpPr>
          <p:cNvPr id="16" name="TextBox 15"/>
          <p:cNvSpPr txBox="1"/>
          <p:nvPr/>
        </p:nvSpPr>
        <p:spPr>
          <a:xfrm>
            <a:off x="1371600" y="3502152"/>
            <a:ext cx="5212080" cy="320040"/>
          </a:xfrm>
          <a:prstGeom prst="rect">
            <a:avLst/>
          </a:prstGeom>
          <a:noFill/>
        </p:spPr>
        <p:txBody>
          <a:bodyPr wrap="square" lIns="0" tIns="0" rIns="0" bIns="0" anchor="t">
            <a:spAutoFit/>
          </a:bodyPr>
          <a:lstStyle/>
          <a:p>
            <a:pPr algn="l"/>
            <a:r>
              <a:rPr sz="1500" b="1">
                <a:solidFill>
                  <a:srgbClr val="14231B"/>
                </a:solidFill>
                <a:latin typeface="Calibri"/>
              </a:rPr>
              <a:t>Street-level sources go unseen</a:t>
            </a:r>
          </a:p>
        </p:txBody>
      </p:sp>
      <p:sp>
        <p:nvSpPr>
          <p:cNvPr id="17" name="TextBox 16"/>
          <p:cNvSpPr txBox="1"/>
          <p:nvPr/>
        </p:nvSpPr>
        <p:spPr>
          <a:xfrm>
            <a:off x="1371600" y="3822191"/>
            <a:ext cx="5212080" cy="548640"/>
          </a:xfrm>
          <a:prstGeom prst="rect">
            <a:avLst/>
          </a:prstGeom>
          <a:noFill/>
        </p:spPr>
        <p:txBody>
          <a:bodyPr wrap="square" lIns="0" tIns="0" rIns="0" bIns="0" anchor="t">
            <a:spAutoFit/>
          </a:bodyPr>
          <a:lstStyle/>
          <a:p>
            <a:pPr algn="l"/>
            <a:r>
              <a:rPr sz="1200" b="0">
                <a:solidFill>
                  <a:srgbClr val="56655C"/>
                </a:solidFill>
                <a:latin typeface="Calibri"/>
              </a:rPr>
              <a:t>A garbage fire or a construction site kilometres from the nearest monitor vanishes into the city average.</a:t>
            </a:r>
          </a:p>
        </p:txBody>
      </p:sp>
      <p:sp>
        <p:nvSpPr>
          <p:cNvPr id="18" name="Oval 17"/>
          <p:cNvSpPr/>
          <p:nvPr/>
        </p:nvSpPr>
        <p:spPr>
          <a:xfrm>
            <a:off x="640080" y="4453128"/>
            <a:ext cx="548640" cy="548640"/>
          </a:xfrm>
          <a:prstGeom prst="ellipse">
            <a:avLst/>
          </a:prstGeom>
          <a:solidFill>
            <a:srgbClr val="117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image.png"/>
          <p:cNvPicPr>
            <a:picLocks noChangeAspect="1"/>
          </p:cNvPicPr>
          <p:nvPr/>
        </p:nvPicPr>
        <p:blipFill>
          <a:blip r:embed="rId4"/>
          <a:stretch>
            <a:fillRect/>
          </a:stretch>
        </p:blipFill>
        <p:spPr>
          <a:xfrm>
            <a:off x="777240" y="4590288"/>
            <a:ext cx="274320" cy="274320"/>
          </a:xfrm>
          <a:prstGeom prst="rect">
            <a:avLst/>
          </a:prstGeom>
        </p:spPr>
      </p:pic>
      <p:sp>
        <p:nvSpPr>
          <p:cNvPr id="20" name="TextBox 19"/>
          <p:cNvSpPr txBox="1"/>
          <p:nvPr/>
        </p:nvSpPr>
        <p:spPr>
          <a:xfrm>
            <a:off x="1371600" y="4434840"/>
            <a:ext cx="5212080" cy="320040"/>
          </a:xfrm>
          <a:prstGeom prst="rect">
            <a:avLst/>
          </a:prstGeom>
          <a:noFill/>
        </p:spPr>
        <p:txBody>
          <a:bodyPr wrap="square" lIns="0" tIns="0" rIns="0" bIns="0" anchor="t">
            <a:spAutoFit/>
          </a:bodyPr>
          <a:lstStyle/>
          <a:p>
            <a:pPr algn="l"/>
            <a:r>
              <a:rPr sz="1500" b="1">
                <a:solidFill>
                  <a:srgbClr val="14231B"/>
                </a:solidFill>
                <a:latin typeface="Calibri"/>
              </a:rPr>
              <a:t>Pollution crosses borders</a:t>
            </a:r>
          </a:p>
        </p:txBody>
      </p:sp>
      <p:sp>
        <p:nvSpPr>
          <p:cNvPr id="21" name="TextBox 20"/>
          <p:cNvSpPr txBox="1"/>
          <p:nvPr/>
        </p:nvSpPr>
        <p:spPr>
          <a:xfrm>
            <a:off x="1371600" y="4754880"/>
            <a:ext cx="5212080" cy="548640"/>
          </a:xfrm>
          <a:prstGeom prst="rect">
            <a:avLst/>
          </a:prstGeom>
          <a:noFill/>
        </p:spPr>
        <p:txBody>
          <a:bodyPr wrap="square" lIns="0" tIns="0" rIns="0" bIns="0" anchor="t">
            <a:spAutoFit/>
          </a:bodyPr>
          <a:lstStyle/>
          <a:p>
            <a:pPr algn="l"/>
            <a:r>
              <a:rPr sz="1200" b="0">
                <a:solidFill>
                  <a:srgbClr val="56655C"/>
                </a:solidFill>
                <a:latin typeface="Calibri"/>
              </a:rPr>
              <a:t>Crop burning and haze drift across state and national lines faster than one agency can track.</a:t>
            </a:r>
          </a:p>
        </p:txBody>
      </p:sp>
      <p:sp>
        <p:nvSpPr>
          <p:cNvPr id="22" name="Oval 21"/>
          <p:cNvSpPr/>
          <p:nvPr/>
        </p:nvSpPr>
        <p:spPr>
          <a:xfrm>
            <a:off x="640080" y="5385816"/>
            <a:ext cx="548640" cy="548640"/>
          </a:xfrm>
          <a:prstGeom prst="ellipse">
            <a:avLst/>
          </a:prstGeom>
          <a:solidFill>
            <a:srgbClr val="1F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image.png"/>
          <p:cNvPicPr>
            <a:picLocks noChangeAspect="1"/>
          </p:cNvPicPr>
          <p:nvPr/>
        </p:nvPicPr>
        <p:blipFill>
          <a:blip r:embed="rId5"/>
          <a:stretch>
            <a:fillRect/>
          </a:stretch>
        </p:blipFill>
        <p:spPr>
          <a:xfrm>
            <a:off x="777240" y="5522976"/>
            <a:ext cx="274320" cy="274320"/>
          </a:xfrm>
          <a:prstGeom prst="rect">
            <a:avLst/>
          </a:prstGeom>
        </p:spPr>
      </p:pic>
      <p:sp>
        <p:nvSpPr>
          <p:cNvPr id="24" name="TextBox 23"/>
          <p:cNvSpPr txBox="1"/>
          <p:nvPr/>
        </p:nvSpPr>
        <p:spPr>
          <a:xfrm>
            <a:off x="1371600" y="5367528"/>
            <a:ext cx="5212080" cy="320040"/>
          </a:xfrm>
          <a:prstGeom prst="rect">
            <a:avLst/>
          </a:prstGeom>
          <a:noFill/>
        </p:spPr>
        <p:txBody>
          <a:bodyPr wrap="square" lIns="0" tIns="0" rIns="0" bIns="0" anchor="t">
            <a:spAutoFit/>
          </a:bodyPr>
          <a:lstStyle/>
          <a:p>
            <a:pPr algn="l"/>
            <a:r>
              <a:rPr sz="1500" b="1">
                <a:solidFill>
                  <a:srgbClr val="14231B"/>
                </a:solidFill>
                <a:latin typeface="Calibri"/>
              </a:rPr>
              <a:t>Data rarely reaches a crew</a:t>
            </a:r>
          </a:p>
        </p:txBody>
      </p:sp>
      <p:sp>
        <p:nvSpPr>
          <p:cNvPr id="25" name="TextBox 24"/>
          <p:cNvSpPr txBox="1"/>
          <p:nvPr/>
        </p:nvSpPr>
        <p:spPr>
          <a:xfrm>
            <a:off x="1371600" y="5687568"/>
            <a:ext cx="5212080" cy="548640"/>
          </a:xfrm>
          <a:prstGeom prst="rect">
            <a:avLst/>
          </a:prstGeom>
          <a:noFill/>
        </p:spPr>
        <p:txBody>
          <a:bodyPr wrap="square" lIns="0" tIns="0" rIns="0" bIns="0" anchor="t">
            <a:spAutoFit/>
          </a:bodyPr>
          <a:lstStyle/>
          <a:p>
            <a:pPr algn="l"/>
            <a:r>
              <a:rPr sz="1200" b="0">
                <a:solidFill>
                  <a:srgbClr val="56655C"/>
                </a:solidFill>
                <a:latin typeface="Calibri"/>
              </a:rPr>
              <a:t>Dashboards publish numbers, but nobody is told which street to inspect or which department owns the fix.</a:t>
            </a:r>
          </a:p>
        </p:txBody>
      </p:sp>
      <p:pic>
        <p:nvPicPr>
          <p:cNvPr id="26" name="Picture 25" descr="image.jpg"/>
          <p:cNvPicPr>
            <a:picLocks noChangeAspect="1"/>
          </p:cNvPicPr>
          <p:nvPr/>
        </p:nvPicPr>
        <p:blipFill>
          <a:blip r:embed="rId6"/>
          <a:stretch>
            <a:fillRect/>
          </a:stretch>
        </p:blipFill>
        <p:spPr>
          <a:xfrm>
            <a:off x="6903720" y="3611880"/>
            <a:ext cx="4645152" cy="2194834"/>
          </a:xfrm>
          <a:prstGeom prst="rect">
            <a:avLst/>
          </a:prstGeom>
          <a:ln w="12700">
            <a:solidFill>
              <a:srgbClr val="D9E3DC"/>
            </a:solidFill>
          </a:ln>
          <a:effectLst>
            <a:outerShdw blurRad="127000" dist="25400" dir="5400000" algn="bl" rotWithShape="0">
              <a:srgbClr val="0E1F17">
                <a:alpha val="9000"/>
              </a:srgbClr>
            </a:outerShdw>
          </a:effectLst>
        </p:spPr>
      </p:pic>
      <p:sp>
        <p:nvSpPr>
          <p:cNvPr id="27" name="TextBox 26"/>
          <p:cNvSpPr txBox="1"/>
          <p:nvPr/>
        </p:nvSpPr>
        <p:spPr>
          <a:xfrm>
            <a:off x="6903720" y="5897880"/>
            <a:ext cx="4645152" cy="274320"/>
          </a:xfrm>
          <a:prstGeom prst="rect">
            <a:avLst/>
          </a:prstGeom>
          <a:noFill/>
        </p:spPr>
        <p:txBody>
          <a:bodyPr wrap="square" lIns="0" tIns="0" rIns="0" bIns="0" anchor="t">
            <a:spAutoFit/>
          </a:bodyPr>
          <a:lstStyle/>
          <a:p>
            <a:pPr algn="l"/>
            <a:r>
              <a:rPr sz="1050" b="0">
                <a:solidFill>
                  <a:srgbClr val="56655C"/>
                </a:solidFill>
                <a:latin typeface="Calibri"/>
              </a:rPr>
              <a:t>One monitor, many invisible sources, and smoke that does not stop at the border.</a:t>
            </a:r>
          </a:p>
        </p:txBody>
      </p:sp>
      <p:sp>
        <p:nvSpPr>
          <p:cNvPr id="28" name="TextBox 27"/>
          <p:cNvSpPr txBox="1"/>
          <p:nvPr/>
        </p:nvSpPr>
        <p:spPr>
          <a:xfrm>
            <a:off x="640080" y="6446520"/>
            <a:ext cx="8686800" cy="228600"/>
          </a:xfrm>
          <a:prstGeom prst="rect">
            <a:avLst/>
          </a:prstGeom>
          <a:noFill/>
        </p:spPr>
        <p:txBody>
          <a:bodyPr wrap="square" lIns="0" tIns="0" rIns="0" bIns="0" anchor="t">
            <a:spAutoFit/>
          </a:bodyPr>
          <a:lstStyle/>
          <a:p>
            <a:pPr algn="l"/>
            <a:r>
              <a:rPr sz="1000" b="0">
                <a:solidFill>
                  <a:srgbClr val="56655C"/>
                </a:solidFill>
                <a:latin typeface="Calibri"/>
              </a:rPr>
              <a:t>Source: WHO fact sheet, Ambient (outdoor) air quality and health, updated 24 Oct 2024.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8F3EC"/>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8229600" cy="274320"/>
          </a:xfrm>
          <a:prstGeom prst="rect">
            <a:avLst/>
          </a:prstGeom>
          <a:noFill/>
        </p:spPr>
        <p:txBody>
          <a:bodyPr wrap="square" lIns="0" tIns="0" rIns="0" bIns="0" anchor="t">
            <a:spAutoFit/>
          </a:bodyPr>
          <a:lstStyle/>
          <a:p>
            <a:pPr algn="l"/>
            <a:r>
              <a:rPr sz="1200" b="1" spc="300">
                <a:solidFill>
                  <a:srgbClr val="2E9E55"/>
                </a:solidFill>
                <a:latin typeface="Calibri"/>
              </a:rPr>
              <a:t>OUR SOLUTION</a:t>
            </a:r>
          </a:p>
        </p:txBody>
      </p:sp>
      <p:sp>
        <p:nvSpPr>
          <p:cNvPr id="3" name="TextBox 2"/>
          <p:cNvSpPr txBox="1"/>
          <p:nvPr/>
        </p:nvSpPr>
        <p:spPr>
          <a:xfrm>
            <a:off x="640080" y="777240"/>
            <a:ext cx="10881360" cy="822960"/>
          </a:xfrm>
          <a:prstGeom prst="rect">
            <a:avLst/>
          </a:prstGeom>
          <a:noFill/>
        </p:spPr>
        <p:txBody>
          <a:bodyPr wrap="square" lIns="0" tIns="0" rIns="0" bIns="0" anchor="t">
            <a:spAutoFit/>
          </a:bodyPr>
          <a:lstStyle/>
          <a:p>
            <a:pPr algn="l"/>
            <a:r>
              <a:rPr sz="3200" b="1">
                <a:solidFill>
                  <a:srgbClr val="14231B"/>
                </a:solidFill>
                <a:latin typeface="Georgia"/>
              </a:rPr>
              <a:t>From a citizen's photo to a verified, dispatched fix</a:t>
            </a:r>
          </a:p>
        </p:txBody>
      </p:sp>
      <p:sp>
        <p:nvSpPr>
          <p:cNvPr id="4" name="TextBox 3"/>
          <p:cNvSpPr txBox="1"/>
          <p:nvPr/>
        </p:nvSpPr>
        <p:spPr>
          <a:xfrm>
            <a:off x="10908792" y="6446520"/>
            <a:ext cx="640080" cy="228600"/>
          </a:xfrm>
          <a:prstGeom prst="rect">
            <a:avLst/>
          </a:prstGeom>
          <a:noFill/>
        </p:spPr>
        <p:txBody>
          <a:bodyPr wrap="square" lIns="0" tIns="0" rIns="0" bIns="0" anchor="t">
            <a:spAutoFit/>
          </a:bodyPr>
          <a:lstStyle/>
          <a:p>
            <a:pPr algn="r"/>
            <a:r>
              <a:rPr sz="1000" b="0">
                <a:solidFill>
                  <a:srgbClr val="56655C"/>
                </a:solidFill>
                <a:latin typeface="Calibri"/>
              </a:rPr>
              <a:t>03 / 12</a:t>
            </a:r>
          </a:p>
        </p:txBody>
      </p:sp>
      <p:sp>
        <p:nvSpPr>
          <p:cNvPr id="5" name="Rounded Rectangle 4"/>
          <p:cNvSpPr/>
          <p:nvPr/>
        </p:nvSpPr>
        <p:spPr>
          <a:xfrm>
            <a:off x="640080" y="1645920"/>
            <a:ext cx="2560320" cy="1783080"/>
          </a:xfrm>
          <a:prstGeom prst="roundRect">
            <a:avLst>
              <a:gd name="adj" fmla="val 5000"/>
            </a:avLst>
          </a:prstGeom>
          <a:solidFill>
            <a:srgbClr val="FFFFFF"/>
          </a:solidFill>
          <a:ln w="12700">
            <a:solidFill>
              <a:srgbClr val="D9E3DC"/>
            </a:solidFill>
          </a:ln>
          <a:effectLst>
            <a:outerShdw blurRad="127000" dist="25400" dir="5400000" algn="bl" rotWithShape="0">
              <a:srgbClr val="0E1F17">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68680" y="1828800"/>
            <a:ext cx="548640" cy="548640"/>
          </a:xfrm>
          <a:prstGeom prst="ellipse">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png"/>
          <p:cNvPicPr>
            <a:picLocks noChangeAspect="1"/>
          </p:cNvPicPr>
          <p:nvPr/>
        </p:nvPicPr>
        <p:blipFill>
          <a:blip r:embed="rId3"/>
          <a:stretch>
            <a:fillRect/>
          </a:stretch>
        </p:blipFill>
        <p:spPr>
          <a:xfrm>
            <a:off x="1005839" y="1965960"/>
            <a:ext cx="274320" cy="274320"/>
          </a:xfrm>
          <a:prstGeom prst="rect">
            <a:avLst/>
          </a:prstGeom>
        </p:spPr>
      </p:pic>
      <p:sp>
        <p:nvSpPr>
          <p:cNvPr id="8" name="TextBox 7"/>
          <p:cNvSpPr txBox="1"/>
          <p:nvPr/>
        </p:nvSpPr>
        <p:spPr>
          <a:xfrm>
            <a:off x="1554480" y="1947672"/>
            <a:ext cx="1554480" cy="320040"/>
          </a:xfrm>
          <a:prstGeom prst="rect">
            <a:avLst/>
          </a:prstGeom>
          <a:noFill/>
        </p:spPr>
        <p:txBody>
          <a:bodyPr wrap="square" lIns="0" tIns="0" rIns="0" bIns="0" anchor="t">
            <a:spAutoFit/>
          </a:bodyPr>
          <a:lstStyle/>
          <a:p>
            <a:pPr algn="l"/>
            <a:r>
              <a:rPr sz="1350" b="1">
                <a:solidFill>
                  <a:srgbClr val="1F6B3A"/>
                </a:solidFill>
                <a:latin typeface="Calibri"/>
              </a:rPr>
              <a:t>01  SENSE</a:t>
            </a:r>
          </a:p>
        </p:txBody>
      </p:sp>
      <p:sp>
        <p:nvSpPr>
          <p:cNvPr id="9" name="TextBox 8"/>
          <p:cNvSpPr txBox="1"/>
          <p:nvPr/>
        </p:nvSpPr>
        <p:spPr>
          <a:xfrm>
            <a:off x="868680" y="2542032"/>
            <a:ext cx="2148840" cy="868680"/>
          </a:xfrm>
          <a:prstGeom prst="rect">
            <a:avLst/>
          </a:prstGeom>
          <a:noFill/>
        </p:spPr>
        <p:txBody>
          <a:bodyPr wrap="square" lIns="0" tIns="0" rIns="0" bIns="0" anchor="t">
            <a:spAutoFit/>
          </a:bodyPr>
          <a:lstStyle/>
          <a:p>
            <a:pPr algn="l"/>
            <a:r>
              <a:rPr sz="1200" b="0">
                <a:solidFill>
                  <a:srgbClr val="14231B"/>
                </a:solidFill>
                <a:latin typeface="Calibri"/>
              </a:rPr>
              <a:t>Photo, voice note and pin from citizens; stations and satellites watch continuously.</a:t>
            </a:r>
          </a:p>
        </p:txBody>
      </p:sp>
      <p:sp>
        <p:nvSpPr>
          <p:cNvPr id="10" name="Right Arrow 9"/>
          <p:cNvSpPr/>
          <p:nvPr/>
        </p:nvSpPr>
        <p:spPr>
          <a:xfrm>
            <a:off x="3236976" y="2432304"/>
            <a:ext cx="146304" cy="201168"/>
          </a:xfrm>
          <a:prstGeom prst="rightArrow">
            <a:avLst/>
          </a:prstGeom>
          <a:solidFill>
            <a:srgbClr val="CF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401568" y="1645920"/>
            <a:ext cx="2560320" cy="1783080"/>
          </a:xfrm>
          <a:prstGeom prst="roundRect">
            <a:avLst>
              <a:gd name="adj" fmla="val 5000"/>
            </a:avLst>
          </a:prstGeom>
          <a:solidFill>
            <a:srgbClr val="FFFFFF"/>
          </a:solidFill>
          <a:ln w="12700">
            <a:solidFill>
              <a:srgbClr val="D9E3DC"/>
            </a:solidFill>
          </a:ln>
          <a:effectLst>
            <a:outerShdw blurRad="127000" dist="25400" dir="5400000" algn="bl" rotWithShape="0">
              <a:srgbClr val="0E1F17">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3630168" y="1828800"/>
            <a:ext cx="548640" cy="548640"/>
          </a:xfrm>
          <a:prstGeom prst="ellipse">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image.png"/>
          <p:cNvPicPr>
            <a:picLocks noChangeAspect="1"/>
          </p:cNvPicPr>
          <p:nvPr/>
        </p:nvPicPr>
        <p:blipFill>
          <a:blip r:embed="rId4"/>
          <a:stretch>
            <a:fillRect/>
          </a:stretch>
        </p:blipFill>
        <p:spPr>
          <a:xfrm>
            <a:off x="3767328" y="1965960"/>
            <a:ext cx="274320" cy="274320"/>
          </a:xfrm>
          <a:prstGeom prst="rect">
            <a:avLst/>
          </a:prstGeom>
        </p:spPr>
      </p:pic>
      <p:sp>
        <p:nvSpPr>
          <p:cNvPr id="14" name="TextBox 13"/>
          <p:cNvSpPr txBox="1"/>
          <p:nvPr/>
        </p:nvSpPr>
        <p:spPr>
          <a:xfrm>
            <a:off x="4315968" y="1947672"/>
            <a:ext cx="1554480" cy="320040"/>
          </a:xfrm>
          <a:prstGeom prst="rect">
            <a:avLst/>
          </a:prstGeom>
          <a:noFill/>
        </p:spPr>
        <p:txBody>
          <a:bodyPr wrap="square" lIns="0" tIns="0" rIns="0" bIns="0" anchor="t">
            <a:spAutoFit/>
          </a:bodyPr>
          <a:lstStyle/>
          <a:p>
            <a:pPr algn="l"/>
            <a:r>
              <a:rPr sz="1350" b="1">
                <a:solidFill>
                  <a:srgbClr val="1F6B3A"/>
                </a:solidFill>
                <a:latin typeface="Calibri"/>
              </a:rPr>
              <a:t>02  VERIFY</a:t>
            </a:r>
          </a:p>
        </p:txBody>
      </p:sp>
      <p:sp>
        <p:nvSpPr>
          <p:cNvPr id="15" name="TextBox 14"/>
          <p:cNvSpPr txBox="1"/>
          <p:nvPr/>
        </p:nvSpPr>
        <p:spPr>
          <a:xfrm>
            <a:off x="3630168" y="2542032"/>
            <a:ext cx="2148840" cy="868680"/>
          </a:xfrm>
          <a:prstGeom prst="rect">
            <a:avLst/>
          </a:prstGeom>
          <a:noFill/>
        </p:spPr>
        <p:txBody>
          <a:bodyPr wrap="square" lIns="0" tIns="0" rIns="0" bIns="0" anchor="t">
            <a:spAutoFit/>
          </a:bodyPr>
          <a:lstStyle/>
          <a:p>
            <a:pPr algn="l"/>
            <a:r>
              <a:rPr sz="1200" b="0">
                <a:solidFill>
                  <a:srgbClr val="14231B"/>
                </a:solidFill>
                <a:latin typeface="Calibri"/>
              </a:rPr>
              <a:t>Gemini confirms smoke, dust, fire or haze and flags fakes, screenshots and duplicates.</a:t>
            </a:r>
          </a:p>
        </p:txBody>
      </p:sp>
      <p:sp>
        <p:nvSpPr>
          <p:cNvPr id="16" name="Right Arrow 15"/>
          <p:cNvSpPr/>
          <p:nvPr/>
        </p:nvSpPr>
        <p:spPr>
          <a:xfrm>
            <a:off x="5998464" y="2432304"/>
            <a:ext cx="146304" cy="201168"/>
          </a:xfrm>
          <a:prstGeom prst="rightArrow">
            <a:avLst/>
          </a:prstGeom>
          <a:solidFill>
            <a:srgbClr val="CF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163056" y="1645920"/>
            <a:ext cx="2560320" cy="1783080"/>
          </a:xfrm>
          <a:prstGeom prst="roundRect">
            <a:avLst>
              <a:gd name="adj" fmla="val 5000"/>
            </a:avLst>
          </a:prstGeom>
          <a:solidFill>
            <a:srgbClr val="FFFFFF"/>
          </a:solidFill>
          <a:ln w="12700">
            <a:solidFill>
              <a:srgbClr val="D9E3DC"/>
            </a:solidFill>
          </a:ln>
          <a:effectLst>
            <a:outerShdw blurRad="127000" dist="25400" dir="5400000" algn="bl" rotWithShape="0">
              <a:srgbClr val="0E1F17">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391656" y="1828800"/>
            <a:ext cx="548640" cy="548640"/>
          </a:xfrm>
          <a:prstGeom prst="ellipse">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image.png"/>
          <p:cNvPicPr>
            <a:picLocks noChangeAspect="1"/>
          </p:cNvPicPr>
          <p:nvPr/>
        </p:nvPicPr>
        <p:blipFill>
          <a:blip r:embed="rId5"/>
          <a:stretch>
            <a:fillRect/>
          </a:stretch>
        </p:blipFill>
        <p:spPr>
          <a:xfrm>
            <a:off x="6528816" y="1965960"/>
            <a:ext cx="274320" cy="274320"/>
          </a:xfrm>
          <a:prstGeom prst="rect">
            <a:avLst/>
          </a:prstGeom>
        </p:spPr>
      </p:pic>
      <p:sp>
        <p:nvSpPr>
          <p:cNvPr id="20" name="TextBox 19"/>
          <p:cNvSpPr txBox="1"/>
          <p:nvPr/>
        </p:nvSpPr>
        <p:spPr>
          <a:xfrm>
            <a:off x="7077456" y="1947672"/>
            <a:ext cx="1554480" cy="320040"/>
          </a:xfrm>
          <a:prstGeom prst="rect">
            <a:avLst/>
          </a:prstGeom>
          <a:noFill/>
        </p:spPr>
        <p:txBody>
          <a:bodyPr wrap="square" lIns="0" tIns="0" rIns="0" bIns="0" anchor="t">
            <a:spAutoFit/>
          </a:bodyPr>
          <a:lstStyle/>
          <a:p>
            <a:pPr algn="l"/>
            <a:r>
              <a:rPr sz="1350" b="1">
                <a:solidFill>
                  <a:srgbClr val="1F6B3A"/>
                </a:solidFill>
                <a:latin typeface="Calibri"/>
              </a:rPr>
              <a:t>03  FUSE</a:t>
            </a:r>
          </a:p>
        </p:txBody>
      </p:sp>
      <p:sp>
        <p:nvSpPr>
          <p:cNvPr id="21" name="TextBox 20"/>
          <p:cNvSpPr txBox="1"/>
          <p:nvPr/>
        </p:nvSpPr>
        <p:spPr>
          <a:xfrm>
            <a:off x="6391656" y="2542032"/>
            <a:ext cx="2148840" cy="868680"/>
          </a:xfrm>
          <a:prstGeom prst="rect">
            <a:avLst/>
          </a:prstGeom>
          <a:noFill/>
        </p:spPr>
        <p:txBody>
          <a:bodyPr wrap="square" lIns="0" tIns="0" rIns="0" bIns="0" anchor="t">
            <a:spAutoFit/>
          </a:bodyPr>
          <a:lstStyle/>
          <a:p>
            <a:pPr algn="l"/>
            <a:r>
              <a:rPr sz="1200" b="0">
                <a:solidFill>
                  <a:srgbClr val="14231B"/>
                </a:solidFill>
                <a:latin typeface="Calibri"/>
              </a:rPr>
              <a:t>Scored against the nearest station, Sentinel-5P, NASA FIRMS fires and live wind.</a:t>
            </a:r>
          </a:p>
        </p:txBody>
      </p:sp>
      <p:sp>
        <p:nvSpPr>
          <p:cNvPr id="22" name="Right Arrow 21"/>
          <p:cNvSpPr/>
          <p:nvPr/>
        </p:nvSpPr>
        <p:spPr>
          <a:xfrm>
            <a:off x="8759952" y="2432304"/>
            <a:ext cx="146304" cy="201168"/>
          </a:xfrm>
          <a:prstGeom prst="rightArrow">
            <a:avLst/>
          </a:prstGeom>
          <a:solidFill>
            <a:srgbClr val="CF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8924544" y="1645920"/>
            <a:ext cx="2560320" cy="1783080"/>
          </a:xfrm>
          <a:prstGeom prst="roundRect">
            <a:avLst>
              <a:gd name="adj" fmla="val 5000"/>
            </a:avLst>
          </a:prstGeom>
          <a:solidFill>
            <a:srgbClr val="FFFFFF"/>
          </a:solidFill>
          <a:ln w="12700">
            <a:solidFill>
              <a:srgbClr val="D9E3DC"/>
            </a:solidFill>
          </a:ln>
          <a:effectLst>
            <a:outerShdw blurRad="127000" dist="25400" dir="5400000" algn="bl" rotWithShape="0">
              <a:srgbClr val="0E1F17">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153144" y="1828800"/>
            <a:ext cx="548640" cy="548640"/>
          </a:xfrm>
          <a:prstGeom prst="ellipse">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image.png"/>
          <p:cNvPicPr>
            <a:picLocks noChangeAspect="1"/>
          </p:cNvPicPr>
          <p:nvPr/>
        </p:nvPicPr>
        <p:blipFill>
          <a:blip r:embed="rId6"/>
          <a:stretch>
            <a:fillRect/>
          </a:stretch>
        </p:blipFill>
        <p:spPr>
          <a:xfrm>
            <a:off x="9290304" y="1965960"/>
            <a:ext cx="274320" cy="274320"/>
          </a:xfrm>
          <a:prstGeom prst="rect">
            <a:avLst/>
          </a:prstGeom>
        </p:spPr>
      </p:pic>
      <p:sp>
        <p:nvSpPr>
          <p:cNvPr id="26" name="TextBox 25"/>
          <p:cNvSpPr txBox="1"/>
          <p:nvPr/>
        </p:nvSpPr>
        <p:spPr>
          <a:xfrm>
            <a:off x="9838944" y="1947672"/>
            <a:ext cx="1554480" cy="320040"/>
          </a:xfrm>
          <a:prstGeom prst="rect">
            <a:avLst/>
          </a:prstGeom>
          <a:noFill/>
        </p:spPr>
        <p:txBody>
          <a:bodyPr wrap="square" lIns="0" tIns="0" rIns="0" bIns="0" anchor="t">
            <a:spAutoFit/>
          </a:bodyPr>
          <a:lstStyle/>
          <a:p>
            <a:pPr algn="l"/>
            <a:r>
              <a:rPr sz="1350" b="1">
                <a:solidFill>
                  <a:srgbClr val="1F6B3A"/>
                </a:solidFill>
                <a:latin typeface="Calibri"/>
              </a:rPr>
              <a:t>04  ACT</a:t>
            </a:r>
          </a:p>
        </p:txBody>
      </p:sp>
      <p:sp>
        <p:nvSpPr>
          <p:cNvPr id="27" name="TextBox 26"/>
          <p:cNvSpPr txBox="1"/>
          <p:nvPr/>
        </p:nvSpPr>
        <p:spPr>
          <a:xfrm>
            <a:off x="9153144" y="2542032"/>
            <a:ext cx="2148840" cy="868680"/>
          </a:xfrm>
          <a:prstGeom prst="rect">
            <a:avLst/>
          </a:prstGeom>
          <a:noFill/>
        </p:spPr>
        <p:txBody>
          <a:bodyPr wrap="square" lIns="0" tIns="0" rIns="0" bIns="0" anchor="t">
            <a:spAutoFit/>
          </a:bodyPr>
          <a:lstStyle/>
          <a:p>
            <a:pPr algn="l"/>
            <a:r>
              <a:rPr sz="1200" b="0">
                <a:solidFill>
                  <a:srgbClr val="14231B"/>
                </a:solidFill>
                <a:latin typeface="Calibri"/>
              </a:rPr>
              <a:t>Ranked, dispatched with a Gemini work order, then confirmed by residents.</a:t>
            </a:r>
          </a:p>
        </p:txBody>
      </p:sp>
      <p:sp>
        <p:nvSpPr>
          <p:cNvPr id="28" name="Rounded Rectangle 27"/>
          <p:cNvSpPr/>
          <p:nvPr/>
        </p:nvSpPr>
        <p:spPr>
          <a:xfrm>
            <a:off x="640080" y="3703320"/>
            <a:ext cx="10908792" cy="2606040"/>
          </a:xfrm>
          <a:prstGeom prst="roundRect">
            <a:avLst>
              <a:gd name="adj" fmla="val 5000"/>
            </a:avLst>
          </a:prstGeom>
          <a:solidFill>
            <a:srgbClr val="FFFFFF"/>
          </a:solidFill>
          <a:ln w="12700">
            <a:solidFill>
              <a:srgbClr val="D9E3DC"/>
            </a:solidFill>
          </a:ln>
          <a:effectLst>
            <a:outerShdw blurRad="127000" dist="25400" dir="5400000" algn="bl" rotWithShape="0">
              <a:srgbClr val="0E1F17">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4400" y="3858768"/>
            <a:ext cx="5486400" cy="320040"/>
          </a:xfrm>
          <a:prstGeom prst="rect">
            <a:avLst/>
          </a:prstGeom>
          <a:noFill/>
        </p:spPr>
        <p:txBody>
          <a:bodyPr wrap="square" lIns="0" tIns="0" rIns="0" bIns="0" anchor="t">
            <a:spAutoFit/>
          </a:bodyPr>
          <a:lstStyle/>
          <a:p>
            <a:pPr algn="l"/>
            <a:r>
              <a:rPr sz="1500" b="1">
                <a:solidFill>
                  <a:srgbClr val="1F6B3A"/>
                </a:solidFill>
                <a:latin typeface="Calibri"/>
              </a:rPr>
              <a:t>Not another AQI dashboard</a:t>
            </a:r>
          </a:p>
        </p:txBody>
      </p:sp>
      <p:sp>
        <p:nvSpPr>
          <p:cNvPr id="30" name="TextBox 29"/>
          <p:cNvSpPr txBox="1"/>
          <p:nvPr/>
        </p:nvSpPr>
        <p:spPr>
          <a:xfrm>
            <a:off x="3017520" y="4279392"/>
            <a:ext cx="3566160" cy="274320"/>
          </a:xfrm>
          <a:prstGeom prst="rect">
            <a:avLst/>
          </a:prstGeom>
          <a:noFill/>
        </p:spPr>
        <p:txBody>
          <a:bodyPr wrap="square" lIns="0" tIns="0" rIns="0" bIns="0" anchor="t">
            <a:spAutoFit/>
          </a:bodyPr>
          <a:lstStyle/>
          <a:p>
            <a:pPr algn="l"/>
            <a:r>
              <a:rPr sz="1000" b="1" spc="150">
                <a:solidFill>
                  <a:srgbClr val="56655C"/>
                </a:solidFill>
                <a:latin typeface="Calibri"/>
              </a:rPr>
              <a:t>TYPICAL AQI DASHBOARD</a:t>
            </a:r>
          </a:p>
        </p:txBody>
      </p:sp>
      <p:sp>
        <p:nvSpPr>
          <p:cNvPr id="31" name="TextBox 30"/>
          <p:cNvSpPr txBox="1"/>
          <p:nvPr/>
        </p:nvSpPr>
        <p:spPr>
          <a:xfrm>
            <a:off x="6903720" y="4279392"/>
            <a:ext cx="4480560" cy="274320"/>
          </a:xfrm>
          <a:prstGeom prst="rect">
            <a:avLst/>
          </a:prstGeom>
          <a:noFill/>
        </p:spPr>
        <p:txBody>
          <a:bodyPr wrap="square" lIns="0" tIns="0" rIns="0" bIns="0" anchor="t">
            <a:spAutoFit/>
          </a:bodyPr>
          <a:lstStyle/>
          <a:p>
            <a:pPr algn="l"/>
            <a:r>
              <a:rPr sz="1000" b="1" spc="150">
                <a:solidFill>
                  <a:srgbClr val="2E9E55"/>
                </a:solidFill>
                <a:latin typeface="Calibri"/>
              </a:rPr>
              <a:t>VAYUSETU</a:t>
            </a:r>
          </a:p>
        </p:txBody>
      </p:sp>
      <p:sp>
        <p:nvSpPr>
          <p:cNvPr id="32" name="TextBox 31"/>
          <p:cNvSpPr txBox="1"/>
          <p:nvPr/>
        </p:nvSpPr>
        <p:spPr>
          <a:xfrm>
            <a:off x="914400" y="4617720"/>
            <a:ext cx="2011680" cy="320040"/>
          </a:xfrm>
          <a:prstGeom prst="rect">
            <a:avLst/>
          </a:prstGeom>
          <a:noFill/>
        </p:spPr>
        <p:txBody>
          <a:bodyPr wrap="square" lIns="0" tIns="0" rIns="0" bIns="0" anchor="t">
            <a:spAutoFit/>
          </a:bodyPr>
          <a:lstStyle/>
          <a:p>
            <a:pPr algn="l"/>
            <a:r>
              <a:rPr sz="1250" b="1">
                <a:solidFill>
                  <a:srgbClr val="14231B"/>
                </a:solidFill>
                <a:latin typeface="Calibri"/>
              </a:rPr>
              <a:t>Scale</a:t>
            </a:r>
          </a:p>
        </p:txBody>
      </p:sp>
      <p:sp>
        <p:nvSpPr>
          <p:cNvPr id="33" name="TextBox 32"/>
          <p:cNvSpPr txBox="1"/>
          <p:nvPr/>
        </p:nvSpPr>
        <p:spPr>
          <a:xfrm>
            <a:off x="3017520" y="4617720"/>
            <a:ext cx="3749039" cy="320040"/>
          </a:xfrm>
          <a:prstGeom prst="rect">
            <a:avLst/>
          </a:prstGeom>
          <a:noFill/>
        </p:spPr>
        <p:txBody>
          <a:bodyPr wrap="square" lIns="0" tIns="0" rIns="0" bIns="0" anchor="t">
            <a:spAutoFit/>
          </a:bodyPr>
          <a:lstStyle/>
          <a:p>
            <a:pPr algn="l"/>
            <a:r>
              <a:rPr sz="1250" b="0">
                <a:solidFill>
                  <a:srgbClr val="56655C"/>
                </a:solidFill>
                <a:latin typeface="Calibri"/>
              </a:rPr>
              <a:t>One city-wide average</a:t>
            </a:r>
          </a:p>
        </p:txBody>
      </p:sp>
      <p:sp>
        <p:nvSpPr>
          <p:cNvPr id="34" name="TextBox 33"/>
          <p:cNvSpPr txBox="1"/>
          <p:nvPr/>
        </p:nvSpPr>
        <p:spPr>
          <a:xfrm>
            <a:off x="6903720" y="4617720"/>
            <a:ext cx="4480560" cy="320040"/>
          </a:xfrm>
          <a:prstGeom prst="rect">
            <a:avLst/>
          </a:prstGeom>
          <a:noFill/>
        </p:spPr>
        <p:txBody>
          <a:bodyPr wrap="square" lIns="0" tIns="0" rIns="0" bIns="0" anchor="t">
            <a:spAutoFit/>
          </a:bodyPr>
          <a:lstStyle/>
          <a:p>
            <a:pPr algn="l"/>
            <a:r>
              <a:rPr sz="1250" b="1">
                <a:solidFill>
                  <a:srgbClr val="1F6B3A"/>
                </a:solidFill>
                <a:latin typeface="Calibri"/>
              </a:rPr>
              <a:t>Street-level H3 cells of ~0.7 km²</a:t>
            </a:r>
          </a:p>
        </p:txBody>
      </p:sp>
      <p:cxnSp>
        <p:nvCxnSpPr>
          <p:cNvPr id="35" name="Connector 34"/>
          <p:cNvCxnSpPr/>
          <p:nvPr/>
        </p:nvCxnSpPr>
        <p:spPr>
          <a:xfrm>
            <a:off x="914400" y="4983480"/>
            <a:ext cx="10360152" cy="0"/>
          </a:xfrm>
          <a:prstGeom prst="line">
            <a:avLst/>
          </a:prstGeom>
          <a:ln w="9525">
            <a:solidFill>
              <a:srgbClr val="D9E3DC"/>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914400" y="5038344"/>
            <a:ext cx="2011680" cy="320040"/>
          </a:xfrm>
          <a:prstGeom prst="rect">
            <a:avLst/>
          </a:prstGeom>
          <a:noFill/>
        </p:spPr>
        <p:txBody>
          <a:bodyPr wrap="square" lIns="0" tIns="0" rIns="0" bIns="0" anchor="t">
            <a:spAutoFit/>
          </a:bodyPr>
          <a:lstStyle/>
          <a:p>
            <a:pPr algn="l"/>
            <a:r>
              <a:rPr sz="1250" b="1">
                <a:solidFill>
                  <a:srgbClr val="14231B"/>
                </a:solidFill>
                <a:latin typeface="Calibri"/>
              </a:rPr>
              <a:t>Evidence</a:t>
            </a:r>
          </a:p>
        </p:txBody>
      </p:sp>
      <p:sp>
        <p:nvSpPr>
          <p:cNvPr id="37" name="TextBox 36"/>
          <p:cNvSpPr txBox="1"/>
          <p:nvPr/>
        </p:nvSpPr>
        <p:spPr>
          <a:xfrm>
            <a:off x="3017520" y="5038344"/>
            <a:ext cx="3749039" cy="320040"/>
          </a:xfrm>
          <a:prstGeom prst="rect">
            <a:avLst/>
          </a:prstGeom>
          <a:noFill/>
        </p:spPr>
        <p:txBody>
          <a:bodyPr wrap="square" lIns="0" tIns="0" rIns="0" bIns="0" anchor="t">
            <a:spAutoFit/>
          </a:bodyPr>
          <a:lstStyle/>
          <a:p>
            <a:pPr algn="l"/>
            <a:r>
              <a:rPr sz="1250" b="0">
                <a:solidFill>
                  <a:srgbClr val="56655C"/>
                </a:solidFill>
                <a:latin typeface="Calibri"/>
              </a:rPr>
              <a:t>A single sensor feed</a:t>
            </a:r>
          </a:p>
        </p:txBody>
      </p:sp>
      <p:sp>
        <p:nvSpPr>
          <p:cNvPr id="38" name="TextBox 37"/>
          <p:cNvSpPr txBox="1"/>
          <p:nvPr/>
        </p:nvSpPr>
        <p:spPr>
          <a:xfrm>
            <a:off x="6903720" y="5038344"/>
            <a:ext cx="4480560" cy="320040"/>
          </a:xfrm>
          <a:prstGeom prst="rect">
            <a:avLst/>
          </a:prstGeom>
          <a:noFill/>
        </p:spPr>
        <p:txBody>
          <a:bodyPr wrap="square" lIns="0" tIns="0" rIns="0" bIns="0" anchor="t">
            <a:spAutoFit/>
          </a:bodyPr>
          <a:lstStyle/>
          <a:p>
            <a:pPr algn="l"/>
            <a:r>
              <a:rPr sz="1250" b="1">
                <a:solidFill>
                  <a:srgbClr val="1F6B3A"/>
                </a:solidFill>
                <a:latin typeface="Calibri"/>
              </a:rPr>
              <a:t>Citizens + stations + Sentinel-5P + FIRMS + wind</a:t>
            </a:r>
          </a:p>
        </p:txBody>
      </p:sp>
      <p:cxnSp>
        <p:nvCxnSpPr>
          <p:cNvPr id="39" name="Connector 38"/>
          <p:cNvCxnSpPr/>
          <p:nvPr/>
        </p:nvCxnSpPr>
        <p:spPr>
          <a:xfrm>
            <a:off x="914400" y="5404104"/>
            <a:ext cx="10360152" cy="0"/>
          </a:xfrm>
          <a:prstGeom prst="line">
            <a:avLst/>
          </a:prstGeom>
          <a:ln w="9525">
            <a:solidFill>
              <a:srgbClr val="D9E3DC"/>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914400" y="5458968"/>
            <a:ext cx="2011680" cy="320040"/>
          </a:xfrm>
          <a:prstGeom prst="rect">
            <a:avLst/>
          </a:prstGeom>
          <a:noFill/>
        </p:spPr>
        <p:txBody>
          <a:bodyPr wrap="square" lIns="0" tIns="0" rIns="0" bIns="0" anchor="t">
            <a:spAutoFit/>
          </a:bodyPr>
          <a:lstStyle/>
          <a:p>
            <a:pPr algn="l"/>
            <a:r>
              <a:rPr sz="1250" b="1">
                <a:solidFill>
                  <a:srgbClr val="14231B"/>
                </a:solidFill>
                <a:latin typeface="Calibri"/>
              </a:rPr>
              <a:t>Trust</a:t>
            </a:r>
          </a:p>
        </p:txBody>
      </p:sp>
      <p:sp>
        <p:nvSpPr>
          <p:cNvPr id="41" name="TextBox 40"/>
          <p:cNvSpPr txBox="1"/>
          <p:nvPr/>
        </p:nvSpPr>
        <p:spPr>
          <a:xfrm>
            <a:off x="3017520" y="5458968"/>
            <a:ext cx="3749039" cy="320040"/>
          </a:xfrm>
          <a:prstGeom prst="rect">
            <a:avLst/>
          </a:prstGeom>
          <a:noFill/>
        </p:spPr>
        <p:txBody>
          <a:bodyPr wrap="square" lIns="0" tIns="0" rIns="0" bIns="0" anchor="t">
            <a:spAutoFit/>
          </a:bodyPr>
          <a:lstStyle/>
          <a:p>
            <a:pPr algn="l"/>
            <a:r>
              <a:rPr sz="1250" b="0">
                <a:solidFill>
                  <a:srgbClr val="56655C"/>
                </a:solidFill>
                <a:latin typeface="Calibri"/>
              </a:rPr>
              <a:t>Reports taken at face value</a:t>
            </a:r>
          </a:p>
        </p:txBody>
      </p:sp>
      <p:sp>
        <p:nvSpPr>
          <p:cNvPr id="42" name="TextBox 41"/>
          <p:cNvSpPr txBox="1"/>
          <p:nvPr/>
        </p:nvSpPr>
        <p:spPr>
          <a:xfrm>
            <a:off x="6903720" y="5458968"/>
            <a:ext cx="4480560" cy="320040"/>
          </a:xfrm>
          <a:prstGeom prst="rect">
            <a:avLst/>
          </a:prstGeom>
          <a:noFill/>
        </p:spPr>
        <p:txBody>
          <a:bodyPr wrap="square" lIns="0" tIns="0" rIns="0" bIns="0" anchor="t">
            <a:spAutoFit/>
          </a:bodyPr>
          <a:lstStyle/>
          <a:p>
            <a:pPr algn="l"/>
            <a:r>
              <a:rPr sz="1250" b="1">
                <a:solidFill>
                  <a:srgbClr val="1F6B3A"/>
                </a:solidFill>
                <a:latin typeface="Calibri"/>
              </a:rPr>
              <a:t>Gemini, EXIF and duplicate checks; independent agreement</a:t>
            </a:r>
          </a:p>
        </p:txBody>
      </p:sp>
      <p:cxnSp>
        <p:nvCxnSpPr>
          <p:cNvPr id="43" name="Connector 42"/>
          <p:cNvCxnSpPr/>
          <p:nvPr/>
        </p:nvCxnSpPr>
        <p:spPr>
          <a:xfrm>
            <a:off x="914400" y="5824728"/>
            <a:ext cx="10360152" cy="0"/>
          </a:xfrm>
          <a:prstGeom prst="line">
            <a:avLst/>
          </a:prstGeom>
          <a:ln w="9525">
            <a:solidFill>
              <a:srgbClr val="D9E3DC"/>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914400" y="5879592"/>
            <a:ext cx="2011680" cy="320040"/>
          </a:xfrm>
          <a:prstGeom prst="rect">
            <a:avLst/>
          </a:prstGeom>
          <a:noFill/>
        </p:spPr>
        <p:txBody>
          <a:bodyPr wrap="square" lIns="0" tIns="0" rIns="0" bIns="0" anchor="t">
            <a:spAutoFit/>
          </a:bodyPr>
          <a:lstStyle/>
          <a:p>
            <a:pPr algn="l"/>
            <a:r>
              <a:rPr sz="1250" b="1">
                <a:solidFill>
                  <a:srgbClr val="14231B"/>
                </a:solidFill>
                <a:latin typeface="Calibri"/>
              </a:rPr>
              <a:t>Outcome</a:t>
            </a:r>
          </a:p>
        </p:txBody>
      </p:sp>
      <p:sp>
        <p:nvSpPr>
          <p:cNvPr id="45" name="TextBox 44"/>
          <p:cNvSpPr txBox="1"/>
          <p:nvPr/>
        </p:nvSpPr>
        <p:spPr>
          <a:xfrm>
            <a:off x="3017520" y="5879592"/>
            <a:ext cx="3749039" cy="320040"/>
          </a:xfrm>
          <a:prstGeom prst="rect">
            <a:avLst/>
          </a:prstGeom>
          <a:noFill/>
        </p:spPr>
        <p:txBody>
          <a:bodyPr wrap="square" lIns="0" tIns="0" rIns="0" bIns="0" anchor="t">
            <a:spAutoFit/>
          </a:bodyPr>
          <a:lstStyle/>
          <a:p>
            <a:pPr algn="l"/>
            <a:r>
              <a:rPr sz="1250" b="0">
                <a:solidFill>
                  <a:srgbClr val="56655C"/>
                </a:solidFill>
                <a:latin typeface="Calibri"/>
              </a:rPr>
              <a:t>Displays a number</a:t>
            </a:r>
          </a:p>
        </p:txBody>
      </p:sp>
      <p:sp>
        <p:nvSpPr>
          <p:cNvPr id="46" name="TextBox 45"/>
          <p:cNvSpPr txBox="1"/>
          <p:nvPr/>
        </p:nvSpPr>
        <p:spPr>
          <a:xfrm>
            <a:off x="6903720" y="5879592"/>
            <a:ext cx="4480560" cy="320040"/>
          </a:xfrm>
          <a:prstGeom prst="rect">
            <a:avLst/>
          </a:prstGeom>
          <a:noFill/>
        </p:spPr>
        <p:txBody>
          <a:bodyPr wrap="square" lIns="0" tIns="0" rIns="0" bIns="0" anchor="t">
            <a:spAutoFit/>
          </a:bodyPr>
          <a:lstStyle/>
          <a:p>
            <a:pPr algn="l"/>
            <a:r>
              <a:rPr sz="1250" b="1">
                <a:solidFill>
                  <a:srgbClr val="1F6B3A"/>
                </a:solidFill>
                <a:latin typeface="Calibri"/>
              </a:rPr>
              <a:t>Ranked queue, routed work order, residents confirm the fix</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8229600" cy="274320"/>
          </a:xfrm>
          <a:prstGeom prst="rect">
            <a:avLst/>
          </a:prstGeom>
          <a:noFill/>
        </p:spPr>
        <p:txBody>
          <a:bodyPr wrap="square" lIns="0" tIns="0" rIns="0" bIns="0" anchor="t">
            <a:spAutoFit/>
          </a:bodyPr>
          <a:lstStyle/>
          <a:p>
            <a:pPr algn="l"/>
            <a:r>
              <a:rPr sz="1200" b="1" spc="300">
                <a:solidFill>
                  <a:srgbClr val="2E9E55"/>
                </a:solidFill>
                <a:latin typeface="Calibri"/>
              </a:rPr>
              <a:t>ARCHITECTURE</a:t>
            </a:r>
          </a:p>
        </p:txBody>
      </p:sp>
      <p:sp>
        <p:nvSpPr>
          <p:cNvPr id="3" name="TextBox 2"/>
          <p:cNvSpPr txBox="1"/>
          <p:nvPr/>
        </p:nvSpPr>
        <p:spPr>
          <a:xfrm>
            <a:off x="640080" y="777240"/>
            <a:ext cx="10881360" cy="822960"/>
          </a:xfrm>
          <a:prstGeom prst="rect">
            <a:avLst/>
          </a:prstGeom>
          <a:noFill/>
        </p:spPr>
        <p:txBody>
          <a:bodyPr wrap="square" lIns="0" tIns="0" rIns="0" bIns="0" anchor="t">
            <a:spAutoFit/>
          </a:bodyPr>
          <a:lstStyle/>
          <a:p>
            <a:pPr algn="l"/>
            <a:r>
              <a:rPr sz="3200" b="1">
                <a:solidFill>
                  <a:srgbClr val="14231B"/>
                </a:solidFill>
                <a:latin typeface="Georgia"/>
              </a:rPr>
              <a:t>One hexagon grid ties every source together</a:t>
            </a:r>
          </a:p>
        </p:txBody>
      </p:sp>
      <p:sp>
        <p:nvSpPr>
          <p:cNvPr id="4" name="TextBox 3"/>
          <p:cNvSpPr txBox="1"/>
          <p:nvPr/>
        </p:nvSpPr>
        <p:spPr>
          <a:xfrm>
            <a:off x="10908792" y="6446520"/>
            <a:ext cx="640080" cy="228600"/>
          </a:xfrm>
          <a:prstGeom prst="rect">
            <a:avLst/>
          </a:prstGeom>
          <a:noFill/>
        </p:spPr>
        <p:txBody>
          <a:bodyPr wrap="square" lIns="0" tIns="0" rIns="0" bIns="0" anchor="t">
            <a:spAutoFit/>
          </a:bodyPr>
          <a:lstStyle/>
          <a:p>
            <a:pPr algn="r"/>
            <a:r>
              <a:rPr sz="1000" b="0">
                <a:solidFill>
                  <a:srgbClr val="56655C"/>
                </a:solidFill>
                <a:latin typeface="Calibri"/>
              </a:rPr>
              <a:t>04 / 12</a:t>
            </a:r>
          </a:p>
        </p:txBody>
      </p:sp>
      <p:sp>
        <p:nvSpPr>
          <p:cNvPr id="5" name="TextBox 4"/>
          <p:cNvSpPr txBox="1"/>
          <p:nvPr/>
        </p:nvSpPr>
        <p:spPr>
          <a:xfrm>
            <a:off x="640080" y="1645920"/>
            <a:ext cx="2743200" cy="274320"/>
          </a:xfrm>
          <a:prstGeom prst="rect">
            <a:avLst/>
          </a:prstGeom>
          <a:noFill/>
        </p:spPr>
        <p:txBody>
          <a:bodyPr wrap="square" lIns="0" tIns="0" rIns="0" bIns="0" anchor="t">
            <a:spAutoFit/>
          </a:bodyPr>
          <a:lstStyle/>
          <a:p>
            <a:pPr algn="l"/>
            <a:r>
              <a:rPr sz="1050" b="1" spc="200">
                <a:solidFill>
                  <a:srgbClr val="56655C"/>
                </a:solidFill>
                <a:latin typeface="Calibri"/>
              </a:rPr>
              <a:t>INPUTS</a:t>
            </a:r>
          </a:p>
        </p:txBody>
      </p:sp>
      <p:sp>
        <p:nvSpPr>
          <p:cNvPr id="6" name="Rounded Rectangle 5"/>
          <p:cNvSpPr/>
          <p:nvPr/>
        </p:nvSpPr>
        <p:spPr>
          <a:xfrm>
            <a:off x="640080" y="1965960"/>
            <a:ext cx="2788920" cy="804672"/>
          </a:xfrm>
          <a:prstGeom prst="roundRect">
            <a:avLst>
              <a:gd name="adj" fmla="val 5000"/>
            </a:avLst>
          </a:prstGeom>
          <a:solidFill>
            <a:srgbClr val="FFFFFF"/>
          </a:solidFill>
          <a:ln w="12700">
            <a:solidFill>
              <a:srgbClr val="D9E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 y="2139696"/>
            <a:ext cx="457200" cy="457200"/>
          </a:xfrm>
          <a:prstGeom prst="ellipse">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891540" y="2253996"/>
            <a:ext cx="228600" cy="228600"/>
          </a:xfrm>
          <a:prstGeom prst="rect">
            <a:avLst/>
          </a:prstGeom>
        </p:spPr>
      </p:pic>
      <p:sp>
        <p:nvSpPr>
          <p:cNvPr id="9" name="TextBox 8"/>
          <p:cNvSpPr txBox="1"/>
          <p:nvPr/>
        </p:nvSpPr>
        <p:spPr>
          <a:xfrm>
            <a:off x="1353312" y="2075688"/>
            <a:ext cx="2011680" cy="274320"/>
          </a:xfrm>
          <a:prstGeom prst="rect">
            <a:avLst/>
          </a:prstGeom>
          <a:noFill/>
        </p:spPr>
        <p:txBody>
          <a:bodyPr wrap="square" lIns="0" tIns="0" rIns="0" bIns="0" anchor="t">
            <a:spAutoFit/>
          </a:bodyPr>
          <a:lstStyle/>
          <a:p>
            <a:pPr algn="l"/>
            <a:r>
              <a:rPr sz="1250" b="1">
                <a:solidFill>
                  <a:srgbClr val="14231B"/>
                </a:solidFill>
                <a:latin typeface="Calibri"/>
              </a:rPr>
              <a:t>Citizens</a:t>
            </a:r>
          </a:p>
        </p:txBody>
      </p:sp>
      <p:sp>
        <p:nvSpPr>
          <p:cNvPr id="10" name="TextBox 9"/>
          <p:cNvSpPr txBox="1"/>
          <p:nvPr/>
        </p:nvSpPr>
        <p:spPr>
          <a:xfrm>
            <a:off x="1353312" y="2359152"/>
            <a:ext cx="2011680" cy="365760"/>
          </a:xfrm>
          <a:prstGeom prst="rect">
            <a:avLst/>
          </a:prstGeom>
          <a:noFill/>
        </p:spPr>
        <p:txBody>
          <a:bodyPr wrap="square" lIns="0" tIns="0" rIns="0" bIns="0" anchor="t">
            <a:spAutoFit/>
          </a:bodyPr>
          <a:lstStyle/>
          <a:p>
            <a:pPr algn="l"/>
            <a:r>
              <a:rPr sz="1050" b="0">
                <a:solidFill>
                  <a:srgbClr val="56655C"/>
                </a:solidFill>
                <a:latin typeface="Calibri"/>
              </a:rPr>
              <a:t>Web app and WhatsApp, 13 languages</a:t>
            </a:r>
          </a:p>
        </p:txBody>
      </p:sp>
      <p:sp>
        <p:nvSpPr>
          <p:cNvPr id="11" name="Rounded Rectangle 10"/>
          <p:cNvSpPr/>
          <p:nvPr/>
        </p:nvSpPr>
        <p:spPr>
          <a:xfrm>
            <a:off x="640080" y="2898648"/>
            <a:ext cx="2788920" cy="804672"/>
          </a:xfrm>
          <a:prstGeom prst="roundRect">
            <a:avLst>
              <a:gd name="adj" fmla="val 5000"/>
            </a:avLst>
          </a:prstGeom>
          <a:solidFill>
            <a:srgbClr val="FFFFFF"/>
          </a:solidFill>
          <a:ln w="12700">
            <a:solidFill>
              <a:srgbClr val="D9E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777240" y="3072384"/>
            <a:ext cx="457200" cy="457200"/>
          </a:xfrm>
          <a:prstGeom prst="ellipse">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tower-broadcast.png"/>
          <p:cNvPicPr>
            <a:picLocks noChangeAspect="1"/>
          </p:cNvPicPr>
          <p:nvPr/>
        </p:nvPicPr>
        <p:blipFill>
          <a:blip r:embed="rId4"/>
          <a:stretch>
            <a:fillRect/>
          </a:stretch>
        </p:blipFill>
        <p:spPr>
          <a:xfrm>
            <a:off x="891540" y="3186684"/>
            <a:ext cx="228600" cy="228600"/>
          </a:xfrm>
          <a:prstGeom prst="rect">
            <a:avLst/>
          </a:prstGeom>
        </p:spPr>
      </p:pic>
      <p:sp>
        <p:nvSpPr>
          <p:cNvPr id="14" name="TextBox 13"/>
          <p:cNvSpPr txBox="1"/>
          <p:nvPr/>
        </p:nvSpPr>
        <p:spPr>
          <a:xfrm>
            <a:off x="1353312" y="3008376"/>
            <a:ext cx="2011680" cy="274320"/>
          </a:xfrm>
          <a:prstGeom prst="rect">
            <a:avLst/>
          </a:prstGeom>
          <a:noFill/>
        </p:spPr>
        <p:txBody>
          <a:bodyPr wrap="square" lIns="0" tIns="0" rIns="0" bIns="0" anchor="t">
            <a:spAutoFit/>
          </a:bodyPr>
          <a:lstStyle/>
          <a:p>
            <a:pPr algn="l"/>
            <a:r>
              <a:rPr sz="1250" b="1">
                <a:solidFill>
                  <a:srgbClr val="14231B"/>
                </a:solidFill>
                <a:latin typeface="Calibri"/>
              </a:rPr>
              <a:t>Ground stations</a:t>
            </a:r>
          </a:p>
        </p:txBody>
      </p:sp>
      <p:sp>
        <p:nvSpPr>
          <p:cNvPr id="15" name="TextBox 14"/>
          <p:cNvSpPr txBox="1"/>
          <p:nvPr/>
        </p:nvSpPr>
        <p:spPr>
          <a:xfrm>
            <a:off x="1353312" y="3291840"/>
            <a:ext cx="2011680" cy="365760"/>
          </a:xfrm>
          <a:prstGeom prst="rect">
            <a:avLst/>
          </a:prstGeom>
          <a:noFill/>
        </p:spPr>
        <p:txBody>
          <a:bodyPr wrap="square" lIns="0" tIns="0" rIns="0" bIns="0" anchor="t">
            <a:spAutoFit/>
          </a:bodyPr>
          <a:lstStyle/>
          <a:p>
            <a:pPr algn="l"/>
            <a:r>
              <a:rPr sz="1050" b="0">
                <a:solidFill>
                  <a:srgbClr val="56655C"/>
                </a:solidFill>
                <a:latin typeface="Calibri"/>
              </a:rPr>
              <a:t>OpenAQ, WAQI and CPCB, merged per city</a:t>
            </a:r>
          </a:p>
        </p:txBody>
      </p:sp>
      <p:sp>
        <p:nvSpPr>
          <p:cNvPr id="16" name="Rounded Rectangle 15"/>
          <p:cNvSpPr/>
          <p:nvPr/>
        </p:nvSpPr>
        <p:spPr>
          <a:xfrm>
            <a:off x="640080" y="3831335"/>
            <a:ext cx="2788920" cy="804672"/>
          </a:xfrm>
          <a:prstGeom prst="roundRect">
            <a:avLst>
              <a:gd name="adj" fmla="val 5000"/>
            </a:avLst>
          </a:prstGeom>
          <a:solidFill>
            <a:srgbClr val="FFFFFF"/>
          </a:solidFill>
          <a:ln w="12700">
            <a:solidFill>
              <a:srgbClr val="D9E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77240" y="4005072"/>
            <a:ext cx="457200" cy="457200"/>
          </a:xfrm>
          <a:prstGeom prst="ellipse">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satellite-dish.png"/>
          <p:cNvPicPr>
            <a:picLocks noChangeAspect="1"/>
          </p:cNvPicPr>
          <p:nvPr/>
        </p:nvPicPr>
        <p:blipFill>
          <a:blip r:embed="rId5"/>
          <a:stretch>
            <a:fillRect/>
          </a:stretch>
        </p:blipFill>
        <p:spPr>
          <a:xfrm>
            <a:off x="891540" y="4119372"/>
            <a:ext cx="228600" cy="228600"/>
          </a:xfrm>
          <a:prstGeom prst="rect">
            <a:avLst/>
          </a:prstGeom>
        </p:spPr>
      </p:pic>
      <p:sp>
        <p:nvSpPr>
          <p:cNvPr id="19" name="TextBox 18"/>
          <p:cNvSpPr txBox="1"/>
          <p:nvPr/>
        </p:nvSpPr>
        <p:spPr>
          <a:xfrm>
            <a:off x="1353312" y="3941063"/>
            <a:ext cx="2011680" cy="274320"/>
          </a:xfrm>
          <a:prstGeom prst="rect">
            <a:avLst/>
          </a:prstGeom>
          <a:noFill/>
        </p:spPr>
        <p:txBody>
          <a:bodyPr wrap="square" lIns="0" tIns="0" rIns="0" bIns="0" anchor="t">
            <a:spAutoFit/>
          </a:bodyPr>
          <a:lstStyle/>
          <a:p>
            <a:pPr algn="l"/>
            <a:r>
              <a:rPr sz="1250" b="1">
                <a:solidFill>
                  <a:srgbClr val="14231B"/>
                </a:solidFill>
                <a:latin typeface="Calibri"/>
              </a:rPr>
              <a:t>Satellites</a:t>
            </a:r>
          </a:p>
        </p:txBody>
      </p:sp>
      <p:sp>
        <p:nvSpPr>
          <p:cNvPr id="20" name="TextBox 19"/>
          <p:cNvSpPr txBox="1"/>
          <p:nvPr/>
        </p:nvSpPr>
        <p:spPr>
          <a:xfrm>
            <a:off x="1353312" y="4224527"/>
            <a:ext cx="2011680" cy="365760"/>
          </a:xfrm>
          <a:prstGeom prst="rect">
            <a:avLst/>
          </a:prstGeom>
          <a:noFill/>
        </p:spPr>
        <p:txBody>
          <a:bodyPr wrap="square" lIns="0" tIns="0" rIns="0" bIns="0" anchor="t">
            <a:spAutoFit/>
          </a:bodyPr>
          <a:lstStyle/>
          <a:p>
            <a:pPr algn="l"/>
            <a:r>
              <a:rPr sz="1050" b="0">
                <a:solidFill>
                  <a:srgbClr val="56655C"/>
                </a:solidFill>
                <a:latin typeface="Calibri"/>
              </a:rPr>
              <a:t>Sentinel-5P NO₂ and aerosol, NASA FIRMS</a:t>
            </a:r>
          </a:p>
        </p:txBody>
      </p:sp>
      <p:sp>
        <p:nvSpPr>
          <p:cNvPr id="21" name="Rounded Rectangle 20"/>
          <p:cNvSpPr/>
          <p:nvPr/>
        </p:nvSpPr>
        <p:spPr>
          <a:xfrm>
            <a:off x="640080" y="4764024"/>
            <a:ext cx="2788920" cy="804672"/>
          </a:xfrm>
          <a:prstGeom prst="roundRect">
            <a:avLst>
              <a:gd name="adj" fmla="val 5000"/>
            </a:avLst>
          </a:prstGeom>
          <a:solidFill>
            <a:srgbClr val="FFFFFF"/>
          </a:solidFill>
          <a:ln w="12700">
            <a:solidFill>
              <a:srgbClr val="D9E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777240" y="4937760"/>
            <a:ext cx="457200" cy="457200"/>
          </a:xfrm>
          <a:prstGeom prst="ellipse">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image.png"/>
          <p:cNvPicPr>
            <a:picLocks noChangeAspect="1"/>
          </p:cNvPicPr>
          <p:nvPr/>
        </p:nvPicPr>
        <p:blipFill>
          <a:blip r:embed="rId6"/>
          <a:stretch>
            <a:fillRect/>
          </a:stretch>
        </p:blipFill>
        <p:spPr>
          <a:xfrm>
            <a:off x="891540" y="5052060"/>
            <a:ext cx="228600" cy="228600"/>
          </a:xfrm>
          <a:prstGeom prst="rect">
            <a:avLst/>
          </a:prstGeom>
        </p:spPr>
      </p:pic>
      <p:sp>
        <p:nvSpPr>
          <p:cNvPr id="24" name="TextBox 23"/>
          <p:cNvSpPr txBox="1"/>
          <p:nvPr/>
        </p:nvSpPr>
        <p:spPr>
          <a:xfrm>
            <a:off x="1353312" y="4873752"/>
            <a:ext cx="2011680" cy="274320"/>
          </a:xfrm>
          <a:prstGeom prst="rect">
            <a:avLst/>
          </a:prstGeom>
          <a:noFill/>
        </p:spPr>
        <p:txBody>
          <a:bodyPr wrap="square" lIns="0" tIns="0" rIns="0" bIns="0" anchor="t">
            <a:spAutoFit/>
          </a:bodyPr>
          <a:lstStyle/>
          <a:p>
            <a:pPr algn="l"/>
            <a:r>
              <a:rPr sz="1250" b="1">
                <a:solidFill>
                  <a:srgbClr val="14231B"/>
                </a:solidFill>
                <a:latin typeface="Calibri"/>
              </a:rPr>
              <a:t>Weather &amp; air models</a:t>
            </a:r>
          </a:p>
        </p:txBody>
      </p:sp>
      <p:sp>
        <p:nvSpPr>
          <p:cNvPr id="25" name="TextBox 24"/>
          <p:cNvSpPr txBox="1"/>
          <p:nvPr/>
        </p:nvSpPr>
        <p:spPr>
          <a:xfrm>
            <a:off x="1353312" y="5157216"/>
            <a:ext cx="2011680" cy="365760"/>
          </a:xfrm>
          <a:prstGeom prst="rect">
            <a:avLst/>
          </a:prstGeom>
          <a:noFill/>
        </p:spPr>
        <p:txBody>
          <a:bodyPr wrap="square" lIns="0" tIns="0" rIns="0" bIns="0" anchor="t">
            <a:spAutoFit/>
          </a:bodyPr>
          <a:lstStyle/>
          <a:p>
            <a:pPr algn="l"/>
            <a:r>
              <a:rPr sz="1050" b="0">
                <a:solidFill>
                  <a:srgbClr val="56655C"/>
                </a:solidFill>
                <a:latin typeface="Calibri"/>
              </a:rPr>
              <a:t>Open-Meteo wind, Google Air Quality</a:t>
            </a:r>
          </a:p>
        </p:txBody>
      </p:sp>
      <p:sp>
        <p:nvSpPr>
          <p:cNvPr id="26" name="Right Arrow 25"/>
          <p:cNvSpPr/>
          <p:nvPr/>
        </p:nvSpPr>
        <p:spPr>
          <a:xfrm>
            <a:off x="3547872" y="3310128"/>
            <a:ext cx="365760" cy="292608"/>
          </a:xfrm>
          <a:prstGeom prst="rightArrow">
            <a:avLst/>
          </a:prstGeom>
          <a:solidFill>
            <a:srgbClr val="CF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4023360" y="1645920"/>
            <a:ext cx="4160520" cy="3977639"/>
          </a:xfrm>
          <a:prstGeom prst="roundRect">
            <a:avLst>
              <a:gd name="adj" fmla="val 5000"/>
            </a:avLst>
          </a:prstGeom>
          <a:solidFill>
            <a:srgbClr val="F4F8F5"/>
          </a:solidFill>
          <a:ln w="12700">
            <a:solidFill>
              <a:srgbClr val="D9E3DC"/>
            </a:solidFill>
          </a:ln>
          <a:effectLst>
            <a:outerShdw blurRad="127000" dist="25400" dir="5400000" algn="bl" rotWithShape="0">
              <a:srgbClr val="0E1F17">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251960" y="1783080"/>
            <a:ext cx="3657600" cy="320040"/>
          </a:xfrm>
          <a:prstGeom prst="rect">
            <a:avLst/>
          </a:prstGeom>
          <a:noFill/>
        </p:spPr>
        <p:txBody>
          <a:bodyPr wrap="square" lIns="0" tIns="0" rIns="0" bIns="0" anchor="t">
            <a:spAutoFit/>
          </a:bodyPr>
          <a:lstStyle/>
          <a:p>
            <a:pPr algn="l"/>
            <a:r>
              <a:rPr sz="1600" b="1">
                <a:solidFill>
                  <a:srgbClr val="1F6B3A"/>
                </a:solidFill>
                <a:latin typeface="Calibri"/>
              </a:rPr>
              <a:t>Google Cloud</a:t>
            </a:r>
          </a:p>
        </p:txBody>
      </p:sp>
      <p:sp>
        <p:nvSpPr>
          <p:cNvPr id="29" name="Rounded Rectangle 28"/>
          <p:cNvSpPr/>
          <p:nvPr/>
        </p:nvSpPr>
        <p:spPr>
          <a:xfrm>
            <a:off x="4206240" y="2240280"/>
            <a:ext cx="1847088" cy="941832"/>
          </a:xfrm>
          <a:prstGeom prst="roundRect">
            <a:avLst>
              <a:gd name="adj" fmla="val 5000"/>
            </a:avLst>
          </a:prstGeom>
          <a:solidFill>
            <a:srgbClr val="FFFFFF"/>
          </a:solidFill>
          <a:ln w="12700">
            <a:solidFill>
              <a:srgbClr val="D9E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4315968" y="2368296"/>
            <a:ext cx="384048" cy="384048"/>
          </a:xfrm>
          <a:prstGeom prst="ellipse">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image.png"/>
          <p:cNvPicPr>
            <a:picLocks noChangeAspect="1"/>
          </p:cNvPicPr>
          <p:nvPr/>
        </p:nvPicPr>
        <p:blipFill>
          <a:blip r:embed="rId7"/>
          <a:stretch>
            <a:fillRect/>
          </a:stretch>
        </p:blipFill>
        <p:spPr>
          <a:xfrm>
            <a:off x="4411980" y="2464308"/>
            <a:ext cx="192024" cy="192024"/>
          </a:xfrm>
          <a:prstGeom prst="rect">
            <a:avLst/>
          </a:prstGeom>
        </p:spPr>
      </p:pic>
      <p:sp>
        <p:nvSpPr>
          <p:cNvPr id="32" name="TextBox 31"/>
          <p:cNvSpPr txBox="1"/>
          <p:nvPr/>
        </p:nvSpPr>
        <p:spPr>
          <a:xfrm>
            <a:off x="4773168" y="2377440"/>
            <a:ext cx="1234440" cy="274320"/>
          </a:xfrm>
          <a:prstGeom prst="rect">
            <a:avLst/>
          </a:prstGeom>
          <a:noFill/>
        </p:spPr>
        <p:txBody>
          <a:bodyPr wrap="square" lIns="0" tIns="0" rIns="0" bIns="0" anchor="t">
            <a:spAutoFit/>
          </a:bodyPr>
          <a:lstStyle/>
          <a:p>
            <a:pPr algn="l"/>
            <a:r>
              <a:rPr sz="1150" b="1">
                <a:solidFill>
                  <a:srgbClr val="14231B"/>
                </a:solidFill>
                <a:latin typeface="Calibri"/>
              </a:rPr>
              <a:t>Gemini</a:t>
            </a:r>
          </a:p>
        </p:txBody>
      </p:sp>
      <p:sp>
        <p:nvSpPr>
          <p:cNvPr id="33" name="TextBox 32"/>
          <p:cNvSpPr txBox="1"/>
          <p:nvPr/>
        </p:nvSpPr>
        <p:spPr>
          <a:xfrm>
            <a:off x="4315968" y="2807208"/>
            <a:ext cx="1691640" cy="320040"/>
          </a:xfrm>
          <a:prstGeom prst="rect">
            <a:avLst/>
          </a:prstGeom>
          <a:noFill/>
        </p:spPr>
        <p:txBody>
          <a:bodyPr wrap="square" lIns="0" tIns="0" rIns="0" bIns="0" anchor="t">
            <a:spAutoFit/>
          </a:bodyPr>
          <a:lstStyle/>
          <a:p>
            <a:pPr algn="l"/>
            <a:r>
              <a:rPr sz="950" b="0">
                <a:solidFill>
                  <a:srgbClr val="56655C"/>
                </a:solidFill>
                <a:latin typeface="Calibri"/>
              </a:rPr>
              <a:t>vision · copilot · writing</a:t>
            </a:r>
          </a:p>
        </p:txBody>
      </p:sp>
      <p:sp>
        <p:nvSpPr>
          <p:cNvPr id="34" name="Rounded Rectangle 33"/>
          <p:cNvSpPr/>
          <p:nvPr/>
        </p:nvSpPr>
        <p:spPr>
          <a:xfrm>
            <a:off x="6172200" y="2240280"/>
            <a:ext cx="1847088" cy="941832"/>
          </a:xfrm>
          <a:prstGeom prst="roundRect">
            <a:avLst>
              <a:gd name="adj" fmla="val 5000"/>
            </a:avLst>
          </a:prstGeom>
          <a:solidFill>
            <a:srgbClr val="FFFFFF"/>
          </a:solidFill>
          <a:ln w="12700">
            <a:solidFill>
              <a:srgbClr val="D9E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6281928" y="2368296"/>
            <a:ext cx="384048" cy="384048"/>
          </a:xfrm>
          <a:prstGeom prst="ellipse">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Picture 35" descr="satellite-dish.png"/>
          <p:cNvPicPr>
            <a:picLocks noChangeAspect="1"/>
          </p:cNvPicPr>
          <p:nvPr/>
        </p:nvPicPr>
        <p:blipFill>
          <a:blip r:embed="rId5"/>
          <a:stretch>
            <a:fillRect/>
          </a:stretch>
        </p:blipFill>
        <p:spPr>
          <a:xfrm>
            <a:off x="6377940" y="2464308"/>
            <a:ext cx="192024" cy="192024"/>
          </a:xfrm>
          <a:prstGeom prst="rect">
            <a:avLst/>
          </a:prstGeom>
        </p:spPr>
      </p:pic>
      <p:sp>
        <p:nvSpPr>
          <p:cNvPr id="37" name="TextBox 36"/>
          <p:cNvSpPr txBox="1"/>
          <p:nvPr/>
        </p:nvSpPr>
        <p:spPr>
          <a:xfrm>
            <a:off x="6739128" y="2377440"/>
            <a:ext cx="1234440" cy="274320"/>
          </a:xfrm>
          <a:prstGeom prst="rect">
            <a:avLst/>
          </a:prstGeom>
          <a:noFill/>
        </p:spPr>
        <p:txBody>
          <a:bodyPr wrap="square" lIns="0" tIns="0" rIns="0" bIns="0" anchor="t">
            <a:spAutoFit/>
          </a:bodyPr>
          <a:lstStyle/>
          <a:p>
            <a:pPr algn="l"/>
            <a:r>
              <a:rPr sz="1150" b="1">
                <a:solidFill>
                  <a:srgbClr val="14231B"/>
                </a:solidFill>
                <a:latin typeface="Calibri"/>
              </a:rPr>
              <a:t>Earth Engine</a:t>
            </a:r>
          </a:p>
        </p:txBody>
      </p:sp>
      <p:sp>
        <p:nvSpPr>
          <p:cNvPr id="38" name="TextBox 37"/>
          <p:cNvSpPr txBox="1"/>
          <p:nvPr/>
        </p:nvSpPr>
        <p:spPr>
          <a:xfrm>
            <a:off x="6281928" y="2807208"/>
            <a:ext cx="1691640" cy="320040"/>
          </a:xfrm>
          <a:prstGeom prst="rect">
            <a:avLst/>
          </a:prstGeom>
          <a:noFill/>
        </p:spPr>
        <p:txBody>
          <a:bodyPr wrap="square" lIns="0" tIns="0" rIns="0" bIns="0" anchor="t">
            <a:spAutoFit/>
          </a:bodyPr>
          <a:lstStyle/>
          <a:p>
            <a:pPr algn="l"/>
            <a:r>
              <a:rPr sz="950" b="0">
                <a:solidFill>
                  <a:srgbClr val="56655C"/>
                </a:solidFill>
                <a:latin typeface="Calibri"/>
              </a:rPr>
              <a:t>Sentinel-5P · FIRMS · WorldPop</a:t>
            </a:r>
          </a:p>
        </p:txBody>
      </p:sp>
      <p:sp>
        <p:nvSpPr>
          <p:cNvPr id="39" name="Rounded Rectangle 38"/>
          <p:cNvSpPr/>
          <p:nvPr/>
        </p:nvSpPr>
        <p:spPr>
          <a:xfrm>
            <a:off x="4206240" y="3310128"/>
            <a:ext cx="1847088" cy="941832"/>
          </a:xfrm>
          <a:prstGeom prst="roundRect">
            <a:avLst>
              <a:gd name="adj" fmla="val 5000"/>
            </a:avLst>
          </a:prstGeom>
          <a:solidFill>
            <a:srgbClr val="FFFFFF"/>
          </a:solidFill>
          <a:ln w="12700">
            <a:solidFill>
              <a:srgbClr val="D9E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4315968" y="3438144"/>
            <a:ext cx="384048" cy="384048"/>
          </a:xfrm>
          <a:prstGeom prst="ellipse">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1" name="Picture 40" descr="database.png"/>
          <p:cNvPicPr>
            <a:picLocks noChangeAspect="1"/>
          </p:cNvPicPr>
          <p:nvPr/>
        </p:nvPicPr>
        <p:blipFill>
          <a:blip r:embed="rId8"/>
          <a:stretch>
            <a:fillRect/>
          </a:stretch>
        </p:blipFill>
        <p:spPr>
          <a:xfrm>
            <a:off x="4411980" y="3534156"/>
            <a:ext cx="192024" cy="192024"/>
          </a:xfrm>
          <a:prstGeom prst="rect">
            <a:avLst/>
          </a:prstGeom>
        </p:spPr>
      </p:pic>
      <p:sp>
        <p:nvSpPr>
          <p:cNvPr id="42" name="TextBox 41"/>
          <p:cNvSpPr txBox="1"/>
          <p:nvPr/>
        </p:nvSpPr>
        <p:spPr>
          <a:xfrm>
            <a:off x="4773168" y="3447288"/>
            <a:ext cx="1234440" cy="274320"/>
          </a:xfrm>
          <a:prstGeom prst="rect">
            <a:avLst/>
          </a:prstGeom>
          <a:noFill/>
        </p:spPr>
        <p:txBody>
          <a:bodyPr wrap="square" lIns="0" tIns="0" rIns="0" bIns="0" anchor="t">
            <a:spAutoFit/>
          </a:bodyPr>
          <a:lstStyle/>
          <a:p>
            <a:pPr algn="l"/>
            <a:r>
              <a:rPr sz="1150" b="1">
                <a:solidFill>
                  <a:srgbClr val="14231B"/>
                </a:solidFill>
                <a:latin typeface="Calibri"/>
              </a:rPr>
              <a:t>BigQuery + ML</a:t>
            </a:r>
          </a:p>
        </p:txBody>
      </p:sp>
      <p:sp>
        <p:nvSpPr>
          <p:cNvPr id="43" name="TextBox 42"/>
          <p:cNvSpPr txBox="1"/>
          <p:nvPr/>
        </p:nvSpPr>
        <p:spPr>
          <a:xfrm>
            <a:off x="4315968" y="3877056"/>
            <a:ext cx="1691640" cy="320040"/>
          </a:xfrm>
          <a:prstGeom prst="rect">
            <a:avLst/>
          </a:prstGeom>
          <a:noFill/>
        </p:spPr>
        <p:txBody>
          <a:bodyPr wrap="square" lIns="0" tIns="0" rIns="0" bIns="0" anchor="t">
            <a:spAutoFit/>
          </a:bodyPr>
          <a:lstStyle/>
          <a:p>
            <a:pPr algn="l"/>
            <a:r>
              <a:rPr sz="950" b="0">
                <a:solidFill>
                  <a:srgbClr val="56655C"/>
                </a:solidFill>
                <a:latin typeface="Calibri"/>
              </a:rPr>
              <a:t>station history · ARIMA_PLUS</a:t>
            </a:r>
          </a:p>
        </p:txBody>
      </p:sp>
      <p:sp>
        <p:nvSpPr>
          <p:cNvPr id="44" name="Rounded Rectangle 43"/>
          <p:cNvSpPr/>
          <p:nvPr/>
        </p:nvSpPr>
        <p:spPr>
          <a:xfrm>
            <a:off x="6172200" y="3310128"/>
            <a:ext cx="1847088" cy="941832"/>
          </a:xfrm>
          <a:prstGeom prst="roundRect">
            <a:avLst>
              <a:gd name="adj" fmla="val 5000"/>
            </a:avLst>
          </a:prstGeom>
          <a:solidFill>
            <a:srgbClr val="FFFFFF"/>
          </a:solidFill>
          <a:ln w="12700">
            <a:solidFill>
              <a:srgbClr val="D9E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6281928" y="3438144"/>
            <a:ext cx="384048" cy="384048"/>
          </a:xfrm>
          <a:prstGeom prst="ellipse">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6" name="Picture 45" descr="image.png"/>
          <p:cNvPicPr>
            <a:picLocks noChangeAspect="1"/>
          </p:cNvPicPr>
          <p:nvPr/>
        </p:nvPicPr>
        <p:blipFill>
          <a:blip r:embed="rId9"/>
          <a:stretch>
            <a:fillRect/>
          </a:stretch>
        </p:blipFill>
        <p:spPr>
          <a:xfrm>
            <a:off x="6377940" y="3534156"/>
            <a:ext cx="192024" cy="192024"/>
          </a:xfrm>
          <a:prstGeom prst="rect">
            <a:avLst/>
          </a:prstGeom>
        </p:spPr>
      </p:pic>
      <p:sp>
        <p:nvSpPr>
          <p:cNvPr id="47" name="TextBox 46"/>
          <p:cNvSpPr txBox="1"/>
          <p:nvPr/>
        </p:nvSpPr>
        <p:spPr>
          <a:xfrm>
            <a:off x="6739128" y="3447288"/>
            <a:ext cx="1234440" cy="274320"/>
          </a:xfrm>
          <a:prstGeom prst="rect">
            <a:avLst/>
          </a:prstGeom>
          <a:noFill/>
        </p:spPr>
        <p:txBody>
          <a:bodyPr wrap="square" lIns="0" tIns="0" rIns="0" bIns="0" anchor="t">
            <a:spAutoFit/>
          </a:bodyPr>
          <a:lstStyle/>
          <a:p>
            <a:pPr algn="l"/>
            <a:r>
              <a:rPr sz="1150" b="1">
                <a:solidFill>
                  <a:srgbClr val="14231B"/>
                </a:solidFill>
                <a:latin typeface="Calibri"/>
              </a:rPr>
              <a:t>Firebase</a:t>
            </a:r>
          </a:p>
        </p:txBody>
      </p:sp>
      <p:sp>
        <p:nvSpPr>
          <p:cNvPr id="48" name="TextBox 47"/>
          <p:cNvSpPr txBox="1"/>
          <p:nvPr/>
        </p:nvSpPr>
        <p:spPr>
          <a:xfrm>
            <a:off x="6281928" y="3877056"/>
            <a:ext cx="1691640" cy="320040"/>
          </a:xfrm>
          <a:prstGeom prst="rect">
            <a:avLst/>
          </a:prstGeom>
          <a:noFill/>
        </p:spPr>
        <p:txBody>
          <a:bodyPr wrap="square" lIns="0" tIns="0" rIns="0" bIns="0" anchor="t">
            <a:spAutoFit/>
          </a:bodyPr>
          <a:lstStyle/>
          <a:p>
            <a:pPr algn="l"/>
            <a:r>
              <a:rPr sz="950" b="0">
                <a:solidFill>
                  <a:srgbClr val="56655C"/>
                </a:solidFill>
                <a:latin typeface="Calibri"/>
              </a:rPr>
              <a:t>Firestore · Auth · App Hosting</a:t>
            </a:r>
          </a:p>
        </p:txBody>
      </p:sp>
      <p:sp>
        <p:nvSpPr>
          <p:cNvPr id="49" name="Rounded Rectangle 48"/>
          <p:cNvSpPr/>
          <p:nvPr/>
        </p:nvSpPr>
        <p:spPr>
          <a:xfrm>
            <a:off x="4206240" y="4379976"/>
            <a:ext cx="1847088" cy="941832"/>
          </a:xfrm>
          <a:prstGeom prst="roundRect">
            <a:avLst>
              <a:gd name="adj" fmla="val 5000"/>
            </a:avLst>
          </a:prstGeom>
          <a:solidFill>
            <a:srgbClr val="FFFFFF"/>
          </a:solidFill>
          <a:ln w="12700">
            <a:solidFill>
              <a:srgbClr val="D9E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4315968" y="4507992"/>
            <a:ext cx="384048" cy="384048"/>
          </a:xfrm>
          <a:prstGeom prst="ellipse">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1" name="Picture 50" descr="image.png"/>
          <p:cNvPicPr>
            <a:picLocks noChangeAspect="1"/>
          </p:cNvPicPr>
          <p:nvPr/>
        </p:nvPicPr>
        <p:blipFill>
          <a:blip r:embed="rId10"/>
          <a:stretch>
            <a:fillRect/>
          </a:stretch>
        </p:blipFill>
        <p:spPr>
          <a:xfrm>
            <a:off x="4411980" y="4604004"/>
            <a:ext cx="192024" cy="192024"/>
          </a:xfrm>
          <a:prstGeom prst="rect">
            <a:avLst/>
          </a:prstGeom>
        </p:spPr>
      </p:pic>
      <p:sp>
        <p:nvSpPr>
          <p:cNvPr id="52" name="TextBox 51"/>
          <p:cNvSpPr txBox="1"/>
          <p:nvPr/>
        </p:nvSpPr>
        <p:spPr>
          <a:xfrm>
            <a:off x="4773168" y="4517136"/>
            <a:ext cx="1234440" cy="274320"/>
          </a:xfrm>
          <a:prstGeom prst="rect">
            <a:avLst/>
          </a:prstGeom>
          <a:noFill/>
        </p:spPr>
        <p:txBody>
          <a:bodyPr wrap="square" lIns="0" tIns="0" rIns="0" bIns="0" anchor="t">
            <a:spAutoFit/>
          </a:bodyPr>
          <a:lstStyle/>
          <a:p>
            <a:pPr algn="l"/>
            <a:r>
              <a:rPr sz="1150" b="1">
                <a:solidFill>
                  <a:srgbClr val="14231B"/>
                </a:solidFill>
                <a:latin typeface="Calibri"/>
              </a:rPr>
              <a:t>Maps Platform</a:t>
            </a:r>
          </a:p>
        </p:txBody>
      </p:sp>
      <p:sp>
        <p:nvSpPr>
          <p:cNvPr id="53" name="TextBox 52"/>
          <p:cNvSpPr txBox="1"/>
          <p:nvPr/>
        </p:nvSpPr>
        <p:spPr>
          <a:xfrm>
            <a:off x="4315968" y="4946904"/>
            <a:ext cx="1691640" cy="320040"/>
          </a:xfrm>
          <a:prstGeom prst="rect">
            <a:avLst/>
          </a:prstGeom>
          <a:noFill/>
        </p:spPr>
        <p:txBody>
          <a:bodyPr wrap="square" lIns="0" tIns="0" rIns="0" bIns="0" anchor="t">
            <a:spAutoFit/>
          </a:bodyPr>
          <a:lstStyle/>
          <a:p>
            <a:pPr algn="l"/>
            <a:r>
              <a:rPr sz="950" b="0">
                <a:solidFill>
                  <a:srgbClr val="56655C"/>
                </a:solidFill>
                <a:latin typeface="Calibri"/>
              </a:rPr>
              <a:t>Places · Air Quality · Maps</a:t>
            </a:r>
          </a:p>
        </p:txBody>
      </p:sp>
      <p:sp>
        <p:nvSpPr>
          <p:cNvPr id="54" name="Rounded Rectangle 53"/>
          <p:cNvSpPr/>
          <p:nvPr/>
        </p:nvSpPr>
        <p:spPr>
          <a:xfrm>
            <a:off x="6172200" y="4379976"/>
            <a:ext cx="1847088" cy="941832"/>
          </a:xfrm>
          <a:prstGeom prst="roundRect">
            <a:avLst>
              <a:gd name="adj" fmla="val 5000"/>
            </a:avLst>
          </a:prstGeom>
          <a:solidFill>
            <a:srgbClr val="FFFFFF"/>
          </a:solidFill>
          <a:ln w="12700">
            <a:solidFill>
              <a:srgbClr val="D9E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6281928" y="4507992"/>
            <a:ext cx="384048" cy="384048"/>
          </a:xfrm>
          <a:prstGeom prst="ellipse">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6" name="Picture 55" descr="clock.png"/>
          <p:cNvPicPr>
            <a:picLocks noChangeAspect="1"/>
          </p:cNvPicPr>
          <p:nvPr/>
        </p:nvPicPr>
        <p:blipFill>
          <a:blip r:embed="rId11"/>
          <a:stretch>
            <a:fillRect/>
          </a:stretch>
        </p:blipFill>
        <p:spPr>
          <a:xfrm>
            <a:off x="6377940" y="4604004"/>
            <a:ext cx="192024" cy="192024"/>
          </a:xfrm>
          <a:prstGeom prst="rect">
            <a:avLst/>
          </a:prstGeom>
        </p:spPr>
      </p:pic>
      <p:sp>
        <p:nvSpPr>
          <p:cNvPr id="57" name="TextBox 56"/>
          <p:cNvSpPr txBox="1"/>
          <p:nvPr/>
        </p:nvSpPr>
        <p:spPr>
          <a:xfrm>
            <a:off x="6739128" y="4517136"/>
            <a:ext cx="1234440" cy="274320"/>
          </a:xfrm>
          <a:prstGeom prst="rect">
            <a:avLst/>
          </a:prstGeom>
          <a:noFill/>
        </p:spPr>
        <p:txBody>
          <a:bodyPr wrap="square" lIns="0" tIns="0" rIns="0" bIns="0" anchor="t">
            <a:spAutoFit/>
          </a:bodyPr>
          <a:lstStyle/>
          <a:p>
            <a:pPr algn="l"/>
            <a:r>
              <a:rPr sz="1150" b="1">
                <a:solidFill>
                  <a:srgbClr val="14231B"/>
                </a:solidFill>
                <a:latin typeface="Calibri"/>
              </a:rPr>
              <a:t>Cloud Scheduler</a:t>
            </a:r>
          </a:p>
        </p:txBody>
      </p:sp>
      <p:sp>
        <p:nvSpPr>
          <p:cNvPr id="58" name="TextBox 57"/>
          <p:cNvSpPr txBox="1"/>
          <p:nvPr/>
        </p:nvSpPr>
        <p:spPr>
          <a:xfrm>
            <a:off x="6281928" y="4946904"/>
            <a:ext cx="1691640" cy="320040"/>
          </a:xfrm>
          <a:prstGeom prst="rect">
            <a:avLst/>
          </a:prstGeom>
          <a:noFill/>
        </p:spPr>
        <p:txBody>
          <a:bodyPr wrap="square" lIns="0" tIns="0" rIns="0" bIns="0" anchor="t">
            <a:spAutoFit/>
          </a:bodyPr>
          <a:lstStyle/>
          <a:p>
            <a:pPr algn="l"/>
            <a:r>
              <a:rPr sz="950" b="0">
                <a:solidFill>
                  <a:srgbClr val="56655C"/>
                </a:solidFill>
                <a:latin typeface="Calibri"/>
              </a:rPr>
              <a:t>scan + ingest every 30 min</a:t>
            </a:r>
          </a:p>
        </p:txBody>
      </p:sp>
      <p:sp>
        <p:nvSpPr>
          <p:cNvPr id="59" name="Right Arrow 58"/>
          <p:cNvSpPr/>
          <p:nvPr/>
        </p:nvSpPr>
        <p:spPr>
          <a:xfrm>
            <a:off x="8302752" y="3310128"/>
            <a:ext cx="365760" cy="292608"/>
          </a:xfrm>
          <a:prstGeom prst="rightArrow">
            <a:avLst/>
          </a:prstGeom>
          <a:solidFill>
            <a:srgbClr val="CF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8778240" y="1645920"/>
            <a:ext cx="2743200" cy="274320"/>
          </a:xfrm>
          <a:prstGeom prst="rect">
            <a:avLst/>
          </a:prstGeom>
          <a:noFill/>
        </p:spPr>
        <p:txBody>
          <a:bodyPr wrap="square" lIns="0" tIns="0" rIns="0" bIns="0" anchor="t">
            <a:spAutoFit/>
          </a:bodyPr>
          <a:lstStyle/>
          <a:p>
            <a:pPr algn="l"/>
            <a:r>
              <a:rPr sz="1050" b="1" spc="200">
                <a:solidFill>
                  <a:srgbClr val="56655C"/>
                </a:solidFill>
                <a:latin typeface="Calibri"/>
              </a:rPr>
              <a:t>OUTPUTS</a:t>
            </a:r>
          </a:p>
        </p:txBody>
      </p:sp>
      <p:sp>
        <p:nvSpPr>
          <p:cNvPr id="61" name="Rounded Rectangle 60"/>
          <p:cNvSpPr/>
          <p:nvPr/>
        </p:nvSpPr>
        <p:spPr>
          <a:xfrm>
            <a:off x="8778240" y="1965960"/>
            <a:ext cx="2770632" cy="804672"/>
          </a:xfrm>
          <a:prstGeom prst="roundRect">
            <a:avLst>
              <a:gd name="adj" fmla="val 5000"/>
            </a:avLst>
          </a:prstGeom>
          <a:solidFill>
            <a:srgbClr val="FFFFFF"/>
          </a:solidFill>
          <a:ln w="12700">
            <a:solidFill>
              <a:srgbClr val="D9E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8915400" y="2139696"/>
            <a:ext cx="457200" cy="457200"/>
          </a:xfrm>
          <a:prstGeom prst="ellipse">
            <a:avLst/>
          </a:prstGeom>
          <a:solidFill>
            <a:srgbClr val="1F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3" name="Picture 62" descr="house-chimney-user.png"/>
          <p:cNvPicPr>
            <a:picLocks noChangeAspect="1"/>
          </p:cNvPicPr>
          <p:nvPr/>
        </p:nvPicPr>
        <p:blipFill>
          <a:blip r:embed="rId12"/>
          <a:stretch>
            <a:fillRect/>
          </a:stretch>
        </p:blipFill>
        <p:spPr>
          <a:xfrm>
            <a:off x="9029700" y="2253996"/>
            <a:ext cx="228600" cy="228600"/>
          </a:xfrm>
          <a:prstGeom prst="rect">
            <a:avLst/>
          </a:prstGeom>
        </p:spPr>
      </p:pic>
      <p:sp>
        <p:nvSpPr>
          <p:cNvPr id="64" name="TextBox 63"/>
          <p:cNvSpPr txBox="1"/>
          <p:nvPr/>
        </p:nvSpPr>
        <p:spPr>
          <a:xfrm>
            <a:off x="9491472" y="2075688"/>
            <a:ext cx="2011680" cy="274320"/>
          </a:xfrm>
          <a:prstGeom prst="rect">
            <a:avLst/>
          </a:prstGeom>
          <a:noFill/>
        </p:spPr>
        <p:txBody>
          <a:bodyPr wrap="square" lIns="0" tIns="0" rIns="0" bIns="0" anchor="t">
            <a:spAutoFit/>
          </a:bodyPr>
          <a:lstStyle/>
          <a:p>
            <a:pPr algn="l"/>
            <a:r>
              <a:rPr sz="1250" b="1">
                <a:solidFill>
                  <a:srgbClr val="14231B"/>
                </a:solidFill>
                <a:latin typeface="Calibri"/>
              </a:rPr>
              <a:t>Residents</a:t>
            </a:r>
          </a:p>
        </p:txBody>
      </p:sp>
      <p:sp>
        <p:nvSpPr>
          <p:cNvPr id="65" name="TextBox 64"/>
          <p:cNvSpPr txBox="1"/>
          <p:nvPr/>
        </p:nvSpPr>
        <p:spPr>
          <a:xfrm>
            <a:off x="9491472" y="2359152"/>
            <a:ext cx="2011680" cy="365760"/>
          </a:xfrm>
          <a:prstGeom prst="rect">
            <a:avLst/>
          </a:prstGeom>
          <a:noFill/>
        </p:spPr>
        <p:txBody>
          <a:bodyPr wrap="square" lIns="0" tIns="0" rIns="0" bIns="0" anchor="t">
            <a:spAutoFit/>
          </a:bodyPr>
          <a:lstStyle/>
          <a:p>
            <a:pPr algn="l"/>
            <a:r>
              <a:rPr sz="1050" b="0">
                <a:solidFill>
                  <a:srgbClr val="56655C"/>
                </a:solidFill>
                <a:latin typeface="Calibri"/>
              </a:rPr>
              <a:t>Area page, status, fix-check</a:t>
            </a:r>
          </a:p>
        </p:txBody>
      </p:sp>
      <p:sp>
        <p:nvSpPr>
          <p:cNvPr id="66" name="Rounded Rectangle 65"/>
          <p:cNvSpPr/>
          <p:nvPr/>
        </p:nvSpPr>
        <p:spPr>
          <a:xfrm>
            <a:off x="8778240" y="2898648"/>
            <a:ext cx="2770632" cy="804672"/>
          </a:xfrm>
          <a:prstGeom prst="roundRect">
            <a:avLst>
              <a:gd name="adj" fmla="val 5000"/>
            </a:avLst>
          </a:prstGeom>
          <a:solidFill>
            <a:srgbClr val="FFFFFF"/>
          </a:solidFill>
          <a:ln w="12700">
            <a:solidFill>
              <a:srgbClr val="D9E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8915400" y="3072384"/>
            <a:ext cx="457200" cy="457200"/>
          </a:xfrm>
          <a:prstGeom prst="ellipse">
            <a:avLst/>
          </a:prstGeom>
          <a:solidFill>
            <a:srgbClr val="1F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8" name="Picture 67" descr="image.png"/>
          <p:cNvPicPr>
            <a:picLocks noChangeAspect="1"/>
          </p:cNvPicPr>
          <p:nvPr/>
        </p:nvPicPr>
        <p:blipFill>
          <a:blip r:embed="rId13"/>
          <a:stretch>
            <a:fillRect/>
          </a:stretch>
        </p:blipFill>
        <p:spPr>
          <a:xfrm>
            <a:off x="9029700" y="3186684"/>
            <a:ext cx="228600" cy="228600"/>
          </a:xfrm>
          <a:prstGeom prst="rect">
            <a:avLst/>
          </a:prstGeom>
        </p:spPr>
      </p:pic>
      <p:sp>
        <p:nvSpPr>
          <p:cNvPr id="69" name="TextBox 68"/>
          <p:cNvSpPr txBox="1"/>
          <p:nvPr/>
        </p:nvSpPr>
        <p:spPr>
          <a:xfrm>
            <a:off x="9491472" y="3008376"/>
            <a:ext cx="2011680" cy="274320"/>
          </a:xfrm>
          <a:prstGeom prst="rect">
            <a:avLst/>
          </a:prstGeom>
          <a:noFill/>
        </p:spPr>
        <p:txBody>
          <a:bodyPr wrap="square" lIns="0" tIns="0" rIns="0" bIns="0" anchor="t">
            <a:spAutoFit/>
          </a:bodyPr>
          <a:lstStyle/>
          <a:p>
            <a:pPr algn="l"/>
            <a:r>
              <a:rPr sz="1250" b="1">
                <a:solidFill>
                  <a:srgbClr val="14231B"/>
                </a:solidFill>
                <a:latin typeface="Calibri"/>
              </a:rPr>
              <a:t>Operators</a:t>
            </a:r>
          </a:p>
        </p:txBody>
      </p:sp>
      <p:sp>
        <p:nvSpPr>
          <p:cNvPr id="70" name="TextBox 69"/>
          <p:cNvSpPr txBox="1"/>
          <p:nvPr/>
        </p:nvSpPr>
        <p:spPr>
          <a:xfrm>
            <a:off x="9491472" y="3291840"/>
            <a:ext cx="2011680" cy="365760"/>
          </a:xfrm>
          <a:prstGeom prst="rect">
            <a:avLst/>
          </a:prstGeom>
          <a:noFill/>
        </p:spPr>
        <p:txBody>
          <a:bodyPr wrap="square" lIns="0" tIns="0" rIns="0" bIns="0" anchor="t">
            <a:spAutoFit/>
          </a:bodyPr>
          <a:lstStyle/>
          <a:p>
            <a:pPr algn="l"/>
            <a:r>
              <a:rPr sz="1050" b="0">
                <a:solidFill>
                  <a:srgbClr val="56655C"/>
                </a:solidFill>
                <a:latin typeface="Calibri"/>
              </a:rPr>
              <a:t>Ranked queue and evidence</a:t>
            </a:r>
          </a:p>
        </p:txBody>
      </p:sp>
      <p:sp>
        <p:nvSpPr>
          <p:cNvPr id="71" name="Rounded Rectangle 70"/>
          <p:cNvSpPr/>
          <p:nvPr/>
        </p:nvSpPr>
        <p:spPr>
          <a:xfrm>
            <a:off x="8778240" y="3831335"/>
            <a:ext cx="2770632" cy="804672"/>
          </a:xfrm>
          <a:prstGeom prst="roundRect">
            <a:avLst>
              <a:gd name="adj" fmla="val 5000"/>
            </a:avLst>
          </a:prstGeom>
          <a:solidFill>
            <a:srgbClr val="FFFFFF"/>
          </a:solidFill>
          <a:ln w="12700">
            <a:solidFill>
              <a:srgbClr val="D9E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8915400" y="4005072"/>
            <a:ext cx="457200" cy="457200"/>
          </a:xfrm>
          <a:prstGeom prst="ellipse">
            <a:avLst/>
          </a:prstGeom>
          <a:solidFill>
            <a:srgbClr val="1F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3" name="Picture 72" descr="clipboard-list.png"/>
          <p:cNvPicPr>
            <a:picLocks noChangeAspect="1"/>
          </p:cNvPicPr>
          <p:nvPr/>
        </p:nvPicPr>
        <p:blipFill>
          <a:blip r:embed="rId14"/>
          <a:stretch>
            <a:fillRect/>
          </a:stretch>
        </p:blipFill>
        <p:spPr>
          <a:xfrm>
            <a:off x="9029700" y="4119372"/>
            <a:ext cx="228600" cy="228600"/>
          </a:xfrm>
          <a:prstGeom prst="rect">
            <a:avLst/>
          </a:prstGeom>
        </p:spPr>
      </p:pic>
      <p:sp>
        <p:nvSpPr>
          <p:cNvPr id="74" name="TextBox 73"/>
          <p:cNvSpPr txBox="1"/>
          <p:nvPr/>
        </p:nvSpPr>
        <p:spPr>
          <a:xfrm>
            <a:off x="9491472" y="3941063"/>
            <a:ext cx="2011680" cy="274320"/>
          </a:xfrm>
          <a:prstGeom prst="rect">
            <a:avLst/>
          </a:prstGeom>
          <a:noFill/>
        </p:spPr>
        <p:txBody>
          <a:bodyPr wrap="square" lIns="0" tIns="0" rIns="0" bIns="0" anchor="t">
            <a:spAutoFit/>
          </a:bodyPr>
          <a:lstStyle/>
          <a:p>
            <a:pPr algn="l"/>
            <a:r>
              <a:rPr sz="1250" b="1">
                <a:solidFill>
                  <a:srgbClr val="14231B"/>
                </a:solidFill>
                <a:latin typeface="Calibri"/>
              </a:rPr>
              <a:t>Agencies</a:t>
            </a:r>
          </a:p>
        </p:txBody>
      </p:sp>
      <p:sp>
        <p:nvSpPr>
          <p:cNvPr id="75" name="TextBox 74"/>
          <p:cNvSpPr txBox="1"/>
          <p:nvPr/>
        </p:nvSpPr>
        <p:spPr>
          <a:xfrm>
            <a:off x="9491472" y="4224527"/>
            <a:ext cx="2011680" cy="365760"/>
          </a:xfrm>
          <a:prstGeom prst="rect">
            <a:avLst/>
          </a:prstGeom>
          <a:noFill/>
        </p:spPr>
        <p:txBody>
          <a:bodyPr wrap="square" lIns="0" tIns="0" rIns="0" bIns="0" anchor="t">
            <a:spAutoFit/>
          </a:bodyPr>
          <a:lstStyle/>
          <a:p>
            <a:pPr algn="l"/>
            <a:r>
              <a:rPr sz="1050" b="0">
                <a:solidFill>
                  <a:srgbClr val="56655C"/>
                </a:solidFill>
                <a:latin typeface="Calibri"/>
              </a:rPr>
              <a:t>Work orders, EN + local</a:t>
            </a:r>
          </a:p>
        </p:txBody>
      </p:sp>
      <p:sp>
        <p:nvSpPr>
          <p:cNvPr id="76" name="Rounded Rectangle 75"/>
          <p:cNvSpPr/>
          <p:nvPr/>
        </p:nvSpPr>
        <p:spPr>
          <a:xfrm>
            <a:off x="8778240" y="4764024"/>
            <a:ext cx="2770632" cy="804672"/>
          </a:xfrm>
          <a:prstGeom prst="roundRect">
            <a:avLst>
              <a:gd name="adj" fmla="val 5000"/>
            </a:avLst>
          </a:prstGeom>
          <a:solidFill>
            <a:srgbClr val="FFFFFF"/>
          </a:solidFill>
          <a:ln w="12700">
            <a:solidFill>
              <a:srgbClr val="D9E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8915400" y="4937760"/>
            <a:ext cx="457200" cy="457200"/>
          </a:xfrm>
          <a:prstGeom prst="ellipse">
            <a:avLst/>
          </a:prstGeom>
          <a:solidFill>
            <a:srgbClr val="1F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8" name="Picture 77" descr="image.png"/>
          <p:cNvPicPr>
            <a:picLocks noChangeAspect="1"/>
          </p:cNvPicPr>
          <p:nvPr/>
        </p:nvPicPr>
        <p:blipFill>
          <a:blip r:embed="rId15"/>
          <a:stretch>
            <a:fillRect/>
          </a:stretch>
        </p:blipFill>
        <p:spPr>
          <a:xfrm>
            <a:off x="9029700" y="5052060"/>
            <a:ext cx="228600" cy="228600"/>
          </a:xfrm>
          <a:prstGeom prst="rect">
            <a:avLst/>
          </a:prstGeom>
        </p:spPr>
      </p:pic>
      <p:sp>
        <p:nvSpPr>
          <p:cNvPr id="79" name="TextBox 78"/>
          <p:cNvSpPr txBox="1"/>
          <p:nvPr/>
        </p:nvSpPr>
        <p:spPr>
          <a:xfrm>
            <a:off x="9491472" y="4873752"/>
            <a:ext cx="2011680" cy="274320"/>
          </a:xfrm>
          <a:prstGeom prst="rect">
            <a:avLst/>
          </a:prstGeom>
          <a:noFill/>
        </p:spPr>
        <p:txBody>
          <a:bodyPr wrap="square" lIns="0" tIns="0" rIns="0" bIns="0" anchor="t">
            <a:spAutoFit/>
          </a:bodyPr>
          <a:lstStyle/>
          <a:p>
            <a:pPr algn="l"/>
            <a:r>
              <a:rPr sz="1250" b="1">
                <a:solidFill>
                  <a:srgbClr val="14231B"/>
                </a:solidFill>
                <a:latin typeface="Calibri"/>
              </a:rPr>
              <a:t>Everyone</a:t>
            </a:r>
          </a:p>
        </p:txBody>
      </p:sp>
      <p:sp>
        <p:nvSpPr>
          <p:cNvPr id="80" name="TextBox 79"/>
          <p:cNvSpPr txBox="1"/>
          <p:nvPr/>
        </p:nvSpPr>
        <p:spPr>
          <a:xfrm>
            <a:off x="9491472" y="5157216"/>
            <a:ext cx="2011680" cy="365760"/>
          </a:xfrm>
          <a:prstGeom prst="rect">
            <a:avLst/>
          </a:prstGeom>
          <a:noFill/>
        </p:spPr>
        <p:txBody>
          <a:bodyPr wrap="square" lIns="0" tIns="0" rIns="0" bIns="0" anchor="t">
            <a:spAutoFit/>
          </a:bodyPr>
          <a:lstStyle/>
          <a:p>
            <a:pPr algn="l"/>
            <a:r>
              <a:rPr sz="1050" b="0">
                <a:solidFill>
                  <a:srgbClr val="56655C"/>
                </a:solidFill>
                <a:latin typeface="Calibri"/>
              </a:rPr>
              <a:t>24-hour forecasts, 12 cities</a:t>
            </a:r>
          </a:p>
        </p:txBody>
      </p:sp>
      <p:sp>
        <p:nvSpPr>
          <p:cNvPr id="81" name="Rounded Rectangle 80"/>
          <p:cNvSpPr/>
          <p:nvPr/>
        </p:nvSpPr>
        <p:spPr>
          <a:xfrm>
            <a:off x="640080" y="5806440"/>
            <a:ext cx="10908792" cy="502920"/>
          </a:xfrm>
          <a:prstGeom prst="roundRect">
            <a:avLst>
              <a:gd name="adj" fmla="val 30000"/>
            </a:avLst>
          </a:prstGeom>
          <a:solidFill>
            <a:srgbClr val="1F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868680" y="5806440"/>
            <a:ext cx="10515600" cy="502920"/>
          </a:xfrm>
          <a:prstGeom prst="rect">
            <a:avLst/>
          </a:prstGeom>
          <a:noFill/>
        </p:spPr>
        <p:txBody>
          <a:bodyPr wrap="square" lIns="0" tIns="0" rIns="0" bIns="0" anchor="ctr">
            <a:spAutoFit/>
          </a:bodyPr>
          <a:lstStyle/>
          <a:p>
            <a:pPr algn="l"/>
            <a:r>
              <a:rPr sz="1200" b="1">
                <a:solidFill>
                  <a:srgbClr val="7CE3A0"/>
                </a:solidFill>
                <a:latin typeface="Calibri"/>
              </a:rPr>
              <a:t>Key decision:  </a:t>
            </a:r>
            <a:r>
              <a:rPr sz="1200" b="0">
                <a:solidFill>
                  <a:srgbClr val="FFFFFF"/>
                </a:solidFill>
                <a:latin typeface="Calibri"/>
              </a:rPr>
              <a:t>every report, station reading and satellite pixel is indexed to the same H3 hexagon (~0.7 km²), so different evidence can be compared in the same place.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8F3EC"/>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8229600" cy="274320"/>
          </a:xfrm>
          <a:prstGeom prst="rect">
            <a:avLst/>
          </a:prstGeom>
          <a:noFill/>
        </p:spPr>
        <p:txBody>
          <a:bodyPr wrap="square" lIns="0" tIns="0" rIns="0" bIns="0" anchor="t">
            <a:spAutoFit/>
          </a:bodyPr>
          <a:lstStyle/>
          <a:p>
            <a:pPr algn="l"/>
            <a:r>
              <a:rPr sz="1200" b="1" spc="300">
                <a:solidFill>
                  <a:srgbClr val="2E9E55"/>
                </a:solidFill>
                <a:latin typeface="Calibri"/>
              </a:rPr>
              <a:t>GENERATIVE AI</a:t>
            </a:r>
          </a:p>
        </p:txBody>
      </p:sp>
      <p:sp>
        <p:nvSpPr>
          <p:cNvPr id="3" name="TextBox 2"/>
          <p:cNvSpPr txBox="1"/>
          <p:nvPr/>
        </p:nvSpPr>
        <p:spPr>
          <a:xfrm>
            <a:off x="640080" y="777240"/>
            <a:ext cx="10881360" cy="822960"/>
          </a:xfrm>
          <a:prstGeom prst="rect">
            <a:avLst/>
          </a:prstGeom>
          <a:noFill/>
        </p:spPr>
        <p:txBody>
          <a:bodyPr wrap="square" lIns="0" tIns="0" rIns="0" bIns="0" anchor="t">
            <a:spAutoFit/>
          </a:bodyPr>
          <a:lstStyle/>
          <a:p>
            <a:pPr algn="l"/>
            <a:r>
              <a:rPr sz="3200" b="1">
                <a:solidFill>
                  <a:srgbClr val="14231B"/>
                </a:solidFill>
                <a:latin typeface="Georgia"/>
              </a:rPr>
              <a:t>Gemini does four jobs and shows its evidence</a:t>
            </a:r>
          </a:p>
        </p:txBody>
      </p:sp>
      <p:sp>
        <p:nvSpPr>
          <p:cNvPr id="4" name="TextBox 3"/>
          <p:cNvSpPr txBox="1"/>
          <p:nvPr/>
        </p:nvSpPr>
        <p:spPr>
          <a:xfrm>
            <a:off x="10908792" y="6446520"/>
            <a:ext cx="640080" cy="228600"/>
          </a:xfrm>
          <a:prstGeom prst="rect">
            <a:avLst/>
          </a:prstGeom>
          <a:noFill/>
        </p:spPr>
        <p:txBody>
          <a:bodyPr wrap="square" lIns="0" tIns="0" rIns="0" bIns="0" anchor="t">
            <a:spAutoFit/>
          </a:bodyPr>
          <a:lstStyle/>
          <a:p>
            <a:pPr algn="r"/>
            <a:r>
              <a:rPr sz="1000" b="0">
                <a:solidFill>
                  <a:srgbClr val="56655C"/>
                </a:solidFill>
                <a:latin typeface="Calibri"/>
              </a:rPr>
              <a:t>05 / 12</a:t>
            </a:r>
          </a:p>
        </p:txBody>
      </p:sp>
      <p:sp>
        <p:nvSpPr>
          <p:cNvPr id="5" name="Rounded Rectangle 4"/>
          <p:cNvSpPr/>
          <p:nvPr/>
        </p:nvSpPr>
        <p:spPr>
          <a:xfrm>
            <a:off x="640080" y="1691640"/>
            <a:ext cx="2560320" cy="2971800"/>
          </a:xfrm>
          <a:prstGeom prst="roundRect">
            <a:avLst>
              <a:gd name="adj" fmla="val 5000"/>
            </a:avLst>
          </a:prstGeom>
          <a:solidFill>
            <a:srgbClr val="FFFFFF"/>
          </a:solidFill>
          <a:ln w="12700">
            <a:solidFill>
              <a:srgbClr val="D9E3DC"/>
            </a:solidFill>
          </a:ln>
          <a:effectLst>
            <a:outerShdw blurRad="127000" dist="25400" dir="5400000" algn="bl" rotWithShape="0">
              <a:srgbClr val="0E1F17">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68680" y="1892807"/>
            <a:ext cx="566928" cy="566928"/>
          </a:xfrm>
          <a:prstGeom prst="ellipse">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png"/>
          <p:cNvPicPr>
            <a:picLocks noChangeAspect="1"/>
          </p:cNvPicPr>
          <p:nvPr/>
        </p:nvPicPr>
        <p:blipFill>
          <a:blip r:embed="rId3"/>
          <a:stretch>
            <a:fillRect/>
          </a:stretch>
        </p:blipFill>
        <p:spPr>
          <a:xfrm>
            <a:off x="1010412" y="2034539"/>
            <a:ext cx="283464" cy="283464"/>
          </a:xfrm>
          <a:prstGeom prst="rect">
            <a:avLst/>
          </a:prstGeom>
        </p:spPr>
      </p:pic>
      <p:sp>
        <p:nvSpPr>
          <p:cNvPr id="8" name="TextBox 7"/>
          <p:cNvSpPr txBox="1"/>
          <p:nvPr/>
        </p:nvSpPr>
        <p:spPr>
          <a:xfrm>
            <a:off x="868680" y="2606040"/>
            <a:ext cx="2148840" cy="320040"/>
          </a:xfrm>
          <a:prstGeom prst="rect">
            <a:avLst/>
          </a:prstGeom>
          <a:noFill/>
        </p:spPr>
        <p:txBody>
          <a:bodyPr wrap="square" lIns="0" tIns="0" rIns="0" bIns="0" anchor="t">
            <a:spAutoFit/>
          </a:bodyPr>
          <a:lstStyle/>
          <a:p>
            <a:pPr algn="l"/>
            <a:r>
              <a:rPr sz="1500" b="1">
                <a:solidFill>
                  <a:srgbClr val="14231B"/>
                </a:solidFill>
                <a:latin typeface="Calibri"/>
              </a:rPr>
              <a:t>Photo check</a:t>
            </a:r>
          </a:p>
        </p:txBody>
      </p:sp>
      <p:sp>
        <p:nvSpPr>
          <p:cNvPr id="9" name="TextBox 8"/>
          <p:cNvSpPr txBox="1"/>
          <p:nvPr/>
        </p:nvSpPr>
        <p:spPr>
          <a:xfrm>
            <a:off x="868680" y="2990088"/>
            <a:ext cx="2148840" cy="1188720"/>
          </a:xfrm>
          <a:prstGeom prst="rect">
            <a:avLst/>
          </a:prstGeom>
          <a:noFill/>
        </p:spPr>
        <p:txBody>
          <a:bodyPr wrap="square" lIns="0" tIns="0" rIns="0" bIns="0" anchor="t">
            <a:spAutoFit/>
          </a:bodyPr>
          <a:lstStyle/>
          <a:p>
            <a:pPr algn="l"/>
            <a:r>
              <a:rPr sz="1200" b="0">
                <a:solidFill>
                  <a:srgbClr val="56655C"/>
                </a:solidFill>
                <a:latin typeface="Calibri"/>
              </a:rPr>
              <a:t>Labels smoke, dust, fire or haze with severity, and flags screenshots, edits and stock images.</a:t>
            </a:r>
          </a:p>
        </p:txBody>
      </p:sp>
      <p:sp>
        <p:nvSpPr>
          <p:cNvPr id="10" name="Rounded Rectangle 9"/>
          <p:cNvSpPr/>
          <p:nvPr/>
        </p:nvSpPr>
        <p:spPr>
          <a:xfrm>
            <a:off x="868680" y="4160520"/>
            <a:ext cx="2103120" cy="310896"/>
          </a:xfrm>
          <a:prstGeom prst="roundRect">
            <a:avLst>
              <a:gd name="adj" fmla="val 50000"/>
            </a:avLst>
          </a:prstGeom>
          <a:solidFill>
            <a:srgbClr val="1F6B3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Calibri"/>
              </a:rPr>
              <a:t>Vision + JSON output</a:t>
            </a:r>
          </a:p>
        </p:txBody>
      </p:sp>
      <p:sp>
        <p:nvSpPr>
          <p:cNvPr id="11" name="Rounded Rectangle 10"/>
          <p:cNvSpPr/>
          <p:nvPr/>
        </p:nvSpPr>
        <p:spPr>
          <a:xfrm>
            <a:off x="3401568" y="1691640"/>
            <a:ext cx="2560320" cy="2971800"/>
          </a:xfrm>
          <a:prstGeom prst="roundRect">
            <a:avLst>
              <a:gd name="adj" fmla="val 5000"/>
            </a:avLst>
          </a:prstGeom>
          <a:solidFill>
            <a:srgbClr val="FFFFFF"/>
          </a:solidFill>
          <a:ln w="12700">
            <a:solidFill>
              <a:srgbClr val="D9E3DC"/>
            </a:solidFill>
          </a:ln>
          <a:effectLst>
            <a:outerShdw blurRad="127000" dist="25400" dir="5400000" algn="bl" rotWithShape="0">
              <a:srgbClr val="0E1F17">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3630168" y="1892807"/>
            <a:ext cx="566928" cy="566928"/>
          </a:xfrm>
          <a:prstGeom prst="ellipse">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image.png"/>
          <p:cNvPicPr>
            <a:picLocks noChangeAspect="1"/>
          </p:cNvPicPr>
          <p:nvPr/>
        </p:nvPicPr>
        <p:blipFill>
          <a:blip r:embed="rId4"/>
          <a:stretch>
            <a:fillRect/>
          </a:stretch>
        </p:blipFill>
        <p:spPr>
          <a:xfrm>
            <a:off x="3771900" y="2034539"/>
            <a:ext cx="283464" cy="283464"/>
          </a:xfrm>
          <a:prstGeom prst="rect">
            <a:avLst/>
          </a:prstGeom>
        </p:spPr>
      </p:pic>
      <p:sp>
        <p:nvSpPr>
          <p:cNvPr id="14" name="TextBox 13"/>
          <p:cNvSpPr txBox="1"/>
          <p:nvPr/>
        </p:nvSpPr>
        <p:spPr>
          <a:xfrm>
            <a:off x="3630168" y="2606040"/>
            <a:ext cx="2148840" cy="320040"/>
          </a:xfrm>
          <a:prstGeom prst="rect">
            <a:avLst/>
          </a:prstGeom>
          <a:noFill/>
        </p:spPr>
        <p:txBody>
          <a:bodyPr wrap="square" lIns="0" tIns="0" rIns="0" bIns="0" anchor="t">
            <a:spAutoFit/>
          </a:bodyPr>
          <a:lstStyle/>
          <a:p>
            <a:pPr algn="l"/>
            <a:r>
              <a:rPr sz="1500" b="1">
                <a:solidFill>
                  <a:srgbClr val="14231B"/>
                </a:solidFill>
                <a:latin typeface="Calibri"/>
              </a:rPr>
              <a:t>Operations copilot</a:t>
            </a:r>
          </a:p>
        </p:txBody>
      </p:sp>
      <p:sp>
        <p:nvSpPr>
          <p:cNvPr id="15" name="TextBox 14"/>
          <p:cNvSpPr txBox="1"/>
          <p:nvPr/>
        </p:nvSpPr>
        <p:spPr>
          <a:xfrm>
            <a:off x="3630168" y="2990088"/>
            <a:ext cx="2148840" cy="1188720"/>
          </a:xfrm>
          <a:prstGeom prst="rect">
            <a:avLst/>
          </a:prstGeom>
          <a:noFill/>
        </p:spPr>
        <p:txBody>
          <a:bodyPr wrap="square" lIns="0" tIns="0" rIns="0" bIns="0" anchor="t">
            <a:spAutoFit/>
          </a:bodyPr>
          <a:lstStyle/>
          <a:p>
            <a:pPr algn="l"/>
            <a:r>
              <a:rPr sz="1200" b="0">
                <a:solidFill>
                  <a:srgbClr val="56655C"/>
                </a:solidFill>
                <a:latin typeface="Calibri"/>
              </a:rPr>
              <a:t>Answers operators by calling live tools: incidents, stations, wind, fires, forecasts, upwind sources.</a:t>
            </a:r>
          </a:p>
        </p:txBody>
      </p:sp>
      <p:sp>
        <p:nvSpPr>
          <p:cNvPr id="16" name="Rounded Rectangle 15"/>
          <p:cNvSpPr/>
          <p:nvPr/>
        </p:nvSpPr>
        <p:spPr>
          <a:xfrm>
            <a:off x="3630168" y="4160520"/>
            <a:ext cx="2103120" cy="310896"/>
          </a:xfrm>
          <a:prstGeom prst="roundRect">
            <a:avLst>
              <a:gd name="adj" fmla="val 50000"/>
            </a:avLst>
          </a:prstGeom>
          <a:solidFill>
            <a:srgbClr val="1F6B3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Calibri"/>
              </a:rPr>
              <a:t>Function calling · 7 tools</a:t>
            </a:r>
          </a:p>
        </p:txBody>
      </p:sp>
      <p:sp>
        <p:nvSpPr>
          <p:cNvPr id="17" name="Rounded Rectangle 16"/>
          <p:cNvSpPr/>
          <p:nvPr/>
        </p:nvSpPr>
        <p:spPr>
          <a:xfrm>
            <a:off x="6163056" y="1691640"/>
            <a:ext cx="2560320" cy="2971800"/>
          </a:xfrm>
          <a:prstGeom prst="roundRect">
            <a:avLst>
              <a:gd name="adj" fmla="val 5000"/>
            </a:avLst>
          </a:prstGeom>
          <a:solidFill>
            <a:srgbClr val="FFFFFF"/>
          </a:solidFill>
          <a:ln w="12700">
            <a:solidFill>
              <a:srgbClr val="D9E3DC"/>
            </a:solidFill>
          </a:ln>
          <a:effectLst>
            <a:outerShdw blurRad="127000" dist="25400" dir="5400000" algn="bl" rotWithShape="0">
              <a:srgbClr val="0E1F17">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391656" y="1892807"/>
            <a:ext cx="566928" cy="566928"/>
          </a:xfrm>
          <a:prstGeom prst="ellipse">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clipboard-list.png"/>
          <p:cNvPicPr>
            <a:picLocks noChangeAspect="1"/>
          </p:cNvPicPr>
          <p:nvPr/>
        </p:nvPicPr>
        <p:blipFill>
          <a:blip r:embed="rId5"/>
          <a:stretch>
            <a:fillRect/>
          </a:stretch>
        </p:blipFill>
        <p:spPr>
          <a:xfrm>
            <a:off x="6533388" y="2034539"/>
            <a:ext cx="283464" cy="283464"/>
          </a:xfrm>
          <a:prstGeom prst="rect">
            <a:avLst/>
          </a:prstGeom>
        </p:spPr>
      </p:pic>
      <p:sp>
        <p:nvSpPr>
          <p:cNvPr id="20" name="TextBox 19"/>
          <p:cNvSpPr txBox="1"/>
          <p:nvPr/>
        </p:nvSpPr>
        <p:spPr>
          <a:xfrm>
            <a:off x="6391656" y="2606040"/>
            <a:ext cx="2148840" cy="320040"/>
          </a:xfrm>
          <a:prstGeom prst="rect">
            <a:avLst/>
          </a:prstGeom>
          <a:noFill/>
        </p:spPr>
        <p:txBody>
          <a:bodyPr wrap="square" lIns="0" tIns="0" rIns="0" bIns="0" anchor="t">
            <a:spAutoFit/>
          </a:bodyPr>
          <a:lstStyle/>
          <a:p>
            <a:pPr algn="l"/>
            <a:r>
              <a:rPr sz="1500" b="1">
                <a:solidFill>
                  <a:srgbClr val="14231B"/>
                </a:solidFill>
                <a:latin typeface="Calibri"/>
              </a:rPr>
              <a:t>Work orders</a:t>
            </a:r>
          </a:p>
        </p:txBody>
      </p:sp>
      <p:sp>
        <p:nvSpPr>
          <p:cNvPr id="21" name="TextBox 20"/>
          <p:cNvSpPr txBox="1"/>
          <p:nvPr/>
        </p:nvSpPr>
        <p:spPr>
          <a:xfrm>
            <a:off x="6391656" y="2990088"/>
            <a:ext cx="2148840" cy="1188720"/>
          </a:xfrm>
          <a:prstGeom prst="rect">
            <a:avLst/>
          </a:prstGeom>
          <a:noFill/>
        </p:spPr>
        <p:txBody>
          <a:bodyPr wrap="square" lIns="0" tIns="0" rIns="0" bIns="0" anchor="t">
            <a:spAutoFit/>
          </a:bodyPr>
          <a:lstStyle/>
          <a:p>
            <a:pPr algn="l"/>
            <a:r>
              <a:rPr sz="1200" b="0">
                <a:solidFill>
                  <a:srgbClr val="56655C"/>
                </a:solidFill>
                <a:latin typeface="Calibri"/>
              </a:rPr>
              <a:t>Drafts the order for the right agency, citing the evidence, in English and the city's language. For a repeat hotspot, asks for action at the source.</a:t>
            </a:r>
          </a:p>
        </p:txBody>
      </p:sp>
      <p:sp>
        <p:nvSpPr>
          <p:cNvPr id="22" name="Rounded Rectangle 21"/>
          <p:cNvSpPr/>
          <p:nvPr/>
        </p:nvSpPr>
        <p:spPr>
          <a:xfrm>
            <a:off x="6391656" y="4160520"/>
            <a:ext cx="2103120" cy="310896"/>
          </a:xfrm>
          <a:prstGeom prst="roundRect">
            <a:avLst>
              <a:gd name="adj" fmla="val 50000"/>
            </a:avLst>
          </a:prstGeom>
          <a:solidFill>
            <a:srgbClr val="1F6B3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Calibri"/>
              </a:rPr>
              <a:t>Structured output</a:t>
            </a:r>
          </a:p>
        </p:txBody>
      </p:sp>
      <p:sp>
        <p:nvSpPr>
          <p:cNvPr id="23" name="Rounded Rectangle 22"/>
          <p:cNvSpPr/>
          <p:nvPr/>
        </p:nvSpPr>
        <p:spPr>
          <a:xfrm>
            <a:off x="8924544" y="1691640"/>
            <a:ext cx="2560320" cy="2971800"/>
          </a:xfrm>
          <a:prstGeom prst="roundRect">
            <a:avLst>
              <a:gd name="adj" fmla="val 5000"/>
            </a:avLst>
          </a:prstGeom>
          <a:solidFill>
            <a:srgbClr val="FFFFFF"/>
          </a:solidFill>
          <a:ln w="12700">
            <a:solidFill>
              <a:srgbClr val="D9E3DC"/>
            </a:solidFill>
          </a:ln>
          <a:effectLst>
            <a:outerShdw blurRad="127000" dist="25400" dir="5400000" algn="bl" rotWithShape="0">
              <a:srgbClr val="0E1F17">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153144" y="1892807"/>
            <a:ext cx="566928" cy="566928"/>
          </a:xfrm>
          <a:prstGeom prst="ellipse">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volume-high.png"/>
          <p:cNvPicPr>
            <a:picLocks noChangeAspect="1"/>
          </p:cNvPicPr>
          <p:nvPr/>
        </p:nvPicPr>
        <p:blipFill>
          <a:blip r:embed="rId6"/>
          <a:stretch>
            <a:fillRect/>
          </a:stretch>
        </p:blipFill>
        <p:spPr>
          <a:xfrm>
            <a:off x="9294876" y="2034539"/>
            <a:ext cx="283464" cy="283464"/>
          </a:xfrm>
          <a:prstGeom prst="rect">
            <a:avLst/>
          </a:prstGeom>
        </p:spPr>
      </p:pic>
      <p:sp>
        <p:nvSpPr>
          <p:cNvPr id="26" name="TextBox 25"/>
          <p:cNvSpPr txBox="1"/>
          <p:nvPr/>
        </p:nvSpPr>
        <p:spPr>
          <a:xfrm>
            <a:off x="9153144" y="2606040"/>
            <a:ext cx="2148840" cy="320040"/>
          </a:xfrm>
          <a:prstGeom prst="rect">
            <a:avLst/>
          </a:prstGeom>
          <a:noFill/>
        </p:spPr>
        <p:txBody>
          <a:bodyPr wrap="square" lIns="0" tIns="0" rIns="0" bIns="0" anchor="t">
            <a:spAutoFit/>
          </a:bodyPr>
          <a:lstStyle/>
          <a:p>
            <a:pPr algn="l"/>
            <a:r>
              <a:rPr sz="1500" b="1">
                <a:solidFill>
                  <a:srgbClr val="14231B"/>
                </a:solidFill>
                <a:latin typeface="Calibri"/>
              </a:rPr>
              <a:t>Resident summaries</a:t>
            </a:r>
          </a:p>
        </p:txBody>
      </p:sp>
      <p:sp>
        <p:nvSpPr>
          <p:cNvPr id="27" name="TextBox 26"/>
          <p:cNvSpPr txBox="1"/>
          <p:nvPr/>
        </p:nvSpPr>
        <p:spPr>
          <a:xfrm>
            <a:off x="9153144" y="2990088"/>
            <a:ext cx="2148840" cy="1188720"/>
          </a:xfrm>
          <a:prstGeom prst="rect">
            <a:avLst/>
          </a:prstGeom>
          <a:noFill/>
        </p:spPr>
        <p:txBody>
          <a:bodyPr wrap="square" lIns="0" tIns="0" rIns="0" bIns="0" anchor="t">
            <a:spAutoFit/>
          </a:bodyPr>
          <a:lstStyle/>
          <a:p>
            <a:pPr algn="l"/>
            <a:r>
              <a:rPr sz="1200" b="0">
                <a:solidFill>
                  <a:srgbClr val="56655C"/>
                </a:solidFill>
                <a:latin typeface="Calibri"/>
              </a:rPr>
              <a:t>Explains what's happening on each street in the reader's language, with read-aloud.</a:t>
            </a:r>
          </a:p>
        </p:txBody>
      </p:sp>
      <p:sp>
        <p:nvSpPr>
          <p:cNvPr id="28" name="Rounded Rectangle 27"/>
          <p:cNvSpPr/>
          <p:nvPr/>
        </p:nvSpPr>
        <p:spPr>
          <a:xfrm>
            <a:off x="9153144" y="4160520"/>
            <a:ext cx="2103120" cy="310896"/>
          </a:xfrm>
          <a:prstGeom prst="roundRect">
            <a:avLst>
              <a:gd name="adj" fmla="val 50000"/>
            </a:avLst>
          </a:prstGeom>
          <a:solidFill>
            <a:srgbClr val="1F6B3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Calibri"/>
              </a:rPr>
              <a:t>13 languages · cached</a:t>
            </a:r>
          </a:p>
        </p:txBody>
      </p:sp>
      <p:sp>
        <p:nvSpPr>
          <p:cNvPr id="29" name="Rounded Rectangle 28"/>
          <p:cNvSpPr/>
          <p:nvPr/>
        </p:nvSpPr>
        <p:spPr>
          <a:xfrm>
            <a:off x="640080" y="4937760"/>
            <a:ext cx="10908792" cy="1325880"/>
          </a:xfrm>
          <a:prstGeom prst="roundRect">
            <a:avLst>
              <a:gd name="adj" fmla="val 5000"/>
            </a:avLst>
          </a:prstGeom>
          <a:solidFill>
            <a:srgbClr val="FFFFFF"/>
          </a:solidFill>
          <a:ln w="12700">
            <a:solidFill>
              <a:srgbClr val="D9E3DC"/>
            </a:solidFill>
          </a:ln>
          <a:effectLst>
            <a:outerShdw blurRad="127000" dist="25400" dir="5400000" algn="bl" rotWithShape="0">
              <a:srgbClr val="0E1F17">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14400" y="5102352"/>
            <a:ext cx="2743200" cy="274320"/>
          </a:xfrm>
          <a:prstGeom prst="rect">
            <a:avLst/>
          </a:prstGeom>
          <a:noFill/>
        </p:spPr>
        <p:txBody>
          <a:bodyPr wrap="square" lIns="0" tIns="0" rIns="0" bIns="0" anchor="t">
            <a:spAutoFit/>
          </a:bodyPr>
          <a:lstStyle/>
          <a:p>
            <a:pPr algn="l"/>
            <a:r>
              <a:rPr sz="1400" b="1">
                <a:solidFill>
                  <a:srgbClr val="1F6B3A"/>
                </a:solidFill>
                <a:latin typeface="Calibri"/>
              </a:rPr>
              <a:t>Guardrails</a:t>
            </a:r>
          </a:p>
        </p:txBody>
      </p:sp>
      <p:sp>
        <p:nvSpPr>
          <p:cNvPr id="31" name="TextBox 30"/>
          <p:cNvSpPr txBox="1"/>
          <p:nvPr/>
        </p:nvSpPr>
        <p:spPr>
          <a:xfrm>
            <a:off x="914400" y="5468112"/>
            <a:ext cx="2514600" cy="256032"/>
          </a:xfrm>
          <a:prstGeom prst="rect">
            <a:avLst/>
          </a:prstGeom>
          <a:noFill/>
        </p:spPr>
        <p:txBody>
          <a:bodyPr wrap="square" lIns="0" tIns="0" rIns="0" bIns="0" anchor="t">
            <a:spAutoFit/>
          </a:bodyPr>
          <a:lstStyle/>
          <a:p>
            <a:pPr algn="l"/>
            <a:r>
              <a:rPr sz="1200" b="1">
                <a:solidFill>
                  <a:srgbClr val="14231B"/>
                </a:solidFill>
                <a:latin typeface="Calibri"/>
              </a:rPr>
              <a:t>Facts in, facts cited</a:t>
            </a:r>
          </a:p>
        </p:txBody>
      </p:sp>
      <p:sp>
        <p:nvSpPr>
          <p:cNvPr id="32" name="TextBox 31"/>
          <p:cNvSpPr txBox="1"/>
          <p:nvPr/>
        </p:nvSpPr>
        <p:spPr>
          <a:xfrm>
            <a:off x="914400" y="5733288"/>
            <a:ext cx="2514600" cy="457200"/>
          </a:xfrm>
          <a:prstGeom prst="rect">
            <a:avLst/>
          </a:prstGeom>
          <a:noFill/>
        </p:spPr>
        <p:txBody>
          <a:bodyPr wrap="square" lIns="0" tIns="0" rIns="0" bIns="0" anchor="t">
            <a:spAutoFit/>
          </a:bodyPr>
          <a:lstStyle/>
          <a:p>
            <a:pPr algn="l"/>
            <a:r>
              <a:rPr sz="1050" b="0">
                <a:solidFill>
                  <a:srgbClr val="56655C"/>
                </a:solidFill>
                <a:latin typeface="Calibri"/>
              </a:rPr>
              <a:t>Prompts carry only recorded evidence; outputs list what they used.</a:t>
            </a:r>
          </a:p>
        </p:txBody>
      </p:sp>
      <p:sp>
        <p:nvSpPr>
          <p:cNvPr id="33" name="TextBox 32"/>
          <p:cNvSpPr txBox="1"/>
          <p:nvPr/>
        </p:nvSpPr>
        <p:spPr>
          <a:xfrm>
            <a:off x="3566160" y="5468112"/>
            <a:ext cx="2514600" cy="256032"/>
          </a:xfrm>
          <a:prstGeom prst="rect">
            <a:avLst/>
          </a:prstGeom>
          <a:noFill/>
        </p:spPr>
        <p:txBody>
          <a:bodyPr wrap="square" lIns="0" tIns="0" rIns="0" bIns="0" anchor="t">
            <a:spAutoFit/>
          </a:bodyPr>
          <a:lstStyle/>
          <a:p>
            <a:pPr algn="l"/>
            <a:r>
              <a:rPr sz="1200" b="1">
                <a:solidFill>
                  <a:srgbClr val="14231B"/>
                </a:solidFill>
                <a:latin typeface="Calibri"/>
              </a:rPr>
              <a:t>Never blank, never faked</a:t>
            </a:r>
          </a:p>
        </p:txBody>
      </p:sp>
      <p:sp>
        <p:nvSpPr>
          <p:cNvPr id="34" name="TextBox 33"/>
          <p:cNvSpPr txBox="1"/>
          <p:nvPr/>
        </p:nvSpPr>
        <p:spPr>
          <a:xfrm>
            <a:off x="3566160" y="5733288"/>
            <a:ext cx="2514600" cy="457200"/>
          </a:xfrm>
          <a:prstGeom prst="rect">
            <a:avLst/>
          </a:prstGeom>
          <a:noFill/>
        </p:spPr>
        <p:txBody>
          <a:bodyPr wrap="square" lIns="0" tIns="0" rIns="0" bIns="0" anchor="t">
            <a:spAutoFit/>
          </a:bodyPr>
          <a:lstStyle/>
          <a:p>
            <a:pPr algn="l"/>
            <a:r>
              <a:rPr sz="1050" b="0">
                <a:solidFill>
                  <a:srgbClr val="56655C"/>
                </a:solidFill>
                <a:latin typeface="Calibri"/>
              </a:rPr>
              <a:t>Flash-Lite fallback; if both fail, the page says so.</a:t>
            </a:r>
          </a:p>
        </p:txBody>
      </p:sp>
      <p:sp>
        <p:nvSpPr>
          <p:cNvPr id="35" name="TextBox 34"/>
          <p:cNvSpPr txBox="1"/>
          <p:nvPr/>
        </p:nvSpPr>
        <p:spPr>
          <a:xfrm>
            <a:off x="6217920" y="5468112"/>
            <a:ext cx="2514600" cy="256032"/>
          </a:xfrm>
          <a:prstGeom prst="rect">
            <a:avLst/>
          </a:prstGeom>
          <a:noFill/>
        </p:spPr>
        <p:txBody>
          <a:bodyPr wrap="square" lIns="0" tIns="0" rIns="0" bIns="0" anchor="t">
            <a:spAutoFit/>
          </a:bodyPr>
          <a:lstStyle/>
          <a:p>
            <a:pPr algn="l"/>
            <a:r>
              <a:rPr sz="1200" b="1">
                <a:solidFill>
                  <a:srgbClr val="14231B"/>
                </a:solidFill>
                <a:latin typeface="Calibri"/>
              </a:rPr>
              <a:t>Cached per cell</a:t>
            </a:r>
          </a:p>
        </p:txBody>
      </p:sp>
      <p:sp>
        <p:nvSpPr>
          <p:cNvPr id="36" name="TextBox 35"/>
          <p:cNvSpPr txBox="1"/>
          <p:nvPr/>
        </p:nvSpPr>
        <p:spPr>
          <a:xfrm>
            <a:off x="6217920" y="5733288"/>
            <a:ext cx="2514600" cy="457200"/>
          </a:xfrm>
          <a:prstGeom prst="rect">
            <a:avLst/>
          </a:prstGeom>
          <a:noFill/>
        </p:spPr>
        <p:txBody>
          <a:bodyPr wrap="square" lIns="0" tIns="0" rIns="0" bIns="0" anchor="t">
            <a:spAutoFit/>
          </a:bodyPr>
          <a:lstStyle/>
          <a:p>
            <a:pPr algn="l"/>
            <a:r>
              <a:rPr sz="1050" b="0">
                <a:solidFill>
                  <a:srgbClr val="56655C"/>
                </a:solidFill>
                <a:latin typeface="Calibri"/>
              </a:rPr>
              <a:t>Summaries regenerate only when the evidence changes.</a:t>
            </a:r>
          </a:p>
        </p:txBody>
      </p:sp>
      <p:sp>
        <p:nvSpPr>
          <p:cNvPr id="37" name="TextBox 36"/>
          <p:cNvSpPr txBox="1"/>
          <p:nvPr/>
        </p:nvSpPr>
        <p:spPr>
          <a:xfrm>
            <a:off x="8869680" y="5468112"/>
            <a:ext cx="2514600" cy="256032"/>
          </a:xfrm>
          <a:prstGeom prst="rect">
            <a:avLst/>
          </a:prstGeom>
          <a:noFill/>
        </p:spPr>
        <p:txBody>
          <a:bodyPr wrap="square" lIns="0" tIns="0" rIns="0" bIns="0" anchor="t">
            <a:spAutoFit/>
          </a:bodyPr>
          <a:lstStyle/>
          <a:p>
            <a:pPr algn="l"/>
            <a:r>
              <a:rPr sz="1200" b="1">
                <a:solidFill>
                  <a:srgbClr val="14231B"/>
                </a:solidFill>
                <a:latin typeface="Calibri"/>
              </a:rPr>
              <a:t>Health advice</a:t>
            </a:r>
          </a:p>
        </p:txBody>
      </p:sp>
      <p:sp>
        <p:nvSpPr>
          <p:cNvPr id="38" name="TextBox 37"/>
          <p:cNvSpPr txBox="1"/>
          <p:nvPr/>
        </p:nvSpPr>
        <p:spPr>
          <a:xfrm>
            <a:off x="8869680" y="5733288"/>
            <a:ext cx="2514600" cy="457200"/>
          </a:xfrm>
          <a:prstGeom prst="rect">
            <a:avLst/>
          </a:prstGeom>
          <a:noFill/>
        </p:spPr>
        <p:txBody>
          <a:bodyPr wrap="square" lIns="0" tIns="0" rIns="0" bIns="0" anchor="t">
            <a:spAutoFit/>
          </a:bodyPr>
          <a:lstStyle/>
          <a:p>
            <a:pPr algn="l"/>
            <a:r>
              <a:rPr sz="1050" b="0">
                <a:solidFill>
                  <a:srgbClr val="56655C"/>
                </a:solidFill>
                <a:latin typeface="Calibri"/>
              </a:rPr>
              <a:t>Comes from Google's Air Quality API, not from Gemini.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8229600" cy="274320"/>
          </a:xfrm>
          <a:prstGeom prst="rect">
            <a:avLst/>
          </a:prstGeom>
          <a:noFill/>
        </p:spPr>
        <p:txBody>
          <a:bodyPr wrap="square" lIns="0" tIns="0" rIns="0" bIns="0" anchor="t">
            <a:spAutoFit/>
          </a:bodyPr>
          <a:lstStyle/>
          <a:p>
            <a:pPr algn="l"/>
            <a:r>
              <a:rPr sz="1200" b="1" spc="300">
                <a:solidFill>
                  <a:srgbClr val="2E9E55"/>
                </a:solidFill>
                <a:latin typeface="Calibri"/>
              </a:rPr>
              <a:t>HOW A HOTSPOT IS VERIFIED</a:t>
            </a:r>
          </a:p>
        </p:txBody>
      </p:sp>
      <p:sp>
        <p:nvSpPr>
          <p:cNvPr id="3" name="TextBox 2"/>
          <p:cNvSpPr txBox="1"/>
          <p:nvPr/>
        </p:nvSpPr>
        <p:spPr>
          <a:xfrm>
            <a:off x="640080" y="777240"/>
            <a:ext cx="10881360" cy="822960"/>
          </a:xfrm>
          <a:prstGeom prst="rect">
            <a:avLst/>
          </a:prstGeom>
          <a:noFill/>
        </p:spPr>
        <p:txBody>
          <a:bodyPr wrap="square" lIns="0" tIns="0" rIns="0" bIns="0" anchor="t">
            <a:spAutoFit/>
          </a:bodyPr>
          <a:lstStyle/>
          <a:p>
            <a:pPr algn="l"/>
            <a:r>
              <a:rPr sz="3200" b="1">
                <a:solidFill>
                  <a:srgbClr val="14231B"/>
                </a:solidFill>
                <a:latin typeface="Georgia"/>
              </a:rPr>
              <a:t>No alert without independent evidence</a:t>
            </a:r>
          </a:p>
        </p:txBody>
      </p:sp>
      <p:sp>
        <p:nvSpPr>
          <p:cNvPr id="4" name="TextBox 3"/>
          <p:cNvSpPr txBox="1"/>
          <p:nvPr/>
        </p:nvSpPr>
        <p:spPr>
          <a:xfrm>
            <a:off x="10908792" y="6446520"/>
            <a:ext cx="640080" cy="228600"/>
          </a:xfrm>
          <a:prstGeom prst="rect">
            <a:avLst/>
          </a:prstGeom>
          <a:noFill/>
        </p:spPr>
        <p:txBody>
          <a:bodyPr wrap="square" lIns="0" tIns="0" rIns="0" bIns="0" anchor="t">
            <a:spAutoFit/>
          </a:bodyPr>
          <a:lstStyle/>
          <a:p>
            <a:pPr algn="r"/>
            <a:r>
              <a:rPr sz="1000" b="0">
                <a:solidFill>
                  <a:srgbClr val="56655C"/>
                </a:solidFill>
                <a:latin typeface="Calibri"/>
              </a:rPr>
              <a:t>06 / 12</a:t>
            </a:r>
          </a:p>
        </p:txBody>
      </p:sp>
      <p:sp>
        <p:nvSpPr>
          <p:cNvPr id="5" name="Oval 4"/>
          <p:cNvSpPr/>
          <p:nvPr/>
        </p:nvSpPr>
        <p:spPr>
          <a:xfrm>
            <a:off x="1234440" y="1783080"/>
            <a:ext cx="822960" cy="822960"/>
          </a:xfrm>
          <a:prstGeom prst="ellipse">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1440180" y="1988819"/>
            <a:ext cx="411480" cy="411480"/>
          </a:xfrm>
          <a:prstGeom prst="rect">
            <a:avLst/>
          </a:prstGeom>
        </p:spPr>
      </p:pic>
      <p:sp>
        <p:nvSpPr>
          <p:cNvPr id="7" name="Right Arrow 6"/>
          <p:cNvSpPr/>
          <p:nvPr/>
        </p:nvSpPr>
        <p:spPr>
          <a:xfrm>
            <a:off x="2606040" y="2066543"/>
            <a:ext cx="310896" cy="256032"/>
          </a:xfrm>
          <a:prstGeom prst="rightArrow">
            <a:avLst/>
          </a:prstGeom>
          <a:solidFill>
            <a:srgbClr val="CF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743200"/>
            <a:ext cx="2011680" cy="365760"/>
          </a:xfrm>
          <a:prstGeom prst="rect">
            <a:avLst/>
          </a:prstGeom>
          <a:noFill/>
        </p:spPr>
        <p:txBody>
          <a:bodyPr wrap="square" lIns="0" tIns="0" rIns="0" bIns="0" anchor="t">
            <a:spAutoFit/>
          </a:bodyPr>
          <a:lstStyle/>
          <a:p>
            <a:pPr algn="ctr"/>
            <a:r>
              <a:rPr sz="1700" b="1">
                <a:solidFill>
                  <a:srgbClr val="14231B"/>
                </a:solidFill>
                <a:latin typeface="Calibri"/>
              </a:rPr>
              <a:t>Report</a:t>
            </a:r>
          </a:p>
        </p:txBody>
      </p:sp>
      <p:sp>
        <p:nvSpPr>
          <p:cNvPr id="9" name="TextBox 8"/>
          <p:cNvSpPr txBox="1"/>
          <p:nvPr/>
        </p:nvSpPr>
        <p:spPr>
          <a:xfrm>
            <a:off x="685800" y="3127248"/>
            <a:ext cx="1920240" cy="777240"/>
          </a:xfrm>
          <a:prstGeom prst="rect">
            <a:avLst/>
          </a:prstGeom>
          <a:noFill/>
        </p:spPr>
        <p:txBody>
          <a:bodyPr wrap="square" lIns="0" tIns="0" rIns="0" bIns="0" anchor="t">
            <a:spAutoFit/>
          </a:bodyPr>
          <a:lstStyle/>
          <a:p>
            <a:pPr algn="ctr"/>
            <a:r>
              <a:rPr sz="1200" b="0">
                <a:solidFill>
                  <a:srgbClr val="56655C"/>
                </a:solidFill>
                <a:latin typeface="Calibri"/>
              </a:rPr>
              <a:t>Photo, hazard, voice note and pin, from web or WhatsApp.</a:t>
            </a:r>
          </a:p>
        </p:txBody>
      </p:sp>
      <p:sp>
        <p:nvSpPr>
          <p:cNvPr id="10" name="Oval 9"/>
          <p:cNvSpPr/>
          <p:nvPr/>
        </p:nvSpPr>
        <p:spPr>
          <a:xfrm>
            <a:off x="3465576" y="1783080"/>
            <a:ext cx="822960" cy="822960"/>
          </a:xfrm>
          <a:prstGeom prst="ellipse">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image.png"/>
          <p:cNvPicPr>
            <a:picLocks noChangeAspect="1"/>
          </p:cNvPicPr>
          <p:nvPr/>
        </p:nvPicPr>
        <p:blipFill>
          <a:blip r:embed="rId4"/>
          <a:stretch>
            <a:fillRect/>
          </a:stretch>
        </p:blipFill>
        <p:spPr>
          <a:xfrm>
            <a:off x="3671315" y="1988819"/>
            <a:ext cx="411480" cy="411480"/>
          </a:xfrm>
          <a:prstGeom prst="rect">
            <a:avLst/>
          </a:prstGeom>
        </p:spPr>
      </p:pic>
      <p:sp>
        <p:nvSpPr>
          <p:cNvPr id="12" name="Right Arrow 11"/>
          <p:cNvSpPr/>
          <p:nvPr/>
        </p:nvSpPr>
        <p:spPr>
          <a:xfrm>
            <a:off x="4837176" y="2066543"/>
            <a:ext cx="310896" cy="256032"/>
          </a:xfrm>
          <a:prstGeom prst="rightArrow">
            <a:avLst/>
          </a:prstGeom>
          <a:solidFill>
            <a:srgbClr val="CF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871216" y="2743200"/>
            <a:ext cx="2011680" cy="365760"/>
          </a:xfrm>
          <a:prstGeom prst="rect">
            <a:avLst/>
          </a:prstGeom>
          <a:noFill/>
        </p:spPr>
        <p:txBody>
          <a:bodyPr wrap="square" lIns="0" tIns="0" rIns="0" bIns="0" anchor="t">
            <a:spAutoFit/>
          </a:bodyPr>
          <a:lstStyle/>
          <a:p>
            <a:pPr algn="ctr"/>
            <a:r>
              <a:rPr sz="1700" b="1">
                <a:solidFill>
                  <a:srgbClr val="14231B"/>
                </a:solidFill>
                <a:latin typeface="Calibri"/>
              </a:rPr>
              <a:t>Classify</a:t>
            </a:r>
          </a:p>
        </p:txBody>
      </p:sp>
      <p:sp>
        <p:nvSpPr>
          <p:cNvPr id="14" name="TextBox 13"/>
          <p:cNvSpPr txBox="1"/>
          <p:nvPr/>
        </p:nvSpPr>
        <p:spPr>
          <a:xfrm>
            <a:off x="2916936" y="3127248"/>
            <a:ext cx="1920240" cy="777240"/>
          </a:xfrm>
          <a:prstGeom prst="rect">
            <a:avLst/>
          </a:prstGeom>
          <a:noFill/>
        </p:spPr>
        <p:txBody>
          <a:bodyPr wrap="square" lIns="0" tIns="0" rIns="0" bIns="0" anchor="t">
            <a:spAutoFit/>
          </a:bodyPr>
          <a:lstStyle/>
          <a:p>
            <a:pPr algn="ctr"/>
            <a:r>
              <a:rPr sz="1200" b="0">
                <a:solidFill>
                  <a:srgbClr val="56655C"/>
                </a:solidFill>
                <a:latin typeface="Calibri"/>
              </a:rPr>
              <a:t>Gemini labels the hazard and judges authenticity.</a:t>
            </a:r>
          </a:p>
        </p:txBody>
      </p:sp>
      <p:sp>
        <p:nvSpPr>
          <p:cNvPr id="15" name="Oval 14"/>
          <p:cNvSpPr/>
          <p:nvPr/>
        </p:nvSpPr>
        <p:spPr>
          <a:xfrm>
            <a:off x="5687568" y="1783080"/>
            <a:ext cx="822960" cy="822960"/>
          </a:xfrm>
          <a:prstGeom prst="ellipse">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image.png"/>
          <p:cNvPicPr>
            <a:picLocks noChangeAspect="1"/>
          </p:cNvPicPr>
          <p:nvPr/>
        </p:nvPicPr>
        <p:blipFill>
          <a:blip r:embed="rId5"/>
          <a:stretch>
            <a:fillRect/>
          </a:stretch>
        </p:blipFill>
        <p:spPr>
          <a:xfrm>
            <a:off x="5893307" y="1988819"/>
            <a:ext cx="411480" cy="411480"/>
          </a:xfrm>
          <a:prstGeom prst="rect">
            <a:avLst/>
          </a:prstGeom>
        </p:spPr>
      </p:pic>
      <p:sp>
        <p:nvSpPr>
          <p:cNvPr id="17" name="Right Arrow 16"/>
          <p:cNvSpPr/>
          <p:nvPr/>
        </p:nvSpPr>
        <p:spPr>
          <a:xfrm>
            <a:off x="7059168" y="2066543"/>
            <a:ext cx="310896" cy="256032"/>
          </a:xfrm>
          <a:prstGeom prst="rightArrow">
            <a:avLst/>
          </a:prstGeom>
          <a:solidFill>
            <a:srgbClr val="CF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93207" y="2743200"/>
            <a:ext cx="2011680" cy="365760"/>
          </a:xfrm>
          <a:prstGeom prst="rect">
            <a:avLst/>
          </a:prstGeom>
          <a:noFill/>
        </p:spPr>
        <p:txBody>
          <a:bodyPr wrap="square" lIns="0" tIns="0" rIns="0" bIns="0" anchor="t">
            <a:spAutoFit/>
          </a:bodyPr>
          <a:lstStyle/>
          <a:p>
            <a:pPr algn="ctr"/>
            <a:r>
              <a:rPr sz="1700" b="1">
                <a:solidFill>
                  <a:srgbClr val="14231B"/>
                </a:solidFill>
                <a:latin typeface="Calibri"/>
              </a:rPr>
              <a:t>Integrity</a:t>
            </a:r>
          </a:p>
        </p:txBody>
      </p:sp>
      <p:sp>
        <p:nvSpPr>
          <p:cNvPr id="19" name="TextBox 18"/>
          <p:cNvSpPr txBox="1"/>
          <p:nvPr/>
        </p:nvSpPr>
        <p:spPr>
          <a:xfrm>
            <a:off x="5138928" y="3127248"/>
            <a:ext cx="1920240" cy="777240"/>
          </a:xfrm>
          <a:prstGeom prst="rect">
            <a:avLst/>
          </a:prstGeom>
          <a:noFill/>
        </p:spPr>
        <p:txBody>
          <a:bodyPr wrap="square" lIns="0" tIns="0" rIns="0" bIns="0" anchor="t">
            <a:spAutoFit/>
          </a:bodyPr>
          <a:lstStyle/>
          <a:p>
            <a:pPr algn="ctr"/>
            <a:r>
              <a:rPr sz="1200" b="0">
                <a:solidFill>
                  <a:srgbClr val="56655C"/>
                </a:solidFill>
                <a:latin typeface="Calibri"/>
              </a:rPr>
              <a:t>EXIF time and GPS, duplicate hashes, screenshots.</a:t>
            </a:r>
          </a:p>
        </p:txBody>
      </p:sp>
      <p:sp>
        <p:nvSpPr>
          <p:cNvPr id="20" name="Oval 19"/>
          <p:cNvSpPr/>
          <p:nvPr/>
        </p:nvSpPr>
        <p:spPr>
          <a:xfrm>
            <a:off x="7909560" y="1783080"/>
            <a:ext cx="822960" cy="822960"/>
          </a:xfrm>
          <a:prstGeom prst="ellipse">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image.png"/>
          <p:cNvPicPr>
            <a:picLocks noChangeAspect="1"/>
          </p:cNvPicPr>
          <p:nvPr/>
        </p:nvPicPr>
        <p:blipFill>
          <a:blip r:embed="rId6"/>
          <a:stretch>
            <a:fillRect/>
          </a:stretch>
        </p:blipFill>
        <p:spPr>
          <a:xfrm>
            <a:off x="8115300" y="1988819"/>
            <a:ext cx="411480" cy="411480"/>
          </a:xfrm>
          <a:prstGeom prst="rect">
            <a:avLst/>
          </a:prstGeom>
        </p:spPr>
      </p:pic>
      <p:sp>
        <p:nvSpPr>
          <p:cNvPr id="22" name="Right Arrow 21"/>
          <p:cNvSpPr/>
          <p:nvPr/>
        </p:nvSpPr>
        <p:spPr>
          <a:xfrm>
            <a:off x="9281160" y="2066543"/>
            <a:ext cx="310896" cy="256032"/>
          </a:xfrm>
          <a:prstGeom prst="rightArrow">
            <a:avLst/>
          </a:prstGeom>
          <a:solidFill>
            <a:srgbClr val="CF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0" y="2743200"/>
            <a:ext cx="2011680" cy="365760"/>
          </a:xfrm>
          <a:prstGeom prst="rect">
            <a:avLst/>
          </a:prstGeom>
          <a:noFill/>
        </p:spPr>
        <p:txBody>
          <a:bodyPr wrap="square" lIns="0" tIns="0" rIns="0" bIns="0" anchor="t">
            <a:spAutoFit/>
          </a:bodyPr>
          <a:lstStyle/>
          <a:p>
            <a:pPr algn="ctr"/>
            <a:r>
              <a:rPr sz="1700" b="1">
                <a:solidFill>
                  <a:srgbClr val="14231B"/>
                </a:solidFill>
                <a:latin typeface="Calibri"/>
              </a:rPr>
              <a:t>Fuse</a:t>
            </a:r>
          </a:p>
        </p:txBody>
      </p:sp>
      <p:sp>
        <p:nvSpPr>
          <p:cNvPr id="24" name="TextBox 23"/>
          <p:cNvSpPr txBox="1"/>
          <p:nvPr/>
        </p:nvSpPr>
        <p:spPr>
          <a:xfrm>
            <a:off x="7360920" y="3127248"/>
            <a:ext cx="1920240" cy="777240"/>
          </a:xfrm>
          <a:prstGeom prst="rect">
            <a:avLst/>
          </a:prstGeom>
          <a:noFill/>
        </p:spPr>
        <p:txBody>
          <a:bodyPr wrap="square" lIns="0" tIns="0" rIns="0" bIns="0" anchor="t">
            <a:spAutoFit/>
          </a:bodyPr>
          <a:lstStyle/>
          <a:p>
            <a:pPr algn="ctr"/>
            <a:r>
              <a:rPr sz="1200" b="0">
                <a:solidFill>
                  <a:srgbClr val="56655C"/>
                </a:solidFill>
                <a:latin typeface="Calibri"/>
              </a:rPr>
              <a:t>Station vs national limit, Sentinel-5P, FIRMS, wind.</a:t>
            </a:r>
          </a:p>
        </p:txBody>
      </p:sp>
      <p:sp>
        <p:nvSpPr>
          <p:cNvPr id="25" name="Oval 24"/>
          <p:cNvSpPr/>
          <p:nvPr/>
        </p:nvSpPr>
        <p:spPr>
          <a:xfrm>
            <a:off x="10140696" y="1783080"/>
            <a:ext cx="822960" cy="822960"/>
          </a:xfrm>
          <a:prstGeom prst="ellipse">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image.png"/>
          <p:cNvPicPr>
            <a:picLocks noChangeAspect="1"/>
          </p:cNvPicPr>
          <p:nvPr/>
        </p:nvPicPr>
        <p:blipFill>
          <a:blip r:embed="rId7"/>
          <a:stretch>
            <a:fillRect/>
          </a:stretch>
        </p:blipFill>
        <p:spPr>
          <a:xfrm>
            <a:off x="10346436" y="1988819"/>
            <a:ext cx="411480" cy="411480"/>
          </a:xfrm>
          <a:prstGeom prst="rect">
            <a:avLst/>
          </a:prstGeom>
        </p:spPr>
      </p:pic>
      <p:sp>
        <p:nvSpPr>
          <p:cNvPr id="27" name="TextBox 26"/>
          <p:cNvSpPr txBox="1"/>
          <p:nvPr/>
        </p:nvSpPr>
        <p:spPr>
          <a:xfrm>
            <a:off x="9546336" y="2743200"/>
            <a:ext cx="2011680" cy="365760"/>
          </a:xfrm>
          <a:prstGeom prst="rect">
            <a:avLst/>
          </a:prstGeom>
          <a:noFill/>
        </p:spPr>
        <p:txBody>
          <a:bodyPr wrap="square" lIns="0" tIns="0" rIns="0" bIns="0" anchor="t">
            <a:spAutoFit/>
          </a:bodyPr>
          <a:lstStyle/>
          <a:p>
            <a:pPr algn="ctr"/>
            <a:r>
              <a:rPr sz="1700" b="1">
                <a:solidFill>
                  <a:srgbClr val="14231B"/>
                </a:solidFill>
                <a:latin typeface="Calibri"/>
              </a:rPr>
              <a:t>Dispatch</a:t>
            </a:r>
          </a:p>
        </p:txBody>
      </p:sp>
      <p:sp>
        <p:nvSpPr>
          <p:cNvPr id="28" name="TextBox 27"/>
          <p:cNvSpPr txBox="1"/>
          <p:nvPr/>
        </p:nvSpPr>
        <p:spPr>
          <a:xfrm>
            <a:off x="9592056" y="3127248"/>
            <a:ext cx="1920240" cy="777240"/>
          </a:xfrm>
          <a:prstGeom prst="rect">
            <a:avLst/>
          </a:prstGeom>
          <a:noFill/>
        </p:spPr>
        <p:txBody>
          <a:bodyPr wrap="square" lIns="0" tIns="0" rIns="0" bIns="0" anchor="t">
            <a:spAutoFit/>
          </a:bodyPr>
          <a:lstStyle/>
          <a:p>
            <a:pPr algn="ctr"/>
            <a:r>
              <a:rPr sz="1200" b="0">
                <a:solidFill>
                  <a:srgbClr val="56655C"/>
                </a:solidFill>
                <a:latin typeface="Calibri"/>
              </a:rPr>
              <a:t>Promoted hotspots join the ranked queue with a work order.</a:t>
            </a:r>
          </a:p>
        </p:txBody>
      </p:sp>
      <p:sp>
        <p:nvSpPr>
          <p:cNvPr id="29" name="Rounded Rectangle 28"/>
          <p:cNvSpPr/>
          <p:nvPr/>
        </p:nvSpPr>
        <p:spPr>
          <a:xfrm>
            <a:off x="640080" y="4160520"/>
            <a:ext cx="10908792" cy="2103120"/>
          </a:xfrm>
          <a:prstGeom prst="roundRect">
            <a:avLst>
              <a:gd name="adj" fmla="val 5000"/>
            </a:avLst>
          </a:prstGeom>
          <a:solidFill>
            <a:srgbClr val="F4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14400" y="4343400"/>
            <a:ext cx="6400800" cy="320040"/>
          </a:xfrm>
          <a:prstGeom prst="rect">
            <a:avLst/>
          </a:prstGeom>
          <a:noFill/>
        </p:spPr>
        <p:txBody>
          <a:bodyPr wrap="square" lIns="0" tIns="0" rIns="0" bIns="0" anchor="t">
            <a:spAutoFit/>
          </a:bodyPr>
          <a:lstStyle/>
          <a:p>
            <a:pPr algn="l"/>
            <a:r>
              <a:rPr sz="1400" b="1">
                <a:solidFill>
                  <a:srgbClr val="1F6B3A"/>
                </a:solidFill>
                <a:latin typeface="Calibri"/>
              </a:rPr>
              <a:t>Promotion tiers, strongest first</a:t>
            </a:r>
          </a:p>
        </p:txBody>
      </p:sp>
      <p:sp>
        <p:nvSpPr>
          <p:cNvPr id="31" name="Rounded Rectangle 30"/>
          <p:cNvSpPr/>
          <p:nvPr/>
        </p:nvSpPr>
        <p:spPr>
          <a:xfrm>
            <a:off x="914400" y="4773168"/>
            <a:ext cx="1609344" cy="384048"/>
          </a:xfrm>
          <a:prstGeom prst="roundRect">
            <a:avLst>
              <a:gd name="adj" fmla="val 50000"/>
            </a:avLst>
          </a:prstGeom>
          <a:solidFill>
            <a:srgbClr val="1F6B3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Calibri"/>
              </a:rPr>
              <a:t>Sensor + satellite</a:t>
            </a:r>
          </a:p>
        </p:txBody>
      </p:sp>
      <p:sp>
        <p:nvSpPr>
          <p:cNvPr id="32" name="Rounded Rectangle 31"/>
          <p:cNvSpPr/>
          <p:nvPr/>
        </p:nvSpPr>
        <p:spPr>
          <a:xfrm>
            <a:off x="2651760" y="4773168"/>
            <a:ext cx="1609344" cy="384048"/>
          </a:xfrm>
          <a:prstGeom prst="roundRect">
            <a:avLst>
              <a:gd name="adj" fmla="val 50000"/>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Calibri"/>
              </a:rPr>
              <a:t>Crowd verified (3+)</a:t>
            </a:r>
          </a:p>
        </p:txBody>
      </p:sp>
      <p:sp>
        <p:nvSpPr>
          <p:cNvPr id="33" name="Rounded Rectangle 32"/>
          <p:cNvSpPr/>
          <p:nvPr/>
        </p:nvSpPr>
        <p:spPr>
          <a:xfrm>
            <a:off x="4389120" y="4773168"/>
            <a:ext cx="1609344" cy="384048"/>
          </a:xfrm>
          <a:prstGeom prst="roundRect">
            <a:avLst>
              <a:gd name="adj" fmla="val 50000"/>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Calibri"/>
              </a:rPr>
              <a:t>Citizen + sensor</a:t>
            </a:r>
          </a:p>
        </p:txBody>
      </p:sp>
      <p:sp>
        <p:nvSpPr>
          <p:cNvPr id="34" name="Rounded Rectangle 33"/>
          <p:cNvSpPr/>
          <p:nvPr/>
        </p:nvSpPr>
        <p:spPr>
          <a:xfrm>
            <a:off x="6126479" y="4773168"/>
            <a:ext cx="1609344" cy="384048"/>
          </a:xfrm>
          <a:prstGeom prst="roundRect">
            <a:avLst>
              <a:gd name="adj" fmla="val 50000"/>
            </a:avLst>
          </a:prstGeom>
          <a:solidFill>
            <a:srgbClr val="117C72"/>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Calibri"/>
              </a:rPr>
              <a:t>Citizen + satellite</a:t>
            </a:r>
          </a:p>
        </p:txBody>
      </p:sp>
      <p:sp>
        <p:nvSpPr>
          <p:cNvPr id="35" name="Rounded Rectangle 34"/>
          <p:cNvSpPr/>
          <p:nvPr/>
        </p:nvSpPr>
        <p:spPr>
          <a:xfrm>
            <a:off x="7863840" y="4773168"/>
            <a:ext cx="1609344" cy="384048"/>
          </a:xfrm>
          <a:prstGeom prst="roundRect">
            <a:avLst>
              <a:gd name="adj" fmla="val 50000"/>
            </a:avLst>
          </a:prstGeom>
          <a:solidFill>
            <a:srgbClr val="5E8F74"/>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Calibri"/>
              </a:rPr>
              <a:t>Sensor detected</a:t>
            </a:r>
          </a:p>
        </p:txBody>
      </p:sp>
      <p:sp>
        <p:nvSpPr>
          <p:cNvPr id="36" name="Rounded Rectangle 35"/>
          <p:cNvSpPr/>
          <p:nvPr/>
        </p:nvSpPr>
        <p:spPr>
          <a:xfrm>
            <a:off x="9601200" y="4773168"/>
            <a:ext cx="1609344" cy="384048"/>
          </a:xfrm>
          <a:prstGeom prst="roundRect">
            <a:avLst>
              <a:gd name="adj" fmla="val 50000"/>
            </a:avLst>
          </a:prstGeom>
          <a:solidFill>
            <a:srgbClr val="5E8F74"/>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Calibri"/>
              </a:rPr>
              <a:t>Satellite detected</a:t>
            </a:r>
          </a:p>
        </p:txBody>
      </p:sp>
      <p:sp>
        <p:nvSpPr>
          <p:cNvPr id="37" name="TextBox 36"/>
          <p:cNvSpPr txBox="1"/>
          <p:nvPr/>
        </p:nvSpPr>
        <p:spPr>
          <a:xfrm>
            <a:off x="914400" y="5394960"/>
            <a:ext cx="10241280" cy="731520"/>
          </a:xfrm>
          <a:prstGeom prst="rect">
            <a:avLst/>
          </a:prstGeom>
          <a:noFill/>
        </p:spPr>
        <p:txBody>
          <a:bodyPr wrap="square" lIns="0" tIns="0" rIns="0" bIns="0" anchor="t">
            <a:spAutoFit/>
          </a:bodyPr>
          <a:lstStyle/>
          <a:p>
            <a:pPr algn="l"/>
            <a:r>
              <a:rPr sz="1250" b="1">
                <a:solidFill>
                  <a:srgbClr val="1F6B3A"/>
                </a:solidFill>
                <a:latin typeface="Calibri"/>
              </a:rPr>
              <a:t>53 of 55 </a:t>
            </a:r>
            <a:r>
              <a:rPr sz="1250" b="0">
                <a:solidFill>
                  <a:srgbClr val="14231B"/>
                </a:solidFill>
                <a:latin typeface="Calibri"/>
              </a:rPr>
              <a:t>incidents on record were raised automatically: a scan checks every station and Sentinel-5P every 30 minutes, with no photo needed. Flagged reports stay visible but never count toward promotion.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8229600" cy="274320"/>
          </a:xfrm>
          <a:prstGeom prst="rect">
            <a:avLst/>
          </a:prstGeom>
          <a:noFill/>
        </p:spPr>
        <p:txBody>
          <a:bodyPr wrap="square" lIns="0" tIns="0" rIns="0" bIns="0" anchor="t">
            <a:spAutoFit/>
          </a:bodyPr>
          <a:lstStyle/>
          <a:p>
            <a:pPr algn="l"/>
            <a:r>
              <a:rPr sz="1200" b="1" spc="300">
                <a:solidFill>
                  <a:srgbClr val="2E9E55"/>
                </a:solidFill>
                <a:latin typeface="Calibri"/>
              </a:rPr>
              <a:t>PRODUCT · FOR RESIDENTS</a:t>
            </a:r>
          </a:p>
        </p:txBody>
      </p:sp>
      <p:sp>
        <p:nvSpPr>
          <p:cNvPr id="3" name="TextBox 2"/>
          <p:cNvSpPr txBox="1"/>
          <p:nvPr/>
        </p:nvSpPr>
        <p:spPr>
          <a:xfrm>
            <a:off x="640080" y="777240"/>
            <a:ext cx="10881360" cy="822960"/>
          </a:xfrm>
          <a:prstGeom prst="rect">
            <a:avLst/>
          </a:prstGeom>
          <a:noFill/>
        </p:spPr>
        <p:txBody>
          <a:bodyPr wrap="square" lIns="0" tIns="0" rIns="0" bIns="0" anchor="t">
            <a:spAutoFit/>
          </a:bodyPr>
          <a:lstStyle/>
          <a:p>
            <a:pPr algn="l"/>
            <a:r>
              <a:rPr sz="3200" b="1">
                <a:solidFill>
                  <a:srgbClr val="14231B"/>
                </a:solidFill>
                <a:latin typeface="Georgia"/>
              </a:rPr>
              <a:t>Report in seconds, see what's on your street</a:t>
            </a:r>
          </a:p>
        </p:txBody>
      </p:sp>
      <p:sp>
        <p:nvSpPr>
          <p:cNvPr id="4" name="TextBox 3"/>
          <p:cNvSpPr txBox="1"/>
          <p:nvPr/>
        </p:nvSpPr>
        <p:spPr>
          <a:xfrm>
            <a:off x="10908792" y="6446520"/>
            <a:ext cx="640080" cy="228600"/>
          </a:xfrm>
          <a:prstGeom prst="rect">
            <a:avLst/>
          </a:prstGeom>
          <a:noFill/>
        </p:spPr>
        <p:txBody>
          <a:bodyPr wrap="square" lIns="0" tIns="0" rIns="0" bIns="0" anchor="t">
            <a:spAutoFit/>
          </a:bodyPr>
          <a:lstStyle/>
          <a:p>
            <a:pPr algn="r"/>
            <a:r>
              <a:rPr sz="1000" b="0">
                <a:solidFill>
                  <a:srgbClr val="56655C"/>
                </a:solidFill>
                <a:latin typeface="Calibri"/>
              </a:rPr>
              <a:t>07 / 12</a:t>
            </a:r>
          </a:p>
        </p:txBody>
      </p:sp>
      <p:pic>
        <p:nvPicPr>
          <p:cNvPr id="5" name="Picture 4" descr="image.png"/>
          <p:cNvPicPr>
            <a:picLocks noChangeAspect="1"/>
          </p:cNvPicPr>
          <p:nvPr/>
        </p:nvPicPr>
        <p:blipFill>
          <a:blip r:embed="rId3"/>
          <a:stretch>
            <a:fillRect/>
          </a:stretch>
        </p:blipFill>
        <p:spPr>
          <a:xfrm>
            <a:off x="640080" y="1645920"/>
            <a:ext cx="2344824" cy="4526280"/>
          </a:xfrm>
          <a:prstGeom prst="rect">
            <a:avLst/>
          </a:prstGeom>
          <a:ln w="12700">
            <a:solidFill>
              <a:srgbClr val="D9E3DC"/>
            </a:solidFill>
          </a:ln>
          <a:effectLst>
            <a:outerShdw blurRad="127000" dist="25400" dir="5400000" algn="bl" rotWithShape="0">
              <a:srgbClr val="0E1F17">
                <a:alpha val="9000"/>
              </a:srgbClr>
            </a:outerShdw>
          </a:effectLst>
        </p:spPr>
      </p:pic>
      <p:pic>
        <p:nvPicPr>
          <p:cNvPr id="6" name="Picture 5" descr="zone-crop.png"/>
          <p:cNvPicPr>
            <a:picLocks noChangeAspect="1"/>
          </p:cNvPicPr>
          <p:nvPr/>
        </p:nvPicPr>
        <p:blipFill>
          <a:blip r:embed="rId4"/>
          <a:stretch>
            <a:fillRect/>
          </a:stretch>
        </p:blipFill>
        <p:spPr>
          <a:xfrm>
            <a:off x="3154680" y="1645920"/>
            <a:ext cx="5577840" cy="3974760"/>
          </a:xfrm>
          <a:prstGeom prst="rect">
            <a:avLst/>
          </a:prstGeom>
          <a:ln w="12700">
            <a:solidFill>
              <a:srgbClr val="D9E3DC"/>
            </a:solidFill>
          </a:ln>
          <a:effectLst>
            <a:outerShdw blurRad="127000" dist="25400" dir="5400000" algn="bl" rotWithShape="0">
              <a:srgbClr val="0E1F17">
                <a:alpha val="9000"/>
              </a:srgbClr>
            </a:outerShdw>
          </a:effectLst>
        </p:spPr>
      </p:pic>
      <p:sp>
        <p:nvSpPr>
          <p:cNvPr id="7" name="Oval 6"/>
          <p:cNvSpPr/>
          <p:nvPr/>
        </p:nvSpPr>
        <p:spPr>
          <a:xfrm>
            <a:off x="9006840" y="1645920"/>
            <a:ext cx="457200" cy="457200"/>
          </a:xfrm>
          <a:prstGeom prst="ellipse">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5"/>
          <a:stretch>
            <a:fillRect/>
          </a:stretch>
        </p:blipFill>
        <p:spPr>
          <a:xfrm>
            <a:off x="9121140" y="1760220"/>
            <a:ext cx="228600" cy="228600"/>
          </a:xfrm>
          <a:prstGeom prst="rect">
            <a:avLst/>
          </a:prstGeom>
        </p:spPr>
      </p:pic>
      <p:sp>
        <p:nvSpPr>
          <p:cNvPr id="9" name="TextBox 8"/>
          <p:cNvSpPr txBox="1"/>
          <p:nvPr/>
        </p:nvSpPr>
        <p:spPr>
          <a:xfrm>
            <a:off x="9601200" y="1627632"/>
            <a:ext cx="1965960" cy="320040"/>
          </a:xfrm>
          <a:prstGeom prst="rect">
            <a:avLst/>
          </a:prstGeom>
          <a:noFill/>
        </p:spPr>
        <p:txBody>
          <a:bodyPr wrap="square" lIns="0" tIns="0" rIns="0" bIns="0" anchor="t">
            <a:spAutoFit/>
          </a:bodyPr>
          <a:lstStyle/>
          <a:p>
            <a:pPr algn="l"/>
            <a:r>
              <a:rPr sz="1300" b="1">
                <a:solidFill>
                  <a:srgbClr val="14231B"/>
                </a:solidFill>
                <a:latin typeface="Calibri"/>
              </a:rPr>
              <a:t>Photo, voice, pin</a:t>
            </a:r>
          </a:p>
        </p:txBody>
      </p:sp>
      <p:sp>
        <p:nvSpPr>
          <p:cNvPr id="10" name="TextBox 9"/>
          <p:cNvSpPr txBox="1"/>
          <p:nvPr/>
        </p:nvSpPr>
        <p:spPr>
          <a:xfrm>
            <a:off x="9601200" y="1938528"/>
            <a:ext cx="1965960" cy="566928"/>
          </a:xfrm>
          <a:prstGeom prst="rect">
            <a:avLst/>
          </a:prstGeom>
          <a:noFill/>
        </p:spPr>
        <p:txBody>
          <a:bodyPr wrap="square" lIns="0" tIns="0" rIns="0" bIns="0" anchor="t">
            <a:spAutoFit/>
          </a:bodyPr>
          <a:lstStyle/>
          <a:p>
            <a:pPr algn="l"/>
            <a:r>
              <a:rPr sz="1100" b="0">
                <a:solidFill>
                  <a:srgbClr val="56655C"/>
                </a:solidFill>
                <a:latin typeface="Calibri"/>
              </a:rPr>
              <a:t>13 languages; Gemini checks the photo first.</a:t>
            </a:r>
          </a:p>
        </p:txBody>
      </p:sp>
      <p:sp>
        <p:nvSpPr>
          <p:cNvPr id="11" name="Oval 10"/>
          <p:cNvSpPr/>
          <p:nvPr/>
        </p:nvSpPr>
        <p:spPr>
          <a:xfrm>
            <a:off x="9006840" y="2578608"/>
            <a:ext cx="457200" cy="457200"/>
          </a:xfrm>
          <a:prstGeom prst="ellipse">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house-chimney-user.png"/>
          <p:cNvPicPr>
            <a:picLocks noChangeAspect="1"/>
          </p:cNvPicPr>
          <p:nvPr/>
        </p:nvPicPr>
        <p:blipFill>
          <a:blip r:embed="rId6"/>
          <a:stretch>
            <a:fillRect/>
          </a:stretch>
        </p:blipFill>
        <p:spPr>
          <a:xfrm>
            <a:off x="9121140" y="2692908"/>
            <a:ext cx="228600" cy="228600"/>
          </a:xfrm>
          <a:prstGeom prst="rect">
            <a:avLst/>
          </a:prstGeom>
        </p:spPr>
      </p:pic>
      <p:sp>
        <p:nvSpPr>
          <p:cNvPr id="13" name="TextBox 12"/>
          <p:cNvSpPr txBox="1"/>
          <p:nvPr/>
        </p:nvSpPr>
        <p:spPr>
          <a:xfrm>
            <a:off x="9601200" y="2560320"/>
            <a:ext cx="1965960" cy="320040"/>
          </a:xfrm>
          <a:prstGeom prst="rect">
            <a:avLst/>
          </a:prstGeom>
          <a:noFill/>
        </p:spPr>
        <p:txBody>
          <a:bodyPr wrap="square" lIns="0" tIns="0" rIns="0" bIns="0" anchor="t">
            <a:spAutoFit/>
          </a:bodyPr>
          <a:lstStyle/>
          <a:p>
            <a:pPr algn="l"/>
            <a:r>
              <a:rPr sz="1300" b="1">
                <a:solidFill>
                  <a:srgbClr val="14231B"/>
                </a:solidFill>
                <a:latin typeface="Calibri"/>
              </a:rPr>
              <a:t>A page for every street</a:t>
            </a:r>
          </a:p>
        </p:txBody>
      </p:sp>
      <p:sp>
        <p:nvSpPr>
          <p:cNvPr id="14" name="TextBox 13"/>
          <p:cNvSpPr txBox="1"/>
          <p:nvPr/>
        </p:nvSpPr>
        <p:spPr>
          <a:xfrm>
            <a:off x="9601200" y="2871216"/>
            <a:ext cx="1965960" cy="566928"/>
          </a:xfrm>
          <a:prstGeom prst="rect">
            <a:avLst/>
          </a:prstGeom>
          <a:noFill/>
        </p:spPr>
        <p:txBody>
          <a:bodyPr wrap="square" lIns="0" tIns="0" rIns="0" bIns="0" anchor="t">
            <a:spAutoFit/>
          </a:bodyPr>
          <a:lstStyle/>
          <a:p>
            <a:pPr algn="l"/>
            <a:r>
              <a:rPr sz="1100" b="0">
                <a:solidFill>
                  <a:srgbClr val="56655C"/>
                </a:solidFill>
                <a:latin typeface="Calibri"/>
              </a:rPr>
              <a:t>AQI gauge, station, Gemini summary, history.</a:t>
            </a:r>
          </a:p>
        </p:txBody>
      </p:sp>
      <p:sp>
        <p:nvSpPr>
          <p:cNvPr id="15" name="Oval 14"/>
          <p:cNvSpPr/>
          <p:nvPr/>
        </p:nvSpPr>
        <p:spPr>
          <a:xfrm>
            <a:off x="9006840" y="3511296"/>
            <a:ext cx="457200" cy="457200"/>
          </a:xfrm>
          <a:prstGeom prst="ellipse">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users.png"/>
          <p:cNvPicPr>
            <a:picLocks noChangeAspect="1"/>
          </p:cNvPicPr>
          <p:nvPr/>
        </p:nvPicPr>
        <p:blipFill>
          <a:blip r:embed="rId7"/>
          <a:stretch>
            <a:fillRect/>
          </a:stretch>
        </p:blipFill>
        <p:spPr>
          <a:xfrm>
            <a:off x="9121140" y="3625596"/>
            <a:ext cx="228600" cy="228600"/>
          </a:xfrm>
          <a:prstGeom prst="rect">
            <a:avLst/>
          </a:prstGeom>
        </p:spPr>
      </p:pic>
      <p:sp>
        <p:nvSpPr>
          <p:cNvPr id="17" name="TextBox 16"/>
          <p:cNvSpPr txBox="1"/>
          <p:nvPr/>
        </p:nvSpPr>
        <p:spPr>
          <a:xfrm>
            <a:off x="9601200" y="3493008"/>
            <a:ext cx="1965960" cy="320040"/>
          </a:xfrm>
          <a:prstGeom prst="rect">
            <a:avLst/>
          </a:prstGeom>
          <a:noFill/>
        </p:spPr>
        <p:txBody>
          <a:bodyPr wrap="square" lIns="0" tIns="0" rIns="0" bIns="0" anchor="t">
            <a:spAutoFit/>
          </a:bodyPr>
          <a:lstStyle/>
          <a:p>
            <a:pPr algn="l"/>
            <a:r>
              <a:rPr sz="1300" b="1">
                <a:solidFill>
                  <a:srgbClr val="14231B"/>
                </a:solidFill>
                <a:latin typeface="Calibri"/>
              </a:rPr>
              <a:t>Who's affected</a:t>
            </a:r>
          </a:p>
        </p:txBody>
      </p:sp>
      <p:sp>
        <p:nvSpPr>
          <p:cNvPr id="18" name="TextBox 17"/>
          <p:cNvSpPr txBox="1"/>
          <p:nvPr/>
        </p:nvSpPr>
        <p:spPr>
          <a:xfrm>
            <a:off x="9601200" y="3803904"/>
            <a:ext cx="1965960" cy="566928"/>
          </a:xfrm>
          <a:prstGeom prst="rect">
            <a:avLst/>
          </a:prstGeom>
          <a:noFill/>
        </p:spPr>
        <p:txBody>
          <a:bodyPr wrap="square" lIns="0" tIns="0" rIns="0" bIns="0" anchor="t">
            <a:spAutoFit/>
          </a:bodyPr>
          <a:lstStyle/>
          <a:p>
            <a:pPr algn="l"/>
            <a:r>
              <a:rPr sz="1100" b="0">
                <a:solidFill>
                  <a:srgbClr val="56655C"/>
                </a:solidFill>
                <a:latin typeface="Calibri"/>
              </a:rPr>
              <a:t>WorldPop residents, schools and hospitals within 1 km.</a:t>
            </a:r>
          </a:p>
        </p:txBody>
      </p:sp>
      <p:sp>
        <p:nvSpPr>
          <p:cNvPr id="19" name="Oval 18"/>
          <p:cNvSpPr/>
          <p:nvPr/>
        </p:nvSpPr>
        <p:spPr>
          <a:xfrm>
            <a:off x="9006840" y="4443984"/>
            <a:ext cx="457200" cy="457200"/>
          </a:xfrm>
          <a:prstGeom prst="ellipse">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circle-check.png"/>
          <p:cNvPicPr>
            <a:picLocks noChangeAspect="1"/>
          </p:cNvPicPr>
          <p:nvPr/>
        </p:nvPicPr>
        <p:blipFill>
          <a:blip r:embed="rId8"/>
          <a:stretch>
            <a:fillRect/>
          </a:stretch>
        </p:blipFill>
        <p:spPr>
          <a:xfrm>
            <a:off x="9121140" y="4558284"/>
            <a:ext cx="228600" cy="228600"/>
          </a:xfrm>
          <a:prstGeom prst="rect">
            <a:avLst/>
          </a:prstGeom>
        </p:spPr>
      </p:pic>
      <p:sp>
        <p:nvSpPr>
          <p:cNvPr id="21" name="TextBox 20"/>
          <p:cNvSpPr txBox="1"/>
          <p:nvPr/>
        </p:nvSpPr>
        <p:spPr>
          <a:xfrm>
            <a:off x="9601200" y="4425696"/>
            <a:ext cx="1965960" cy="320040"/>
          </a:xfrm>
          <a:prstGeom prst="rect">
            <a:avLst/>
          </a:prstGeom>
          <a:noFill/>
        </p:spPr>
        <p:txBody>
          <a:bodyPr wrap="square" lIns="0" tIns="0" rIns="0" bIns="0" anchor="t">
            <a:spAutoFit/>
          </a:bodyPr>
          <a:lstStyle/>
          <a:p>
            <a:pPr algn="l"/>
            <a:r>
              <a:rPr sz="1300" b="1">
                <a:solidFill>
                  <a:srgbClr val="14231B"/>
                </a:solidFill>
                <a:latin typeface="Calibri"/>
              </a:rPr>
              <a:t>"Is it fixed?"</a:t>
            </a:r>
          </a:p>
        </p:txBody>
      </p:sp>
      <p:sp>
        <p:nvSpPr>
          <p:cNvPr id="22" name="TextBox 21"/>
          <p:cNvSpPr txBox="1"/>
          <p:nvPr/>
        </p:nvSpPr>
        <p:spPr>
          <a:xfrm>
            <a:off x="9601200" y="4736592"/>
            <a:ext cx="1965960" cy="566928"/>
          </a:xfrm>
          <a:prstGeom prst="rect">
            <a:avLst/>
          </a:prstGeom>
          <a:noFill/>
        </p:spPr>
        <p:txBody>
          <a:bodyPr wrap="square" lIns="0" tIns="0" rIns="0" bIns="0" anchor="t">
            <a:spAutoFit/>
          </a:bodyPr>
          <a:lstStyle/>
          <a:p>
            <a:pPr algn="l"/>
            <a:r>
              <a:rPr sz="1100" b="0">
                <a:solidFill>
                  <a:srgbClr val="56655C"/>
                </a:solidFill>
                <a:latin typeface="Calibri"/>
              </a:rPr>
              <a:t>Reporters confirm or dispute a fix for 72 h.</a:t>
            </a:r>
          </a:p>
        </p:txBody>
      </p:sp>
      <p:sp>
        <p:nvSpPr>
          <p:cNvPr id="23" name="TextBox 22"/>
          <p:cNvSpPr txBox="1"/>
          <p:nvPr/>
        </p:nvSpPr>
        <p:spPr>
          <a:xfrm>
            <a:off x="3154680" y="5715000"/>
            <a:ext cx="5577840" cy="457200"/>
          </a:xfrm>
          <a:prstGeom prst="rect">
            <a:avLst/>
          </a:prstGeom>
          <a:noFill/>
        </p:spPr>
        <p:txBody>
          <a:bodyPr wrap="square" lIns="0" tIns="0" rIns="0" bIns="0" anchor="t">
            <a:spAutoFit/>
          </a:bodyPr>
          <a:lstStyle/>
          <a:p>
            <a:pPr algn="l"/>
            <a:r>
              <a:rPr sz="1050" b="0">
                <a:solidFill>
                  <a:srgbClr val="56655C"/>
                </a:solidFill>
                <a:latin typeface="Calibri"/>
              </a:rPr>
              <a:t>Live: Temple of Heaven area, Beijing. Nearest station 0.27 km away; ≈71,838 residents within 1 km (WorldPop 2020).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8229600" cy="274320"/>
          </a:xfrm>
          <a:prstGeom prst="rect">
            <a:avLst/>
          </a:prstGeom>
          <a:noFill/>
        </p:spPr>
        <p:txBody>
          <a:bodyPr wrap="square" lIns="0" tIns="0" rIns="0" bIns="0" anchor="t">
            <a:spAutoFit/>
          </a:bodyPr>
          <a:lstStyle/>
          <a:p>
            <a:pPr algn="l"/>
            <a:r>
              <a:rPr sz="1200" b="1" spc="300">
                <a:solidFill>
                  <a:srgbClr val="2E9E55"/>
                </a:solidFill>
                <a:latin typeface="Calibri"/>
              </a:rPr>
              <a:t>PRODUCT · FOR OPERATORS</a:t>
            </a:r>
          </a:p>
        </p:txBody>
      </p:sp>
      <p:sp>
        <p:nvSpPr>
          <p:cNvPr id="3" name="TextBox 2"/>
          <p:cNvSpPr txBox="1"/>
          <p:nvPr/>
        </p:nvSpPr>
        <p:spPr>
          <a:xfrm>
            <a:off x="640080" y="777240"/>
            <a:ext cx="10881360" cy="822960"/>
          </a:xfrm>
          <a:prstGeom prst="rect">
            <a:avLst/>
          </a:prstGeom>
          <a:noFill/>
        </p:spPr>
        <p:txBody>
          <a:bodyPr wrap="square" lIns="0" tIns="0" rIns="0" bIns="0" anchor="t">
            <a:spAutoFit/>
          </a:bodyPr>
          <a:lstStyle/>
          <a:p>
            <a:pPr algn="l"/>
            <a:r>
              <a:rPr sz="3200" b="1">
                <a:solidFill>
                  <a:srgbClr val="14231B"/>
                </a:solidFill>
                <a:latin typeface="Georgia"/>
              </a:rPr>
              <a:t>Operators see what to fix first, and why</a:t>
            </a:r>
          </a:p>
        </p:txBody>
      </p:sp>
      <p:sp>
        <p:nvSpPr>
          <p:cNvPr id="4" name="TextBox 3"/>
          <p:cNvSpPr txBox="1"/>
          <p:nvPr/>
        </p:nvSpPr>
        <p:spPr>
          <a:xfrm>
            <a:off x="10908792" y="6446520"/>
            <a:ext cx="640080" cy="228600"/>
          </a:xfrm>
          <a:prstGeom prst="rect">
            <a:avLst/>
          </a:prstGeom>
          <a:noFill/>
        </p:spPr>
        <p:txBody>
          <a:bodyPr wrap="square" lIns="0" tIns="0" rIns="0" bIns="0" anchor="t">
            <a:spAutoFit/>
          </a:bodyPr>
          <a:lstStyle/>
          <a:p>
            <a:pPr algn="r"/>
            <a:r>
              <a:rPr sz="1000" b="0">
                <a:solidFill>
                  <a:srgbClr val="56655C"/>
                </a:solidFill>
                <a:latin typeface="Calibri"/>
              </a:rPr>
              <a:t>08 / 12</a:t>
            </a:r>
          </a:p>
        </p:txBody>
      </p:sp>
      <p:pic>
        <p:nvPicPr>
          <p:cNvPr id="5" name="Picture 4" descr="image.png"/>
          <p:cNvPicPr>
            <a:picLocks noChangeAspect="1"/>
          </p:cNvPicPr>
          <p:nvPr/>
        </p:nvPicPr>
        <p:blipFill>
          <a:blip r:embed="rId3"/>
          <a:stretch>
            <a:fillRect/>
          </a:stretch>
        </p:blipFill>
        <p:spPr>
          <a:xfrm>
            <a:off x="640080" y="1645920"/>
            <a:ext cx="6720840" cy="4309677"/>
          </a:xfrm>
          <a:prstGeom prst="rect">
            <a:avLst/>
          </a:prstGeom>
          <a:ln w="12700">
            <a:solidFill>
              <a:srgbClr val="D9E3DC"/>
            </a:solidFill>
          </a:ln>
          <a:effectLst>
            <a:outerShdw blurRad="127000" dist="25400" dir="5400000" algn="bl" rotWithShape="0">
              <a:srgbClr val="0E1F17">
                <a:alpha val="9000"/>
              </a:srgbClr>
            </a:outerShdw>
          </a:effectLst>
        </p:spPr>
      </p:pic>
      <p:pic>
        <p:nvPicPr>
          <p:cNvPr id="6" name="Picture 5" descr="image.png"/>
          <p:cNvPicPr>
            <a:picLocks noChangeAspect="1"/>
          </p:cNvPicPr>
          <p:nvPr/>
        </p:nvPicPr>
        <p:blipFill>
          <a:blip r:embed="rId4"/>
          <a:stretch>
            <a:fillRect/>
          </a:stretch>
        </p:blipFill>
        <p:spPr>
          <a:xfrm>
            <a:off x="7635240" y="1645920"/>
            <a:ext cx="3913632" cy="2869465"/>
          </a:xfrm>
          <a:prstGeom prst="rect">
            <a:avLst/>
          </a:prstGeom>
          <a:ln w="12700">
            <a:solidFill>
              <a:srgbClr val="D9E3DC"/>
            </a:solidFill>
          </a:ln>
          <a:effectLst>
            <a:outerShdw blurRad="127000" dist="25400" dir="5400000" algn="bl" rotWithShape="0">
              <a:srgbClr val="0E1F17">
                <a:alpha val="9000"/>
              </a:srgbClr>
            </a:outerShdw>
          </a:effectLst>
        </p:spPr>
      </p:pic>
      <p:sp>
        <p:nvSpPr>
          <p:cNvPr id="7" name="Oval 6"/>
          <p:cNvSpPr/>
          <p:nvPr/>
        </p:nvSpPr>
        <p:spPr>
          <a:xfrm>
            <a:off x="7635240" y="4919472"/>
            <a:ext cx="384048" cy="384048"/>
          </a:xfrm>
          <a:prstGeom prst="ellipse">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5"/>
          <a:stretch>
            <a:fillRect/>
          </a:stretch>
        </p:blipFill>
        <p:spPr>
          <a:xfrm>
            <a:off x="7731252" y="5015484"/>
            <a:ext cx="192024" cy="192024"/>
          </a:xfrm>
          <a:prstGeom prst="rect">
            <a:avLst/>
          </a:prstGeom>
        </p:spPr>
      </p:pic>
      <p:sp>
        <p:nvSpPr>
          <p:cNvPr id="9" name="TextBox 8"/>
          <p:cNvSpPr txBox="1"/>
          <p:nvPr/>
        </p:nvSpPr>
        <p:spPr>
          <a:xfrm>
            <a:off x="8138160" y="4901184"/>
            <a:ext cx="3474720" cy="256032"/>
          </a:xfrm>
          <a:prstGeom prst="rect">
            <a:avLst/>
          </a:prstGeom>
          <a:noFill/>
        </p:spPr>
        <p:txBody>
          <a:bodyPr wrap="square" lIns="0" tIns="0" rIns="0" bIns="0" anchor="t">
            <a:spAutoFit/>
          </a:bodyPr>
          <a:lstStyle/>
          <a:p>
            <a:pPr algn="l"/>
            <a:r>
              <a:rPr sz="1200" b="1">
                <a:solidFill>
                  <a:srgbClr val="14231B"/>
                </a:solidFill>
                <a:latin typeface="Calibri"/>
              </a:rPr>
              <a:t>Ranked queue</a:t>
            </a:r>
          </a:p>
        </p:txBody>
      </p:sp>
      <p:sp>
        <p:nvSpPr>
          <p:cNvPr id="10" name="TextBox 9"/>
          <p:cNvSpPr txBox="1"/>
          <p:nvPr/>
        </p:nvSpPr>
        <p:spPr>
          <a:xfrm>
            <a:off x="8138160" y="5148072"/>
            <a:ext cx="3474720" cy="274320"/>
          </a:xfrm>
          <a:prstGeom prst="rect">
            <a:avLst/>
          </a:prstGeom>
          <a:noFill/>
        </p:spPr>
        <p:txBody>
          <a:bodyPr wrap="square" lIns="0" tIns="0" rIns="0" bIns="0" anchor="t">
            <a:spAutoFit/>
          </a:bodyPr>
          <a:lstStyle/>
          <a:p>
            <a:pPr algn="l"/>
            <a:r>
              <a:rPr sz="1050" b="0">
                <a:solidFill>
                  <a:srgbClr val="56655C"/>
                </a:solidFill>
                <a:latin typeface="Calibri"/>
              </a:rPr>
              <a:t>Evidence tier first; repeat, overdue and disputed chips.</a:t>
            </a:r>
          </a:p>
        </p:txBody>
      </p:sp>
      <p:sp>
        <p:nvSpPr>
          <p:cNvPr id="11" name="Oval 10"/>
          <p:cNvSpPr/>
          <p:nvPr/>
        </p:nvSpPr>
        <p:spPr>
          <a:xfrm>
            <a:off x="7635240" y="5431536"/>
            <a:ext cx="384048" cy="384048"/>
          </a:xfrm>
          <a:prstGeom prst="ellipse">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image.png"/>
          <p:cNvPicPr>
            <a:picLocks noChangeAspect="1"/>
          </p:cNvPicPr>
          <p:nvPr/>
        </p:nvPicPr>
        <p:blipFill>
          <a:blip r:embed="rId6"/>
          <a:stretch>
            <a:fillRect/>
          </a:stretch>
        </p:blipFill>
        <p:spPr>
          <a:xfrm>
            <a:off x="7731252" y="5527548"/>
            <a:ext cx="192024" cy="192024"/>
          </a:xfrm>
          <a:prstGeom prst="rect">
            <a:avLst/>
          </a:prstGeom>
        </p:spPr>
      </p:pic>
      <p:sp>
        <p:nvSpPr>
          <p:cNvPr id="13" name="TextBox 12"/>
          <p:cNvSpPr txBox="1"/>
          <p:nvPr/>
        </p:nvSpPr>
        <p:spPr>
          <a:xfrm>
            <a:off x="8138160" y="5413248"/>
            <a:ext cx="3474720" cy="256032"/>
          </a:xfrm>
          <a:prstGeom prst="rect">
            <a:avLst/>
          </a:prstGeom>
          <a:noFill/>
        </p:spPr>
        <p:txBody>
          <a:bodyPr wrap="square" lIns="0" tIns="0" rIns="0" bIns="0" anchor="t">
            <a:spAutoFit/>
          </a:bodyPr>
          <a:lstStyle/>
          <a:p>
            <a:pPr algn="l"/>
            <a:r>
              <a:rPr sz="1200" b="1">
                <a:solidFill>
                  <a:srgbClr val="14231B"/>
                </a:solidFill>
                <a:latin typeface="Calibri"/>
              </a:rPr>
              <a:t>Traceable evidence</a:t>
            </a:r>
          </a:p>
        </p:txBody>
      </p:sp>
      <p:sp>
        <p:nvSpPr>
          <p:cNvPr id="14" name="TextBox 13"/>
          <p:cNvSpPr txBox="1"/>
          <p:nvPr/>
        </p:nvSpPr>
        <p:spPr>
          <a:xfrm>
            <a:off x="8138160" y="5660136"/>
            <a:ext cx="3474720" cy="274320"/>
          </a:xfrm>
          <a:prstGeom prst="rect">
            <a:avLst/>
          </a:prstGeom>
          <a:noFill/>
        </p:spPr>
        <p:txBody>
          <a:bodyPr wrap="square" lIns="0" tIns="0" rIns="0" bIns="0" anchor="t">
            <a:spAutoFit/>
          </a:bodyPr>
          <a:lstStyle/>
          <a:p>
            <a:pPr algn="l"/>
            <a:r>
              <a:rPr sz="1050" b="0">
                <a:solidFill>
                  <a:srgbClr val="56655C"/>
                </a:solidFill>
                <a:latin typeface="Calibri"/>
              </a:rPr>
              <a:t>Station vs national limit, satellite window, reports.</a:t>
            </a:r>
          </a:p>
        </p:txBody>
      </p:sp>
      <p:sp>
        <p:nvSpPr>
          <p:cNvPr id="15" name="Oval 14"/>
          <p:cNvSpPr/>
          <p:nvPr/>
        </p:nvSpPr>
        <p:spPr>
          <a:xfrm>
            <a:off x="7635240" y="5943600"/>
            <a:ext cx="384048" cy="384048"/>
          </a:xfrm>
          <a:prstGeom prst="ellipse">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clipboard-list.png"/>
          <p:cNvPicPr>
            <a:picLocks noChangeAspect="1"/>
          </p:cNvPicPr>
          <p:nvPr/>
        </p:nvPicPr>
        <p:blipFill>
          <a:blip r:embed="rId7"/>
          <a:stretch>
            <a:fillRect/>
          </a:stretch>
        </p:blipFill>
        <p:spPr>
          <a:xfrm>
            <a:off x="7731252" y="6039612"/>
            <a:ext cx="192024" cy="192024"/>
          </a:xfrm>
          <a:prstGeom prst="rect">
            <a:avLst/>
          </a:prstGeom>
        </p:spPr>
      </p:pic>
      <p:sp>
        <p:nvSpPr>
          <p:cNvPr id="17" name="TextBox 16"/>
          <p:cNvSpPr txBox="1"/>
          <p:nvPr/>
        </p:nvSpPr>
        <p:spPr>
          <a:xfrm>
            <a:off x="8138160" y="5925312"/>
            <a:ext cx="3474720" cy="256032"/>
          </a:xfrm>
          <a:prstGeom prst="rect">
            <a:avLst/>
          </a:prstGeom>
          <a:noFill/>
        </p:spPr>
        <p:txBody>
          <a:bodyPr wrap="square" lIns="0" tIns="0" rIns="0" bIns="0" anchor="t">
            <a:spAutoFit/>
          </a:bodyPr>
          <a:lstStyle/>
          <a:p>
            <a:pPr algn="l"/>
            <a:r>
              <a:rPr sz="1200" b="1">
                <a:solidFill>
                  <a:srgbClr val="14231B"/>
                </a:solidFill>
                <a:latin typeface="Calibri"/>
              </a:rPr>
              <a:t>One-click action</a:t>
            </a:r>
          </a:p>
        </p:txBody>
      </p:sp>
      <p:sp>
        <p:nvSpPr>
          <p:cNvPr id="18" name="TextBox 17"/>
          <p:cNvSpPr txBox="1"/>
          <p:nvPr/>
        </p:nvSpPr>
        <p:spPr>
          <a:xfrm>
            <a:off x="8138160" y="6172200"/>
            <a:ext cx="3474720" cy="274320"/>
          </a:xfrm>
          <a:prstGeom prst="rect">
            <a:avLst/>
          </a:prstGeom>
          <a:noFill/>
        </p:spPr>
        <p:txBody>
          <a:bodyPr wrap="square" lIns="0" tIns="0" rIns="0" bIns="0" anchor="t">
            <a:spAutoFit/>
          </a:bodyPr>
          <a:lstStyle/>
          <a:p>
            <a:pPr algn="l"/>
            <a:r>
              <a:rPr sz="1050" b="0">
                <a:solidFill>
                  <a:srgbClr val="56655C"/>
                </a:solidFill>
                <a:latin typeface="Calibri"/>
              </a:rPr>
              <a:t>Draft a work order, dispatch, resolve; reporters are told.</a:t>
            </a:r>
          </a:p>
        </p:txBody>
      </p:sp>
      <p:sp>
        <p:nvSpPr>
          <p:cNvPr id="19" name="TextBox 18"/>
          <p:cNvSpPr txBox="1"/>
          <p:nvPr/>
        </p:nvSpPr>
        <p:spPr>
          <a:xfrm>
            <a:off x="7635240" y="4572000"/>
            <a:ext cx="3913632" cy="228600"/>
          </a:xfrm>
          <a:prstGeom prst="rect">
            <a:avLst/>
          </a:prstGeom>
          <a:noFill/>
        </p:spPr>
        <p:txBody>
          <a:bodyPr wrap="square" lIns="0" tIns="0" rIns="0" bIns="0" anchor="t">
            <a:spAutoFit/>
          </a:bodyPr>
          <a:lstStyle/>
          <a:p>
            <a:pPr algn="l"/>
            <a:r>
              <a:rPr sz="1000" b="0">
                <a:solidFill>
                  <a:srgbClr val="56655C"/>
                </a:solidFill>
                <a:latin typeface="Calibri"/>
              </a:rPr>
              <a:t>Moscow, 3D view: official stations reporting live.</a:t>
            </a:r>
          </a:p>
        </p:txBody>
      </p:sp>
      <p:sp>
        <p:nvSpPr>
          <p:cNvPr id="20" name="TextBox 19"/>
          <p:cNvSpPr txBox="1"/>
          <p:nvPr/>
        </p:nvSpPr>
        <p:spPr>
          <a:xfrm>
            <a:off x="640080" y="6080760"/>
            <a:ext cx="6720840" cy="274320"/>
          </a:xfrm>
          <a:prstGeom prst="rect">
            <a:avLst/>
          </a:prstGeom>
          <a:noFill/>
        </p:spPr>
        <p:txBody>
          <a:bodyPr wrap="square" lIns="0" tIns="0" rIns="0" bIns="0" anchor="t">
            <a:spAutoFit/>
          </a:bodyPr>
          <a:lstStyle/>
          <a:p>
            <a:pPr algn="l"/>
            <a:r>
              <a:rPr sz="1050" b="0">
                <a:solidFill>
                  <a:srgbClr val="56655C"/>
                </a:solidFill>
                <a:latin typeface="Calibri"/>
              </a:rPr>
              <a:t>Abu Dhabi, live: particulate hotspots raised automatically from official EAD stations, judged against the UAE limit.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8F3EC"/>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8229600" cy="274320"/>
          </a:xfrm>
          <a:prstGeom prst="rect">
            <a:avLst/>
          </a:prstGeom>
          <a:noFill/>
        </p:spPr>
        <p:txBody>
          <a:bodyPr wrap="square" lIns="0" tIns="0" rIns="0" bIns="0" anchor="t">
            <a:spAutoFit/>
          </a:bodyPr>
          <a:lstStyle/>
          <a:p>
            <a:pPr algn="l"/>
            <a:r>
              <a:rPr sz="1200" b="1" spc="300">
                <a:solidFill>
                  <a:srgbClr val="2E9E55"/>
                </a:solidFill>
                <a:latin typeface="Calibri"/>
              </a:rPr>
              <a:t>CLOSING THE LOOP</a:t>
            </a:r>
          </a:p>
        </p:txBody>
      </p:sp>
      <p:sp>
        <p:nvSpPr>
          <p:cNvPr id="3" name="TextBox 2"/>
          <p:cNvSpPr txBox="1"/>
          <p:nvPr/>
        </p:nvSpPr>
        <p:spPr>
          <a:xfrm>
            <a:off x="640080" y="777240"/>
            <a:ext cx="10881360" cy="822960"/>
          </a:xfrm>
          <a:prstGeom prst="rect">
            <a:avLst/>
          </a:prstGeom>
          <a:noFill/>
        </p:spPr>
        <p:txBody>
          <a:bodyPr wrap="square" lIns="0" tIns="0" rIns="0" bIns="0" anchor="t">
            <a:spAutoFit/>
          </a:bodyPr>
          <a:lstStyle/>
          <a:p>
            <a:pPr algn="l"/>
            <a:r>
              <a:rPr sz="3200" b="1">
                <a:solidFill>
                  <a:srgbClr val="14231B"/>
                </a:solidFill>
                <a:latin typeface="Georgia"/>
              </a:rPr>
              <a:t>A fix counts only when residents confirm it</a:t>
            </a:r>
          </a:p>
        </p:txBody>
      </p:sp>
      <p:sp>
        <p:nvSpPr>
          <p:cNvPr id="4" name="TextBox 3"/>
          <p:cNvSpPr txBox="1"/>
          <p:nvPr/>
        </p:nvSpPr>
        <p:spPr>
          <a:xfrm>
            <a:off x="10908792" y="6446520"/>
            <a:ext cx="640080" cy="228600"/>
          </a:xfrm>
          <a:prstGeom prst="rect">
            <a:avLst/>
          </a:prstGeom>
          <a:noFill/>
        </p:spPr>
        <p:txBody>
          <a:bodyPr wrap="square" lIns="0" tIns="0" rIns="0" bIns="0" anchor="t">
            <a:spAutoFit/>
          </a:bodyPr>
          <a:lstStyle/>
          <a:p>
            <a:pPr algn="r"/>
            <a:r>
              <a:rPr sz="1000" b="0">
                <a:solidFill>
                  <a:srgbClr val="56655C"/>
                </a:solidFill>
                <a:latin typeface="Calibri"/>
              </a:rPr>
              <a:t>09 / 12</a:t>
            </a:r>
          </a:p>
        </p:txBody>
      </p:sp>
      <p:sp>
        <p:nvSpPr>
          <p:cNvPr id="5" name="Oval 4"/>
          <p:cNvSpPr/>
          <p:nvPr/>
        </p:nvSpPr>
        <p:spPr>
          <a:xfrm>
            <a:off x="1234440" y="1737360"/>
            <a:ext cx="822960" cy="822960"/>
          </a:xfrm>
          <a:prstGeom prst="ellipse">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1440180" y="1943100"/>
            <a:ext cx="411480" cy="411480"/>
          </a:xfrm>
          <a:prstGeom prst="rect">
            <a:avLst/>
          </a:prstGeom>
        </p:spPr>
      </p:pic>
      <p:sp>
        <p:nvSpPr>
          <p:cNvPr id="7" name="Right Arrow 6"/>
          <p:cNvSpPr/>
          <p:nvPr/>
        </p:nvSpPr>
        <p:spPr>
          <a:xfrm>
            <a:off x="2606040" y="2029968"/>
            <a:ext cx="310896" cy="256032"/>
          </a:xfrm>
          <a:prstGeom prst="rightArrow">
            <a:avLst/>
          </a:prstGeom>
          <a:solidFill>
            <a:srgbClr val="CF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697480"/>
            <a:ext cx="2011680" cy="365760"/>
          </a:xfrm>
          <a:prstGeom prst="rect">
            <a:avLst/>
          </a:prstGeom>
          <a:noFill/>
        </p:spPr>
        <p:txBody>
          <a:bodyPr wrap="square" lIns="0" tIns="0" rIns="0" bIns="0" anchor="t">
            <a:spAutoFit/>
          </a:bodyPr>
          <a:lstStyle/>
          <a:p>
            <a:pPr algn="ctr"/>
            <a:r>
              <a:rPr sz="1700" b="1">
                <a:solidFill>
                  <a:srgbClr val="14231B"/>
                </a:solidFill>
                <a:latin typeface="Calibri"/>
              </a:rPr>
              <a:t>Report</a:t>
            </a:r>
          </a:p>
        </p:txBody>
      </p:sp>
      <p:sp>
        <p:nvSpPr>
          <p:cNvPr id="9" name="TextBox 8"/>
          <p:cNvSpPr txBox="1"/>
          <p:nvPr/>
        </p:nvSpPr>
        <p:spPr>
          <a:xfrm>
            <a:off x="685800" y="3081528"/>
            <a:ext cx="1920240" cy="731520"/>
          </a:xfrm>
          <a:prstGeom prst="rect">
            <a:avLst/>
          </a:prstGeom>
          <a:noFill/>
        </p:spPr>
        <p:txBody>
          <a:bodyPr wrap="square" lIns="0" tIns="0" rIns="0" bIns="0" anchor="t">
            <a:spAutoFit/>
          </a:bodyPr>
          <a:lstStyle/>
          <a:p>
            <a:pPr algn="ctr"/>
            <a:r>
              <a:rPr sz="1200" b="0">
                <a:solidFill>
                  <a:srgbClr val="56655C"/>
                </a:solidFill>
                <a:latin typeface="Calibri"/>
              </a:rPr>
              <a:t>Photo and pin, or the automatic station scan.</a:t>
            </a:r>
          </a:p>
        </p:txBody>
      </p:sp>
      <p:sp>
        <p:nvSpPr>
          <p:cNvPr id="10" name="Oval 9"/>
          <p:cNvSpPr/>
          <p:nvPr/>
        </p:nvSpPr>
        <p:spPr>
          <a:xfrm>
            <a:off x="3465576" y="1737360"/>
            <a:ext cx="822960" cy="822960"/>
          </a:xfrm>
          <a:prstGeom prst="ellipse">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image.png"/>
          <p:cNvPicPr>
            <a:picLocks noChangeAspect="1"/>
          </p:cNvPicPr>
          <p:nvPr/>
        </p:nvPicPr>
        <p:blipFill>
          <a:blip r:embed="rId4"/>
          <a:stretch>
            <a:fillRect/>
          </a:stretch>
        </p:blipFill>
        <p:spPr>
          <a:xfrm>
            <a:off x="3671315" y="1943100"/>
            <a:ext cx="411480" cy="411480"/>
          </a:xfrm>
          <a:prstGeom prst="rect">
            <a:avLst/>
          </a:prstGeom>
        </p:spPr>
      </p:pic>
      <p:sp>
        <p:nvSpPr>
          <p:cNvPr id="12" name="Right Arrow 11"/>
          <p:cNvSpPr/>
          <p:nvPr/>
        </p:nvSpPr>
        <p:spPr>
          <a:xfrm>
            <a:off x="4837176" y="2029968"/>
            <a:ext cx="310896" cy="256032"/>
          </a:xfrm>
          <a:prstGeom prst="rightArrow">
            <a:avLst/>
          </a:prstGeom>
          <a:solidFill>
            <a:srgbClr val="CF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871216" y="2697480"/>
            <a:ext cx="2011680" cy="365760"/>
          </a:xfrm>
          <a:prstGeom prst="rect">
            <a:avLst/>
          </a:prstGeom>
          <a:noFill/>
        </p:spPr>
        <p:txBody>
          <a:bodyPr wrap="square" lIns="0" tIns="0" rIns="0" bIns="0" anchor="t">
            <a:spAutoFit/>
          </a:bodyPr>
          <a:lstStyle/>
          <a:p>
            <a:pPr algn="ctr"/>
            <a:r>
              <a:rPr sz="1700" b="1">
                <a:solidFill>
                  <a:srgbClr val="14231B"/>
                </a:solidFill>
                <a:latin typeface="Calibri"/>
              </a:rPr>
              <a:t>Verified</a:t>
            </a:r>
          </a:p>
        </p:txBody>
      </p:sp>
      <p:sp>
        <p:nvSpPr>
          <p:cNvPr id="14" name="TextBox 13"/>
          <p:cNvSpPr txBox="1"/>
          <p:nvPr/>
        </p:nvSpPr>
        <p:spPr>
          <a:xfrm>
            <a:off x="2916936" y="3081528"/>
            <a:ext cx="1920240" cy="731520"/>
          </a:xfrm>
          <a:prstGeom prst="rect">
            <a:avLst/>
          </a:prstGeom>
          <a:noFill/>
        </p:spPr>
        <p:txBody>
          <a:bodyPr wrap="square" lIns="0" tIns="0" rIns="0" bIns="0" anchor="t">
            <a:spAutoFit/>
          </a:bodyPr>
          <a:lstStyle/>
          <a:p>
            <a:pPr algn="ctr"/>
            <a:r>
              <a:rPr sz="1200" b="0">
                <a:solidFill>
                  <a:srgbClr val="56655C"/>
                </a:solidFill>
                <a:latin typeface="Calibri"/>
              </a:rPr>
              <a:t>Promoted only on independent evidence.</a:t>
            </a:r>
          </a:p>
        </p:txBody>
      </p:sp>
      <p:sp>
        <p:nvSpPr>
          <p:cNvPr id="15" name="Oval 14"/>
          <p:cNvSpPr/>
          <p:nvPr/>
        </p:nvSpPr>
        <p:spPr>
          <a:xfrm>
            <a:off x="5687568" y="1737360"/>
            <a:ext cx="822960" cy="822960"/>
          </a:xfrm>
          <a:prstGeom prst="ellipse">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image.png"/>
          <p:cNvPicPr>
            <a:picLocks noChangeAspect="1"/>
          </p:cNvPicPr>
          <p:nvPr/>
        </p:nvPicPr>
        <p:blipFill>
          <a:blip r:embed="rId5"/>
          <a:stretch>
            <a:fillRect/>
          </a:stretch>
        </p:blipFill>
        <p:spPr>
          <a:xfrm>
            <a:off x="5893307" y="1943100"/>
            <a:ext cx="411480" cy="411480"/>
          </a:xfrm>
          <a:prstGeom prst="rect">
            <a:avLst/>
          </a:prstGeom>
        </p:spPr>
      </p:pic>
      <p:sp>
        <p:nvSpPr>
          <p:cNvPr id="17" name="Right Arrow 16"/>
          <p:cNvSpPr/>
          <p:nvPr/>
        </p:nvSpPr>
        <p:spPr>
          <a:xfrm>
            <a:off x="7059168" y="2029968"/>
            <a:ext cx="310896" cy="256032"/>
          </a:xfrm>
          <a:prstGeom prst="rightArrow">
            <a:avLst/>
          </a:prstGeom>
          <a:solidFill>
            <a:srgbClr val="CF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93207" y="2697480"/>
            <a:ext cx="2011680" cy="365760"/>
          </a:xfrm>
          <a:prstGeom prst="rect">
            <a:avLst/>
          </a:prstGeom>
          <a:noFill/>
        </p:spPr>
        <p:txBody>
          <a:bodyPr wrap="square" lIns="0" tIns="0" rIns="0" bIns="0" anchor="t">
            <a:spAutoFit/>
          </a:bodyPr>
          <a:lstStyle/>
          <a:p>
            <a:pPr algn="ctr"/>
            <a:r>
              <a:rPr sz="1700" b="1">
                <a:solidFill>
                  <a:srgbClr val="14231B"/>
                </a:solidFill>
                <a:latin typeface="Calibri"/>
              </a:rPr>
              <a:t>Dispatched</a:t>
            </a:r>
          </a:p>
        </p:txBody>
      </p:sp>
      <p:sp>
        <p:nvSpPr>
          <p:cNvPr id="19" name="TextBox 18"/>
          <p:cNvSpPr txBox="1"/>
          <p:nvPr/>
        </p:nvSpPr>
        <p:spPr>
          <a:xfrm>
            <a:off x="5138928" y="3081528"/>
            <a:ext cx="1920240" cy="731520"/>
          </a:xfrm>
          <a:prstGeom prst="rect">
            <a:avLst/>
          </a:prstGeom>
          <a:noFill/>
        </p:spPr>
        <p:txBody>
          <a:bodyPr wrap="square" lIns="0" tIns="0" rIns="0" bIns="0" anchor="t">
            <a:spAutoFit/>
          </a:bodyPr>
          <a:lstStyle/>
          <a:p>
            <a:pPr algn="ctr"/>
            <a:r>
              <a:rPr sz="1200" b="0">
                <a:solidFill>
                  <a:srgbClr val="56655C"/>
                </a:solidFill>
                <a:latin typeface="Calibri"/>
              </a:rPr>
              <a:t>Work order routed, with a response clock.</a:t>
            </a:r>
          </a:p>
        </p:txBody>
      </p:sp>
      <p:sp>
        <p:nvSpPr>
          <p:cNvPr id="20" name="Oval 19"/>
          <p:cNvSpPr/>
          <p:nvPr/>
        </p:nvSpPr>
        <p:spPr>
          <a:xfrm>
            <a:off x="7909560" y="1737360"/>
            <a:ext cx="822960" cy="822960"/>
          </a:xfrm>
          <a:prstGeom prst="ellipse">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circle-check.png"/>
          <p:cNvPicPr>
            <a:picLocks noChangeAspect="1"/>
          </p:cNvPicPr>
          <p:nvPr/>
        </p:nvPicPr>
        <p:blipFill>
          <a:blip r:embed="rId6"/>
          <a:stretch>
            <a:fillRect/>
          </a:stretch>
        </p:blipFill>
        <p:spPr>
          <a:xfrm>
            <a:off x="8115300" y="1943100"/>
            <a:ext cx="411480" cy="411480"/>
          </a:xfrm>
          <a:prstGeom prst="rect">
            <a:avLst/>
          </a:prstGeom>
        </p:spPr>
      </p:pic>
      <p:sp>
        <p:nvSpPr>
          <p:cNvPr id="22" name="Right Arrow 21"/>
          <p:cNvSpPr/>
          <p:nvPr/>
        </p:nvSpPr>
        <p:spPr>
          <a:xfrm>
            <a:off x="9281160" y="2029968"/>
            <a:ext cx="310896" cy="256032"/>
          </a:xfrm>
          <a:prstGeom prst="rightArrow">
            <a:avLst/>
          </a:prstGeom>
          <a:solidFill>
            <a:srgbClr val="CF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0" y="2697480"/>
            <a:ext cx="2011680" cy="365760"/>
          </a:xfrm>
          <a:prstGeom prst="rect">
            <a:avLst/>
          </a:prstGeom>
          <a:noFill/>
        </p:spPr>
        <p:txBody>
          <a:bodyPr wrap="square" lIns="0" tIns="0" rIns="0" bIns="0" anchor="t">
            <a:spAutoFit/>
          </a:bodyPr>
          <a:lstStyle/>
          <a:p>
            <a:pPr algn="ctr"/>
            <a:r>
              <a:rPr sz="1700" b="1">
                <a:solidFill>
                  <a:srgbClr val="14231B"/>
                </a:solidFill>
                <a:latin typeface="Calibri"/>
              </a:rPr>
              <a:t>Resolved</a:t>
            </a:r>
          </a:p>
        </p:txBody>
      </p:sp>
      <p:sp>
        <p:nvSpPr>
          <p:cNvPr id="24" name="TextBox 23"/>
          <p:cNvSpPr txBox="1"/>
          <p:nvPr/>
        </p:nvSpPr>
        <p:spPr>
          <a:xfrm>
            <a:off x="7360920" y="3081528"/>
            <a:ext cx="1920240" cy="731520"/>
          </a:xfrm>
          <a:prstGeom prst="rect">
            <a:avLst/>
          </a:prstGeom>
          <a:noFill/>
        </p:spPr>
        <p:txBody>
          <a:bodyPr wrap="square" lIns="0" tIns="0" rIns="0" bIns="0" anchor="t">
            <a:spAutoFit/>
          </a:bodyPr>
          <a:lstStyle/>
          <a:p>
            <a:pPr algn="ctr"/>
            <a:r>
              <a:rPr sz="1200" b="0">
                <a:solidFill>
                  <a:srgbClr val="56655C"/>
                </a:solidFill>
                <a:latin typeface="Calibri"/>
              </a:rPr>
              <a:t>The operator marks the hotspot fixed.</a:t>
            </a:r>
          </a:p>
        </p:txBody>
      </p:sp>
      <p:sp>
        <p:nvSpPr>
          <p:cNvPr id="25" name="Oval 24"/>
          <p:cNvSpPr/>
          <p:nvPr/>
        </p:nvSpPr>
        <p:spPr>
          <a:xfrm>
            <a:off x="10140696" y="1737360"/>
            <a:ext cx="822960" cy="822960"/>
          </a:xfrm>
          <a:prstGeom prst="ellipse">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clock.png"/>
          <p:cNvPicPr>
            <a:picLocks noChangeAspect="1"/>
          </p:cNvPicPr>
          <p:nvPr/>
        </p:nvPicPr>
        <p:blipFill>
          <a:blip r:embed="rId7"/>
          <a:stretch>
            <a:fillRect/>
          </a:stretch>
        </p:blipFill>
        <p:spPr>
          <a:xfrm>
            <a:off x="10346436" y="1943100"/>
            <a:ext cx="411480" cy="411480"/>
          </a:xfrm>
          <a:prstGeom prst="rect">
            <a:avLst/>
          </a:prstGeom>
        </p:spPr>
      </p:pic>
      <p:sp>
        <p:nvSpPr>
          <p:cNvPr id="27" name="TextBox 26"/>
          <p:cNvSpPr txBox="1"/>
          <p:nvPr/>
        </p:nvSpPr>
        <p:spPr>
          <a:xfrm>
            <a:off x="9546336" y="2697480"/>
            <a:ext cx="2011680" cy="365760"/>
          </a:xfrm>
          <a:prstGeom prst="rect">
            <a:avLst/>
          </a:prstGeom>
          <a:noFill/>
        </p:spPr>
        <p:txBody>
          <a:bodyPr wrap="square" lIns="0" tIns="0" rIns="0" bIns="0" anchor="t">
            <a:spAutoFit/>
          </a:bodyPr>
          <a:lstStyle/>
          <a:p>
            <a:pPr algn="ctr"/>
            <a:r>
              <a:rPr sz="1700" b="1">
                <a:solidFill>
                  <a:srgbClr val="14231B"/>
                </a:solidFill>
                <a:latin typeface="Calibri"/>
              </a:rPr>
              <a:t>Is it fixed?</a:t>
            </a:r>
          </a:p>
        </p:txBody>
      </p:sp>
      <p:sp>
        <p:nvSpPr>
          <p:cNvPr id="28" name="TextBox 27"/>
          <p:cNvSpPr txBox="1"/>
          <p:nvPr/>
        </p:nvSpPr>
        <p:spPr>
          <a:xfrm>
            <a:off x="9592056" y="3081528"/>
            <a:ext cx="1920240" cy="731520"/>
          </a:xfrm>
          <a:prstGeom prst="rect">
            <a:avLst/>
          </a:prstGeom>
          <a:noFill/>
        </p:spPr>
        <p:txBody>
          <a:bodyPr wrap="square" lIns="0" tIns="0" rIns="0" bIns="0" anchor="t">
            <a:spAutoFit/>
          </a:bodyPr>
          <a:lstStyle/>
          <a:p>
            <a:pPr algn="ctr"/>
            <a:r>
              <a:rPr sz="1200" b="0">
                <a:solidFill>
                  <a:srgbClr val="56655C"/>
                </a:solidFill>
                <a:latin typeface="Calibri"/>
              </a:rPr>
              <a:t>Reporters are asked for 72 h, web or WhatsApp.</a:t>
            </a:r>
          </a:p>
        </p:txBody>
      </p:sp>
      <p:sp>
        <p:nvSpPr>
          <p:cNvPr id="29" name="Rounded Rectangle 28"/>
          <p:cNvSpPr/>
          <p:nvPr/>
        </p:nvSpPr>
        <p:spPr>
          <a:xfrm>
            <a:off x="6903720" y="4343400"/>
            <a:ext cx="2240280" cy="1874519"/>
          </a:xfrm>
          <a:prstGeom prst="roundRect">
            <a:avLst>
              <a:gd name="adj" fmla="val 5000"/>
            </a:avLst>
          </a:prstGeom>
          <a:solidFill>
            <a:srgbClr val="FFFFFF"/>
          </a:solidFill>
          <a:ln w="12700">
            <a:solidFill>
              <a:srgbClr val="D9E3DC"/>
            </a:solidFill>
          </a:ln>
          <a:effectLst>
            <a:outerShdw blurRad="127000" dist="25400" dir="5400000" algn="bl" rotWithShape="0">
              <a:srgbClr val="0E1F17">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7132320" y="4544568"/>
            <a:ext cx="457200" cy="457200"/>
          </a:xfrm>
          <a:prstGeom prst="ellipse">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circle-check.png"/>
          <p:cNvPicPr>
            <a:picLocks noChangeAspect="1"/>
          </p:cNvPicPr>
          <p:nvPr/>
        </p:nvPicPr>
        <p:blipFill>
          <a:blip r:embed="rId6"/>
          <a:stretch>
            <a:fillRect/>
          </a:stretch>
        </p:blipFill>
        <p:spPr>
          <a:xfrm>
            <a:off x="7246620" y="4658868"/>
            <a:ext cx="228600" cy="228600"/>
          </a:xfrm>
          <a:prstGeom prst="rect">
            <a:avLst/>
          </a:prstGeom>
        </p:spPr>
      </p:pic>
      <p:sp>
        <p:nvSpPr>
          <p:cNvPr id="32" name="TextBox 31"/>
          <p:cNvSpPr txBox="1"/>
          <p:nvPr/>
        </p:nvSpPr>
        <p:spPr>
          <a:xfrm>
            <a:off x="7699248" y="4590288"/>
            <a:ext cx="1371600" cy="365760"/>
          </a:xfrm>
          <a:prstGeom prst="rect">
            <a:avLst/>
          </a:prstGeom>
          <a:noFill/>
        </p:spPr>
        <p:txBody>
          <a:bodyPr wrap="square" lIns="0" tIns="0" rIns="0" bIns="0" anchor="t">
            <a:spAutoFit/>
          </a:bodyPr>
          <a:lstStyle/>
          <a:p>
            <a:pPr algn="l"/>
            <a:r>
              <a:rPr sz="1500" b="1">
                <a:solidFill>
                  <a:srgbClr val="1F6B3A"/>
                </a:solidFill>
                <a:latin typeface="Calibri"/>
              </a:rPr>
              <a:t>Yes, fixed</a:t>
            </a:r>
          </a:p>
        </p:txBody>
      </p:sp>
      <p:sp>
        <p:nvSpPr>
          <p:cNvPr id="33" name="TextBox 32"/>
          <p:cNvSpPr txBox="1"/>
          <p:nvPr/>
        </p:nvSpPr>
        <p:spPr>
          <a:xfrm>
            <a:off x="7132320" y="5138928"/>
            <a:ext cx="1828800" cy="1005840"/>
          </a:xfrm>
          <a:prstGeom prst="rect">
            <a:avLst/>
          </a:prstGeom>
          <a:noFill/>
        </p:spPr>
        <p:txBody>
          <a:bodyPr wrap="square" lIns="0" tIns="0" rIns="0" bIns="0" anchor="t">
            <a:spAutoFit/>
          </a:bodyPr>
          <a:lstStyle/>
          <a:p>
            <a:pPr algn="l"/>
            <a:r>
              <a:rPr sz="1200" b="0">
                <a:solidFill>
                  <a:srgbClr val="14231B"/>
                </a:solidFill>
                <a:latin typeface="Calibri"/>
              </a:rPr>
              <a:t>Counted as a resident-confirmed fix on the model quality card.</a:t>
            </a:r>
          </a:p>
        </p:txBody>
      </p:sp>
      <p:sp>
        <p:nvSpPr>
          <p:cNvPr id="34" name="Rounded Rectangle 33"/>
          <p:cNvSpPr/>
          <p:nvPr/>
        </p:nvSpPr>
        <p:spPr>
          <a:xfrm>
            <a:off x="9308592" y="4343400"/>
            <a:ext cx="2240280" cy="1874519"/>
          </a:xfrm>
          <a:prstGeom prst="roundRect">
            <a:avLst>
              <a:gd name="adj" fmla="val 5000"/>
            </a:avLst>
          </a:prstGeom>
          <a:solidFill>
            <a:srgbClr val="FFFFFF"/>
          </a:solidFill>
          <a:ln w="12700">
            <a:solidFill>
              <a:srgbClr val="D9E3DC"/>
            </a:solidFill>
          </a:ln>
          <a:effectLst>
            <a:outerShdw blurRad="127000" dist="25400" dir="5400000" algn="bl" rotWithShape="0">
              <a:srgbClr val="0E1F17">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9537192" y="4544568"/>
            <a:ext cx="457200" cy="457200"/>
          </a:xfrm>
          <a:prstGeom prst="ellipse">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Picture 35" descr="rotate-left.png"/>
          <p:cNvPicPr>
            <a:picLocks noChangeAspect="1"/>
          </p:cNvPicPr>
          <p:nvPr/>
        </p:nvPicPr>
        <p:blipFill>
          <a:blip r:embed="rId8"/>
          <a:stretch>
            <a:fillRect/>
          </a:stretch>
        </p:blipFill>
        <p:spPr>
          <a:xfrm>
            <a:off x="9651492" y="4658868"/>
            <a:ext cx="228600" cy="228600"/>
          </a:xfrm>
          <a:prstGeom prst="rect">
            <a:avLst/>
          </a:prstGeom>
        </p:spPr>
      </p:pic>
      <p:sp>
        <p:nvSpPr>
          <p:cNvPr id="37" name="TextBox 36"/>
          <p:cNvSpPr txBox="1"/>
          <p:nvPr/>
        </p:nvSpPr>
        <p:spPr>
          <a:xfrm>
            <a:off x="10104120" y="4590288"/>
            <a:ext cx="1371600" cy="365760"/>
          </a:xfrm>
          <a:prstGeom prst="rect">
            <a:avLst/>
          </a:prstGeom>
          <a:noFill/>
        </p:spPr>
        <p:txBody>
          <a:bodyPr wrap="square" lIns="0" tIns="0" rIns="0" bIns="0" anchor="t">
            <a:spAutoFit/>
          </a:bodyPr>
          <a:lstStyle/>
          <a:p>
            <a:pPr algn="l"/>
            <a:r>
              <a:rPr sz="1500" b="1">
                <a:solidFill>
                  <a:srgbClr val="B4432C"/>
                </a:solidFill>
                <a:latin typeface="Calibri"/>
              </a:rPr>
              <a:t>Still there</a:t>
            </a:r>
          </a:p>
        </p:txBody>
      </p:sp>
      <p:sp>
        <p:nvSpPr>
          <p:cNvPr id="38" name="TextBox 37"/>
          <p:cNvSpPr txBox="1"/>
          <p:nvPr/>
        </p:nvSpPr>
        <p:spPr>
          <a:xfrm>
            <a:off x="9537192" y="5138928"/>
            <a:ext cx="1828800" cy="1005840"/>
          </a:xfrm>
          <a:prstGeom prst="rect">
            <a:avLst/>
          </a:prstGeom>
          <a:noFill/>
        </p:spPr>
        <p:txBody>
          <a:bodyPr wrap="square" lIns="0" tIns="0" rIns="0" bIns="0" anchor="t">
            <a:spAutoFit/>
          </a:bodyPr>
          <a:lstStyle/>
          <a:p>
            <a:pPr algn="l"/>
            <a:r>
              <a:rPr sz="1200" b="0">
                <a:solidFill>
                  <a:srgbClr val="14231B"/>
                </a:solidFill>
                <a:latin typeface="Calibri"/>
              </a:rPr>
              <a:t>Reopens as Disputed and goes back to the operator queue.</a:t>
            </a:r>
          </a:p>
        </p:txBody>
      </p:sp>
      <p:cxnSp>
        <p:nvCxnSpPr>
          <p:cNvPr id="39" name="Connector 38"/>
          <p:cNvCxnSpPr/>
          <p:nvPr/>
        </p:nvCxnSpPr>
        <p:spPr>
          <a:xfrm>
            <a:off x="10552176" y="3858768"/>
            <a:ext cx="0" cy="219456"/>
          </a:xfrm>
          <a:prstGeom prst="line">
            <a:avLst/>
          </a:prstGeom>
          <a:ln w="22225">
            <a:solidFill>
              <a:srgbClr val="9CC9AC"/>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028431" y="4078224"/>
            <a:ext cx="2523745" cy="0"/>
          </a:xfrm>
          <a:prstGeom prst="line">
            <a:avLst/>
          </a:prstGeom>
          <a:ln w="22225">
            <a:solidFill>
              <a:srgbClr val="9CC9AC"/>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028431" y="4078224"/>
            <a:ext cx="0" cy="246888"/>
          </a:xfrm>
          <a:prstGeom prst="line">
            <a:avLst/>
          </a:prstGeom>
          <a:ln w="22225">
            <a:solidFill>
              <a:srgbClr val="9CC9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0424160" y="4078224"/>
            <a:ext cx="0" cy="246888"/>
          </a:xfrm>
          <a:prstGeom prst="line">
            <a:avLst/>
          </a:prstGeom>
          <a:ln w="22225">
            <a:solidFill>
              <a:srgbClr val="9CC9AC"/>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640080" y="4343400"/>
            <a:ext cx="6035040" cy="1874519"/>
          </a:xfrm>
          <a:prstGeom prst="roundRect">
            <a:avLst>
              <a:gd name="adj" fmla="val 5000"/>
            </a:avLst>
          </a:prstGeom>
          <a:solidFill>
            <a:srgbClr val="FFFFFF"/>
          </a:solidFill>
          <a:ln w="12700">
            <a:solidFill>
              <a:srgbClr val="D9E3DC"/>
            </a:solidFill>
          </a:ln>
          <a:effectLst>
            <a:outerShdw blurRad="127000" dist="25400" dir="5400000" algn="bl" rotWithShape="0">
              <a:srgbClr val="0E1F17">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14400" y="4526280"/>
            <a:ext cx="5486400" cy="320040"/>
          </a:xfrm>
          <a:prstGeom prst="rect">
            <a:avLst/>
          </a:prstGeom>
          <a:noFill/>
        </p:spPr>
        <p:txBody>
          <a:bodyPr wrap="square" lIns="0" tIns="0" rIns="0" bIns="0" anchor="t">
            <a:spAutoFit/>
          </a:bodyPr>
          <a:lstStyle/>
          <a:p>
            <a:pPr algn="l"/>
            <a:r>
              <a:rPr sz="1400" b="1">
                <a:solidFill>
                  <a:srgbClr val="1F6B3A"/>
                </a:solidFill>
                <a:latin typeface="Calibri"/>
              </a:rPr>
              <a:t>Every step is logged, so repeats show up</a:t>
            </a:r>
          </a:p>
        </p:txBody>
      </p:sp>
      <p:sp>
        <p:nvSpPr>
          <p:cNvPr id="45" name="Rounded Rectangle 44"/>
          <p:cNvSpPr/>
          <p:nvPr/>
        </p:nvSpPr>
        <p:spPr>
          <a:xfrm>
            <a:off x="914400" y="4956048"/>
            <a:ext cx="727862" cy="310896"/>
          </a:xfrm>
          <a:prstGeom prst="roundRect">
            <a:avLst>
              <a:gd name="adj" fmla="val 50000"/>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Calibri"/>
              </a:rPr>
              <a:t>promoted</a:t>
            </a:r>
          </a:p>
        </p:txBody>
      </p:sp>
      <p:sp>
        <p:nvSpPr>
          <p:cNvPr id="46" name="Rounded Rectangle 45"/>
          <p:cNvSpPr/>
          <p:nvPr/>
        </p:nvSpPr>
        <p:spPr>
          <a:xfrm>
            <a:off x="1733702" y="4956048"/>
            <a:ext cx="727862" cy="310896"/>
          </a:xfrm>
          <a:prstGeom prst="roundRect">
            <a:avLst>
              <a:gd name="adj" fmla="val 50000"/>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Calibri"/>
              </a:rPr>
              <a:t>reopened</a:t>
            </a:r>
          </a:p>
        </p:txBody>
      </p:sp>
      <p:sp>
        <p:nvSpPr>
          <p:cNvPr id="47" name="Rounded Rectangle 46"/>
          <p:cNvSpPr/>
          <p:nvPr/>
        </p:nvSpPr>
        <p:spPr>
          <a:xfrm>
            <a:off x="2553004" y="4956048"/>
            <a:ext cx="859536" cy="310896"/>
          </a:xfrm>
          <a:prstGeom prst="roundRect">
            <a:avLst>
              <a:gd name="adj" fmla="val 50000"/>
            </a:avLst>
          </a:prstGeom>
          <a:solidFill>
            <a:srgbClr val="117C72"/>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Calibri"/>
              </a:rPr>
              <a:t>dispatched</a:t>
            </a:r>
          </a:p>
        </p:txBody>
      </p:sp>
      <p:sp>
        <p:nvSpPr>
          <p:cNvPr id="48" name="Rounded Rectangle 47"/>
          <p:cNvSpPr/>
          <p:nvPr/>
        </p:nvSpPr>
        <p:spPr>
          <a:xfrm>
            <a:off x="3503980" y="4956048"/>
            <a:ext cx="727862" cy="310896"/>
          </a:xfrm>
          <a:prstGeom prst="roundRect">
            <a:avLst>
              <a:gd name="adj" fmla="val 50000"/>
            </a:avLst>
          </a:prstGeom>
          <a:solidFill>
            <a:srgbClr val="117C72"/>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Calibri"/>
              </a:rPr>
              <a:t>resolved</a:t>
            </a:r>
          </a:p>
        </p:txBody>
      </p:sp>
      <p:sp>
        <p:nvSpPr>
          <p:cNvPr id="49" name="Rounded Rectangle 48"/>
          <p:cNvSpPr/>
          <p:nvPr/>
        </p:nvSpPr>
        <p:spPr>
          <a:xfrm>
            <a:off x="4323283" y="4956048"/>
            <a:ext cx="1057046" cy="310896"/>
          </a:xfrm>
          <a:prstGeom prst="roundRect">
            <a:avLst>
              <a:gd name="adj" fmla="val 50000"/>
            </a:avLst>
          </a:prstGeom>
          <a:solidFill>
            <a:srgbClr val="1F6B3A"/>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Calibri"/>
              </a:rPr>
              <a:t>fix confirmed</a:t>
            </a:r>
          </a:p>
        </p:txBody>
      </p:sp>
      <p:sp>
        <p:nvSpPr>
          <p:cNvPr id="50" name="Rounded Rectangle 49"/>
          <p:cNvSpPr/>
          <p:nvPr/>
        </p:nvSpPr>
        <p:spPr>
          <a:xfrm>
            <a:off x="5471769" y="4956048"/>
            <a:ext cx="727862" cy="310896"/>
          </a:xfrm>
          <a:prstGeom prst="roundRect">
            <a:avLst>
              <a:gd name="adj" fmla="val 50000"/>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latin typeface="Calibri"/>
              </a:rPr>
              <a:t>disputed</a:t>
            </a:r>
          </a:p>
        </p:txBody>
      </p:sp>
      <p:sp>
        <p:nvSpPr>
          <p:cNvPr id="51" name="TextBox 50"/>
          <p:cNvSpPr txBox="1"/>
          <p:nvPr/>
        </p:nvSpPr>
        <p:spPr>
          <a:xfrm>
            <a:off x="914400" y="5468112"/>
            <a:ext cx="5532120" cy="685800"/>
          </a:xfrm>
          <a:prstGeom prst="rect">
            <a:avLst/>
          </a:prstGeom>
          <a:noFill/>
        </p:spPr>
        <p:txBody>
          <a:bodyPr wrap="square" lIns="0" tIns="0" rIns="0" bIns="0" anchor="t">
            <a:spAutoFit/>
          </a:bodyPr>
          <a:lstStyle/>
          <a:p>
            <a:pPr algn="l"/>
            <a:r>
              <a:rPr sz="1200" b="1">
                <a:solidFill>
                  <a:srgbClr val="14231B"/>
                </a:solidFill>
                <a:latin typeface="Calibri"/>
              </a:rPr>
              <a:t>Repeat hotspot: </a:t>
            </a:r>
            <a:r>
              <a:rPr sz="1200" b="0">
                <a:solidFill>
                  <a:srgbClr val="14231B"/>
                </a:solidFill>
                <a:latin typeface="Calibri"/>
              </a:rPr>
              <a:t>3+ episodes in 30 days, reports on 3+ days, or a fix that did not hold. The next work order asks for action at the source.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8229600" cy="274320"/>
          </a:xfrm>
          <a:prstGeom prst="rect">
            <a:avLst/>
          </a:prstGeom>
          <a:noFill/>
        </p:spPr>
        <p:txBody>
          <a:bodyPr wrap="square" lIns="0" tIns="0" rIns="0" bIns="0" anchor="t">
            <a:spAutoFit/>
          </a:bodyPr>
          <a:lstStyle/>
          <a:p>
            <a:pPr algn="l"/>
            <a:r>
              <a:rPr sz="1200" b="1" spc="300">
                <a:solidFill>
                  <a:srgbClr val="2E9E55"/>
                </a:solidFill>
                <a:latin typeface="Calibri"/>
              </a:rPr>
              <a:t>FORECASTS IN EVERY CITY</a:t>
            </a:r>
          </a:p>
        </p:txBody>
      </p:sp>
      <p:sp>
        <p:nvSpPr>
          <p:cNvPr id="3" name="TextBox 2"/>
          <p:cNvSpPr txBox="1"/>
          <p:nvPr/>
        </p:nvSpPr>
        <p:spPr>
          <a:xfrm>
            <a:off x="640080" y="777240"/>
            <a:ext cx="10881360" cy="822960"/>
          </a:xfrm>
          <a:prstGeom prst="rect">
            <a:avLst/>
          </a:prstGeom>
          <a:noFill/>
        </p:spPr>
        <p:txBody>
          <a:bodyPr wrap="square" lIns="0" tIns="0" rIns="0" bIns="0" anchor="t">
            <a:spAutoFit/>
          </a:bodyPr>
          <a:lstStyle/>
          <a:p>
            <a:pPr algn="l"/>
            <a:r>
              <a:rPr sz="3200" b="1">
                <a:solidFill>
                  <a:srgbClr val="14231B"/>
                </a:solidFill>
                <a:latin typeface="Georgia"/>
              </a:rPr>
              <a:t>From raw feeds to an honest 24-hour outlook</a:t>
            </a:r>
          </a:p>
        </p:txBody>
      </p:sp>
      <p:sp>
        <p:nvSpPr>
          <p:cNvPr id="4" name="TextBox 3"/>
          <p:cNvSpPr txBox="1"/>
          <p:nvPr/>
        </p:nvSpPr>
        <p:spPr>
          <a:xfrm>
            <a:off x="10908792" y="6446520"/>
            <a:ext cx="640080" cy="228600"/>
          </a:xfrm>
          <a:prstGeom prst="rect">
            <a:avLst/>
          </a:prstGeom>
          <a:noFill/>
        </p:spPr>
        <p:txBody>
          <a:bodyPr wrap="square" lIns="0" tIns="0" rIns="0" bIns="0" anchor="t">
            <a:spAutoFit/>
          </a:bodyPr>
          <a:lstStyle/>
          <a:p>
            <a:pPr algn="r"/>
            <a:r>
              <a:rPr sz="1000" b="0">
                <a:solidFill>
                  <a:srgbClr val="56655C"/>
                </a:solidFill>
                <a:latin typeface="Calibri"/>
              </a:rPr>
              <a:t>10 / 12</a:t>
            </a:r>
          </a:p>
        </p:txBody>
      </p:sp>
      <p:sp>
        <p:nvSpPr>
          <p:cNvPr id="5" name="Rounded Rectangle 4"/>
          <p:cNvSpPr/>
          <p:nvPr/>
        </p:nvSpPr>
        <p:spPr>
          <a:xfrm>
            <a:off x="640080" y="1691640"/>
            <a:ext cx="2697480" cy="640080"/>
          </a:xfrm>
          <a:prstGeom prst="roundRect">
            <a:avLst>
              <a:gd name="adj" fmla="val 5000"/>
            </a:avLst>
          </a:prstGeom>
          <a:solidFill>
            <a:srgbClr val="FFFFFF"/>
          </a:solidFill>
          <a:ln w="12700">
            <a:solidFill>
              <a:srgbClr val="D9E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77240" y="1819656"/>
            <a:ext cx="384048" cy="384048"/>
          </a:xfrm>
          <a:prstGeom prst="ellipse">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tower-broadcast.png"/>
          <p:cNvPicPr>
            <a:picLocks noChangeAspect="1"/>
          </p:cNvPicPr>
          <p:nvPr/>
        </p:nvPicPr>
        <p:blipFill>
          <a:blip r:embed="rId3"/>
          <a:stretch>
            <a:fillRect/>
          </a:stretch>
        </p:blipFill>
        <p:spPr>
          <a:xfrm>
            <a:off x="873252" y="1915668"/>
            <a:ext cx="192024" cy="192024"/>
          </a:xfrm>
          <a:prstGeom prst="rect">
            <a:avLst/>
          </a:prstGeom>
        </p:spPr>
      </p:pic>
      <p:sp>
        <p:nvSpPr>
          <p:cNvPr id="8" name="TextBox 7"/>
          <p:cNvSpPr txBox="1"/>
          <p:nvPr/>
        </p:nvSpPr>
        <p:spPr>
          <a:xfrm>
            <a:off x="1280160" y="1764792"/>
            <a:ext cx="2011680" cy="274320"/>
          </a:xfrm>
          <a:prstGeom prst="rect">
            <a:avLst/>
          </a:prstGeom>
          <a:noFill/>
        </p:spPr>
        <p:txBody>
          <a:bodyPr wrap="square" lIns="0" tIns="0" rIns="0" bIns="0" anchor="t">
            <a:spAutoFit/>
          </a:bodyPr>
          <a:lstStyle/>
          <a:p>
            <a:pPr algn="l"/>
            <a:r>
              <a:rPr sz="1250" b="1">
                <a:solidFill>
                  <a:srgbClr val="14231B"/>
                </a:solidFill>
                <a:latin typeface="Calibri"/>
              </a:rPr>
              <a:t>Ground stations</a:t>
            </a:r>
          </a:p>
        </p:txBody>
      </p:sp>
      <p:sp>
        <p:nvSpPr>
          <p:cNvPr id="9" name="TextBox 8"/>
          <p:cNvSpPr txBox="1"/>
          <p:nvPr/>
        </p:nvSpPr>
        <p:spPr>
          <a:xfrm>
            <a:off x="1280160" y="2020824"/>
            <a:ext cx="2011680" cy="274320"/>
          </a:xfrm>
          <a:prstGeom prst="rect">
            <a:avLst/>
          </a:prstGeom>
          <a:noFill/>
        </p:spPr>
        <p:txBody>
          <a:bodyPr wrap="square" lIns="0" tIns="0" rIns="0" bIns="0" anchor="t">
            <a:spAutoFit/>
          </a:bodyPr>
          <a:lstStyle/>
          <a:p>
            <a:pPr algn="l"/>
            <a:r>
              <a:rPr sz="1050" b="0">
                <a:solidFill>
                  <a:srgbClr val="56655C"/>
                </a:solidFill>
                <a:latin typeface="Calibri"/>
              </a:rPr>
              <a:t>OpenAQ, WAQI and CPCB, merged</a:t>
            </a:r>
          </a:p>
        </p:txBody>
      </p:sp>
      <p:sp>
        <p:nvSpPr>
          <p:cNvPr id="10" name="Rounded Rectangle 9"/>
          <p:cNvSpPr/>
          <p:nvPr/>
        </p:nvSpPr>
        <p:spPr>
          <a:xfrm>
            <a:off x="640080" y="2450592"/>
            <a:ext cx="2697480" cy="640080"/>
          </a:xfrm>
          <a:prstGeom prst="roundRect">
            <a:avLst>
              <a:gd name="adj" fmla="val 5000"/>
            </a:avLst>
          </a:prstGeom>
          <a:solidFill>
            <a:srgbClr val="FFFFFF"/>
          </a:solidFill>
          <a:ln w="12700">
            <a:solidFill>
              <a:srgbClr val="D9E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77240" y="2578608"/>
            <a:ext cx="384048" cy="384048"/>
          </a:xfrm>
          <a:prstGeom prst="ellipse">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heart-pulse.png"/>
          <p:cNvPicPr>
            <a:picLocks noChangeAspect="1"/>
          </p:cNvPicPr>
          <p:nvPr/>
        </p:nvPicPr>
        <p:blipFill>
          <a:blip r:embed="rId4"/>
          <a:stretch>
            <a:fillRect/>
          </a:stretch>
        </p:blipFill>
        <p:spPr>
          <a:xfrm>
            <a:off x="873252" y="2674620"/>
            <a:ext cx="192024" cy="192024"/>
          </a:xfrm>
          <a:prstGeom prst="rect">
            <a:avLst/>
          </a:prstGeom>
        </p:spPr>
      </p:pic>
      <p:sp>
        <p:nvSpPr>
          <p:cNvPr id="13" name="TextBox 12"/>
          <p:cNvSpPr txBox="1"/>
          <p:nvPr/>
        </p:nvSpPr>
        <p:spPr>
          <a:xfrm>
            <a:off x="1280160" y="2523744"/>
            <a:ext cx="2011680" cy="274320"/>
          </a:xfrm>
          <a:prstGeom prst="rect">
            <a:avLst/>
          </a:prstGeom>
          <a:noFill/>
        </p:spPr>
        <p:txBody>
          <a:bodyPr wrap="square" lIns="0" tIns="0" rIns="0" bIns="0" anchor="t">
            <a:spAutoFit/>
          </a:bodyPr>
          <a:lstStyle/>
          <a:p>
            <a:pPr algn="l"/>
            <a:r>
              <a:rPr sz="1250" b="1">
                <a:solidFill>
                  <a:srgbClr val="14231B"/>
                </a:solidFill>
                <a:latin typeface="Calibri"/>
              </a:rPr>
              <a:t>Google Air Quality</a:t>
            </a:r>
          </a:p>
        </p:txBody>
      </p:sp>
      <p:sp>
        <p:nvSpPr>
          <p:cNvPr id="14" name="TextBox 13"/>
          <p:cNvSpPr txBox="1"/>
          <p:nvPr/>
        </p:nvSpPr>
        <p:spPr>
          <a:xfrm>
            <a:off x="1280160" y="2779776"/>
            <a:ext cx="2011680" cy="274320"/>
          </a:xfrm>
          <a:prstGeom prst="rect">
            <a:avLst/>
          </a:prstGeom>
          <a:noFill/>
        </p:spPr>
        <p:txBody>
          <a:bodyPr wrap="square" lIns="0" tIns="0" rIns="0" bIns="0" anchor="t">
            <a:spAutoFit/>
          </a:bodyPr>
          <a:lstStyle/>
          <a:p>
            <a:pPr algn="l"/>
            <a:r>
              <a:rPr sz="1050" b="0">
                <a:solidFill>
                  <a:srgbClr val="56655C"/>
                </a:solidFill>
                <a:latin typeface="Calibri"/>
              </a:rPr>
              <a:t>Hourly history, health advice</a:t>
            </a:r>
          </a:p>
        </p:txBody>
      </p:sp>
      <p:sp>
        <p:nvSpPr>
          <p:cNvPr id="15" name="Rounded Rectangle 14"/>
          <p:cNvSpPr/>
          <p:nvPr/>
        </p:nvSpPr>
        <p:spPr>
          <a:xfrm>
            <a:off x="640080" y="3209544"/>
            <a:ext cx="2697480" cy="640080"/>
          </a:xfrm>
          <a:prstGeom prst="roundRect">
            <a:avLst>
              <a:gd name="adj" fmla="val 5000"/>
            </a:avLst>
          </a:prstGeom>
          <a:solidFill>
            <a:srgbClr val="FFFFFF"/>
          </a:solidFill>
          <a:ln w="12700">
            <a:solidFill>
              <a:srgbClr val="D9E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77240" y="3337560"/>
            <a:ext cx="384048" cy="384048"/>
          </a:xfrm>
          <a:prstGeom prst="ellipse">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satellite-dish.png"/>
          <p:cNvPicPr>
            <a:picLocks noChangeAspect="1"/>
          </p:cNvPicPr>
          <p:nvPr/>
        </p:nvPicPr>
        <p:blipFill>
          <a:blip r:embed="rId5"/>
          <a:stretch>
            <a:fillRect/>
          </a:stretch>
        </p:blipFill>
        <p:spPr>
          <a:xfrm>
            <a:off x="873252" y="3433572"/>
            <a:ext cx="192024" cy="192024"/>
          </a:xfrm>
          <a:prstGeom prst="rect">
            <a:avLst/>
          </a:prstGeom>
        </p:spPr>
      </p:pic>
      <p:sp>
        <p:nvSpPr>
          <p:cNvPr id="18" name="TextBox 17"/>
          <p:cNvSpPr txBox="1"/>
          <p:nvPr/>
        </p:nvSpPr>
        <p:spPr>
          <a:xfrm>
            <a:off x="1280160" y="3282696"/>
            <a:ext cx="2011680" cy="274320"/>
          </a:xfrm>
          <a:prstGeom prst="rect">
            <a:avLst/>
          </a:prstGeom>
          <a:noFill/>
        </p:spPr>
        <p:txBody>
          <a:bodyPr wrap="square" lIns="0" tIns="0" rIns="0" bIns="0" anchor="t">
            <a:spAutoFit/>
          </a:bodyPr>
          <a:lstStyle/>
          <a:p>
            <a:pPr algn="l"/>
            <a:r>
              <a:rPr sz="1250" b="1">
                <a:solidFill>
                  <a:srgbClr val="14231B"/>
                </a:solidFill>
                <a:latin typeface="Calibri"/>
              </a:rPr>
              <a:t>Earth Engine</a:t>
            </a:r>
          </a:p>
        </p:txBody>
      </p:sp>
      <p:sp>
        <p:nvSpPr>
          <p:cNvPr id="19" name="TextBox 18"/>
          <p:cNvSpPr txBox="1"/>
          <p:nvPr/>
        </p:nvSpPr>
        <p:spPr>
          <a:xfrm>
            <a:off x="1280160" y="3538727"/>
            <a:ext cx="2011680" cy="274320"/>
          </a:xfrm>
          <a:prstGeom prst="rect">
            <a:avLst/>
          </a:prstGeom>
          <a:noFill/>
        </p:spPr>
        <p:txBody>
          <a:bodyPr wrap="square" lIns="0" tIns="0" rIns="0" bIns="0" anchor="t">
            <a:spAutoFit/>
          </a:bodyPr>
          <a:lstStyle/>
          <a:p>
            <a:pPr algn="l"/>
            <a:r>
              <a:rPr sz="1050" b="0">
                <a:solidFill>
                  <a:srgbClr val="56655C"/>
                </a:solidFill>
                <a:latin typeface="Calibri"/>
              </a:rPr>
              <a:t>Sentinel-5P, FIRMS, WorldPop</a:t>
            </a:r>
          </a:p>
        </p:txBody>
      </p:sp>
      <p:sp>
        <p:nvSpPr>
          <p:cNvPr id="20" name="Rounded Rectangle 19"/>
          <p:cNvSpPr/>
          <p:nvPr/>
        </p:nvSpPr>
        <p:spPr>
          <a:xfrm>
            <a:off x="640080" y="3968496"/>
            <a:ext cx="2697480" cy="640080"/>
          </a:xfrm>
          <a:prstGeom prst="roundRect">
            <a:avLst>
              <a:gd name="adj" fmla="val 5000"/>
            </a:avLst>
          </a:prstGeom>
          <a:solidFill>
            <a:srgbClr val="FFFFFF"/>
          </a:solidFill>
          <a:ln w="12700">
            <a:solidFill>
              <a:srgbClr val="D9E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777240" y="4096511"/>
            <a:ext cx="384048" cy="384048"/>
          </a:xfrm>
          <a:prstGeom prst="ellipse">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image.png"/>
          <p:cNvPicPr>
            <a:picLocks noChangeAspect="1"/>
          </p:cNvPicPr>
          <p:nvPr/>
        </p:nvPicPr>
        <p:blipFill>
          <a:blip r:embed="rId6"/>
          <a:stretch>
            <a:fillRect/>
          </a:stretch>
        </p:blipFill>
        <p:spPr>
          <a:xfrm>
            <a:off x="873252" y="4192524"/>
            <a:ext cx="192024" cy="192024"/>
          </a:xfrm>
          <a:prstGeom prst="rect">
            <a:avLst/>
          </a:prstGeom>
        </p:spPr>
      </p:pic>
      <p:sp>
        <p:nvSpPr>
          <p:cNvPr id="23" name="TextBox 22"/>
          <p:cNvSpPr txBox="1"/>
          <p:nvPr/>
        </p:nvSpPr>
        <p:spPr>
          <a:xfrm>
            <a:off x="1280160" y="4041648"/>
            <a:ext cx="2011680" cy="274320"/>
          </a:xfrm>
          <a:prstGeom prst="rect">
            <a:avLst/>
          </a:prstGeom>
          <a:noFill/>
        </p:spPr>
        <p:txBody>
          <a:bodyPr wrap="square" lIns="0" tIns="0" rIns="0" bIns="0" anchor="t">
            <a:spAutoFit/>
          </a:bodyPr>
          <a:lstStyle/>
          <a:p>
            <a:pPr algn="l"/>
            <a:r>
              <a:rPr sz="1250" b="1">
                <a:solidFill>
                  <a:srgbClr val="14231B"/>
                </a:solidFill>
                <a:latin typeface="Calibri"/>
              </a:rPr>
              <a:t>Open-Meteo</a:t>
            </a:r>
          </a:p>
        </p:txBody>
      </p:sp>
      <p:sp>
        <p:nvSpPr>
          <p:cNvPr id="24" name="TextBox 23"/>
          <p:cNvSpPr txBox="1"/>
          <p:nvPr/>
        </p:nvSpPr>
        <p:spPr>
          <a:xfrm>
            <a:off x="1280160" y="4297680"/>
            <a:ext cx="2011680" cy="274320"/>
          </a:xfrm>
          <a:prstGeom prst="rect">
            <a:avLst/>
          </a:prstGeom>
          <a:noFill/>
        </p:spPr>
        <p:txBody>
          <a:bodyPr wrap="square" lIns="0" tIns="0" rIns="0" bIns="0" anchor="t">
            <a:spAutoFit/>
          </a:bodyPr>
          <a:lstStyle/>
          <a:p>
            <a:pPr algn="l"/>
            <a:r>
              <a:rPr sz="1050" b="0">
                <a:solidFill>
                  <a:srgbClr val="56655C"/>
                </a:solidFill>
                <a:latin typeface="Calibri"/>
              </a:rPr>
              <a:t>Live wind for attribution</a:t>
            </a:r>
          </a:p>
        </p:txBody>
      </p:sp>
      <p:sp>
        <p:nvSpPr>
          <p:cNvPr id="25" name="Right Arrow 24"/>
          <p:cNvSpPr/>
          <p:nvPr/>
        </p:nvSpPr>
        <p:spPr>
          <a:xfrm>
            <a:off x="3456432" y="2871216"/>
            <a:ext cx="310896" cy="256032"/>
          </a:xfrm>
          <a:prstGeom prst="rightArrow">
            <a:avLst/>
          </a:prstGeom>
          <a:solidFill>
            <a:srgbClr val="CF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3886200" y="2148840"/>
            <a:ext cx="1554480" cy="1691640"/>
          </a:xfrm>
          <a:prstGeom prst="roundRect">
            <a:avLst>
              <a:gd name="adj" fmla="val 5000"/>
            </a:avLst>
          </a:prstGeom>
          <a:solidFill>
            <a:srgbClr val="FFFFFF"/>
          </a:solidFill>
          <a:ln w="12700">
            <a:solidFill>
              <a:srgbClr val="D9E3DC"/>
            </a:solidFill>
          </a:ln>
          <a:effectLst>
            <a:outerShdw blurRad="127000" dist="25400" dir="5400000" algn="bl" rotWithShape="0">
              <a:srgbClr val="0E1F17">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4389120" y="2331720"/>
            <a:ext cx="548640" cy="548640"/>
          </a:xfrm>
          <a:prstGeom prst="ellipse">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clock.png"/>
          <p:cNvPicPr>
            <a:picLocks noChangeAspect="1"/>
          </p:cNvPicPr>
          <p:nvPr/>
        </p:nvPicPr>
        <p:blipFill>
          <a:blip r:embed="rId7"/>
          <a:stretch>
            <a:fillRect/>
          </a:stretch>
        </p:blipFill>
        <p:spPr>
          <a:xfrm>
            <a:off x="4526280" y="2468879"/>
            <a:ext cx="274320" cy="274320"/>
          </a:xfrm>
          <a:prstGeom prst="rect">
            <a:avLst/>
          </a:prstGeom>
        </p:spPr>
      </p:pic>
      <p:sp>
        <p:nvSpPr>
          <p:cNvPr id="29" name="TextBox 28"/>
          <p:cNvSpPr txBox="1"/>
          <p:nvPr/>
        </p:nvSpPr>
        <p:spPr>
          <a:xfrm>
            <a:off x="3931920" y="2971800"/>
            <a:ext cx="1463040" cy="320040"/>
          </a:xfrm>
          <a:prstGeom prst="rect">
            <a:avLst/>
          </a:prstGeom>
          <a:noFill/>
        </p:spPr>
        <p:txBody>
          <a:bodyPr wrap="square" lIns="0" tIns="0" rIns="0" bIns="0" anchor="t">
            <a:spAutoFit/>
          </a:bodyPr>
          <a:lstStyle/>
          <a:p>
            <a:pPr algn="ctr"/>
            <a:r>
              <a:rPr sz="1250" b="1">
                <a:solidFill>
                  <a:srgbClr val="14231B"/>
                </a:solidFill>
                <a:latin typeface="Calibri"/>
              </a:rPr>
              <a:t>Cloud Scheduler</a:t>
            </a:r>
          </a:p>
        </p:txBody>
      </p:sp>
      <p:sp>
        <p:nvSpPr>
          <p:cNvPr id="30" name="TextBox 29"/>
          <p:cNvSpPr txBox="1"/>
          <p:nvPr/>
        </p:nvSpPr>
        <p:spPr>
          <a:xfrm>
            <a:off x="3931920" y="3273552"/>
            <a:ext cx="1463040" cy="457200"/>
          </a:xfrm>
          <a:prstGeom prst="rect">
            <a:avLst/>
          </a:prstGeom>
          <a:noFill/>
        </p:spPr>
        <p:txBody>
          <a:bodyPr wrap="square" lIns="0" tIns="0" rIns="0" bIns="0" anchor="t">
            <a:spAutoFit/>
          </a:bodyPr>
          <a:lstStyle/>
          <a:p>
            <a:pPr algn="ctr"/>
            <a:r>
              <a:rPr sz="1100" b="0">
                <a:solidFill>
                  <a:srgbClr val="56655C"/>
                </a:solidFill>
                <a:latin typeface="Calibri"/>
              </a:rPr>
              <a:t>every 30 minutes</a:t>
            </a:r>
          </a:p>
        </p:txBody>
      </p:sp>
      <p:sp>
        <p:nvSpPr>
          <p:cNvPr id="31" name="Right Arrow 30"/>
          <p:cNvSpPr/>
          <p:nvPr/>
        </p:nvSpPr>
        <p:spPr>
          <a:xfrm>
            <a:off x="5559552" y="2871216"/>
            <a:ext cx="310896" cy="256032"/>
          </a:xfrm>
          <a:prstGeom prst="rightArrow">
            <a:avLst/>
          </a:prstGeom>
          <a:solidFill>
            <a:srgbClr val="CF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5989320" y="1691640"/>
            <a:ext cx="2743200" cy="2852928"/>
          </a:xfrm>
          <a:prstGeom prst="roundRect">
            <a:avLst>
              <a:gd name="adj" fmla="val 5000"/>
            </a:avLst>
          </a:prstGeom>
          <a:solidFill>
            <a:srgbClr val="F4F8F5"/>
          </a:solidFill>
          <a:ln w="12700">
            <a:solidFill>
              <a:srgbClr val="D9E3DC"/>
            </a:solidFill>
          </a:ln>
          <a:effectLst>
            <a:outerShdw blurRad="127000" dist="25400" dir="5400000" algn="bl" rotWithShape="0">
              <a:srgbClr val="0E1F17">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6172200" y="1847088"/>
            <a:ext cx="457200" cy="457200"/>
          </a:xfrm>
          <a:prstGeom prst="ellipse">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Picture 33" descr="database.png"/>
          <p:cNvPicPr>
            <a:picLocks noChangeAspect="1"/>
          </p:cNvPicPr>
          <p:nvPr/>
        </p:nvPicPr>
        <p:blipFill>
          <a:blip r:embed="rId8"/>
          <a:stretch>
            <a:fillRect/>
          </a:stretch>
        </p:blipFill>
        <p:spPr>
          <a:xfrm>
            <a:off x="6286500" y="1961388"/>
            <a:ext cx="228600" cy="228600"/>
          </a:xfrm>
          <a:prstGeom prst="rect">
            <a:avLst/>
          </a:prstGeom>
        </p:spPr>
      </p:pic>
      <p:sp>
        <p:nvSpPr>
          <p:cNvPr id="35" name="TextBox 34"/>
          <p:cNvSpPr txBox="1"/>
          <p:nvPr/>
        </p:nvSpPr>
        <p:spPr>
          <a:xfrm>
            <a:off x="6720840" y="1920240"/>
            <a:ext cx="1920240" cy="320040"/>
          </a:xfrm>
          <a:prstGeom prst="rect">
            <a:avLst/>
          </a:prstGeom>
          <a:noFill/>
        </p:spPr>
        <p:txBody>
          <a:bodyPr wrap="square" lIns="0" tIns="0" rIns="0" bIns="0" anchor="t">
            <a:spAutoFit/>
          </a:bodyPr>
          <a:lstStyle/>
          <a:p>
            <a:pPr algn="l"/>
            <a:r>
              <a:rPr sz="1500" b="1">
                <a:solidFill>
                  <a:srgbClr val="1F6B3A"/>
                </a:solidFill>
                <a:latin typeface="Calibri"/>
              </a:rPr>
              <a:t>BigQuery</a:t>
            </a:r>
          </a:p>
        </p:txBody>
      </p:sp>
      <p:sp>
        <p:nvSpPr>
          <p:cNvPr id="36" name="Rounded Rectangle 35"/>
          <p:cNvSpPr/>
          <p:nvPr/>
        </p:nvSpPr>
        <p:spPr>
          <a:xfrm>
            <a:off x="6172200" y="2468880"/>
            <a:ext cx="2377440" cy="566928"/>
          </a:xfrm>
          <a:prstGeom prst="roundRect">
            <a:avLst>
              <a:gd name="adj" fmla="val 5000"/>
            </a:avLst>
          </a:prstGeom>
          <a:solidFill>
            <a:srgbClr val="FFFFFF"/>
          </a:solidFill>
          <a:ln w="12700">
            <a:solidFill>
              <a:srgbClr val="D9E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6291072" y="2679192"/>
            <a:ext cx="146304" cy="146304"/>
          </a:xfrm>
          <a:prstGeom prst="ellipse">
            <a:avLst/>
          </a:prstGeom>
          <a:solidFill>
            <a:srgbClr val="2E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510528" y="2532888"/>
            <a:ext cx="1993392" cy="256032"/>
          </a:xfrm>
          <a:prstGeom prst="rect">
            <a:avLst/>
          </a:prstGeom>
          <a:noFill/>
        </p:spPr>
        <p:txBody>
          <a:bodyPr wrap="square" lIns="0" tIns="0" rIns="0" bIns="0" anchor="t">
            <a:spAutoFit/>
          </a:bodyPr>
          <a:lstStyle/>
          <a:p>
            <a:pPr algn="l"/>
            <a:r>
              <a:rPr sz="1150" b="1">
                <a:solidFill>
                  <a:srgbClr val="14231B"/>
                </a:solidFill>
                <a:latin typeface="Calibri"/>
              </a:rPr>
              <a:t>Station readings</a:t>
            </a:r>
          </a:p>
        </p:txBody>
      </p:sp>
      <p:sp>
        <p:nvSpPr>
          <p:cNvPr id="39" name="TextBox 38"/>
          <p:cNvSpPr txBox="1"/>
          <p:nvPr/>
        </p:nvSpPr>
        <p:spPr>
          <a:xfrm>
            <a:off x="6510528" y="2770632"/>
            <a:ext cx="1993392" cy="256032"/>
          </a:xfrm>
          <a:prstGeom prst="rect">
            <a:avLst/>
          </a:prstGeom>
          <a:noFill/>
        </p:spPr>
        <p:txBody>
          <a:bodyPr wrap="square" lIns="0" tIns="0" rIns="0" bIns="0" anchor="t">
            <a:spAutoFit/>
          </a:bodyPr>
          <a:lstStyle/>
          <a:p>
            <a:pPr algn="l"/>
            <a:r>
              <a:rPr sz="950" b="0">
                <a:solidFill>
                  <a:srgbClr val="56655C"/>
                </a:solidFill>
                <a:latin typeface="Calibri"/>
              </a:rPr>
              <a:t>162 stations · ARIMA_PLUS trains here</a:t>
            </a:r>
          </a:p>
        </p:txBody>
      </p:sp>
      <p:sp>
        <p:nvSpPr>
          <p:cNvPr id="40" name="Rounded Rectangle 39"/>
          <p:cNvSpPr/>
          <p:nvPr/>
        </p:nvSpPr>
        <p:spPr>
          <a:xfrm>
            <a:off x="6172200" y="3136392"/>
            <a:ext cx="2377440" cy="566928"/>
          </a:xfrm>
          <a:prstGeom prst="roundRect">
            <a:avLst>
              <a:gd name="adj" fmla="val 5000"/>
            </a:avLst>
          </a:prstGeom>
          <a:solidFill>
            <a:srgbClr val="FFFFFF"/>
          </a:solidFill>
          <a:ln w="12700">
            <a:solidFill>
              <a:srgbClr val="D9E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6291072" y="3346704"/>
            <a:ext cx="146304" cy="146304"/>
          </a:xfrm>
          <a:prstGeom prst="ellipse">
            <a:avLst/>
          </a:prstGeom>
          <a:solidFill>
            <a:srgbClr val="117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510528" y="3200400"/>
            <a:ext cx="1993392" cy="256032"/>
          </a:xfrm>
          <a:prstGeom prst="rect">
            <a:avLst/>
          </a:prstGeom>
          <a:noFill/>
        </p:spPr>
        <p:txBody>
          <a:bodyPr wrap="square" lIns="0" tIns="0" rIns="0" bIns="0" anchor="t">
            <a:spAutoFit/>
          </a:bodyPr>
          <a:lstStyle/>
          <a:p>
            <a:pPr algn="l"/>
            <a:r>
              <a:rPr sz="1150" b="1">
                <a:solidFill>
                  <a:srgbClr val="14231B"/>
                </a:solidFill>
                <a:latin typeface="Calibri"/>
              </a:rPr>
              <a:t>google_aq_history</a:t>
            </a:r>
          </a:p>
        </p:txBody>
      </p:sp>
      <p:sp>
        <p:nvSpPr>
          <p:cNvPr id="43" name="TextBox 42"/>
          <p:cNvSpPr txBox="1"/>
          <p:nvPr/>
        </p:nvSpPr>
        <p:spPr>
          <a:xfrm>
            <a:off x="6510528" y="3438144"/>
            <a:ext cx="1993392" cy="256032"/>
          </a:xfrm>
          <a:prstGeom prst="rect">
            <a:avLst/>
          </a:prstGeom>
          <a:noFill/>
        </p:spPr>
        <p:txBody>
          <a:bodyPr wrap="square" lIns="0" tIns="0" rIns="0" bIns="0" anchor="t">
            <a:spAutoFit/>
          </a:bodyPr>
          <a:lstStyle/>
          <a:p>
            <a:pPr algn="l"/>
            <a:r>
              <a:rPr sz="950" b="0">
                <a:solidFill>
                  <a:srgbClr val="56655C"/>
                </a:solidFill>
                <a:latin typeface="Calibri"/>
              </a:rPr>
              <a:t>Modelled PM, kept in its own table</a:t>
            </a:r>
          </a:p>
        </p:txBody>
      </p:sp>
      <p:sp>
        <p:nvSpPr>
          <p:cNvPr id="44" name="Rounded Rectangle 43"/>
          <p:cNvSpPr/>
          <p:nvPr/>
        </p:nvSpPr>
        <p:spPr>
          <a:xfrm>
            <a:off x="6172200" y="3803904"/>
            <a:ext cx="2377440" cy="566928"/>
          </a:xfrm>
          <a:prstGeom prst="roundRect">
            <a:avLst>
              <a:gd name="adj" fmla="val 5000"/>
            </a:avLst>
          </a:prstGeom>
          <a:solidFill>
            <a:srgbClr val="FFFFFF"/>
          </a:solidFill>
          <a:ln w="12700">
            <a:solidFill>
              <a:srgbClr val="D9E3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6291072" y="4014216"/>
            <a:ext cx="146304" cy="146304"/>
          </a:xfrm>
          <a:prstGeom prst="ellipse">
            <a:avLst/>
          </a:prstGeom>
          <a:solidFill>
            <a:srgbClr val="5E8F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510528" y="3867912"/>
            <a:ext cx="1993392" cy="256032"/>
          </a:xfrm>
          <a:prstGeom prst="rect">
            <a:avLst/>
          </a:prstGeom>
          <a:noFill/>
        </p:spPr>
        <p:txBody>
          <a:bodyPr wrap="square" lIns="0" tIns="0" rIns="0" bIns="0" anchor="t">
            <a:spAutoFit/>
          </a:bodyPr>
          <a:lstStyle/>
          <a:p>
            <a:pPr algn="l"/>
            <a:r>
              <a:rPr sz="1150" b="1">
                <a:solidFill>
                  <a:srgbClr val="14231B"/>
                </a:solidFill>
                <a:latin typeface="Calibri"/>
              </a:rPr>
              <a:t>Delhi archive</a:t>
            </a:r>
          </a:p>
        </p:txBody>
      </p:sp>
      <p:sp>
        <p:nvSpPr>
          <p:cNvPr id="47" name="TextBox 46"/>
          <p:cNvSpPr txBox="1"/>
          <p:nvPr/>
        </p:nvSpPr>
        <p:spPr>
          <a:xfrm>
            <a:off x="6510528" y="4105656"/>
            <a:ext cx="1993392" cy="256032"/>
          </a:xfrm>
          <a:prstGeom prst="rect">
            <a:avLst/>
          </a:prstGeom>
          <a:noFill/>
        </p:spPr>
        <p:txBody>
          <a:bodyPr wrap="square" lIns="0" tIns="0" rIns="0" bIns="0" anchor="t">
            <a:spAutoFit/>
          </a:bodyPr>
          <a:lstStyle/>
          <a:p>
            <a:pPr algn="l"/>
            <a:r>
              <a:rPr sz="950" b="0">
                <a:solidFill>
                  <a:srgbClr val="56655C"/>
                </a:solidFill>
                <a:latin typeface="Calibri"/>
              </a:rPr>
              <a:t>Optional 2015–2020 CPCB history</a:t>
            </a:r>
          </a:p>
        </p:txBody>
      </p:sp>
      <p:sp>
        <p:nvSpPr>
          <p:cNvPr id="48" name="Right Arrow 47"/>
          <p:cNvSpPr/>
          <p:nvPr/>
        </p:nvSpPr>
        <p:spPr>
          <a:xfrm>
            <a:off x="8851392" y="2871216"/>
            <a:ext cx="310896" cy="256032"/>
          </a:xfrm>
          <a:prstGeom prst="rightArrow">
            <a:avLst/>
          </a:prstGeom>
          <a:solidFill>
            <a:srgbClr val="CFE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Diamond 48"/>
          <p:cNvSpPr/>
          <p:nvPr/>
        </p:nvSpPr>
        <p:spPr>
          <a:xfrm>
            <a:off x="9253728" y="2395728"/>
            <a:ext cx="1188720" cy="1188720"/>
          </a:xfrm>
          <a:prstGeom prst="diamond">
            <a:avLst/>
          </a:prstGeom>
          <a:solidFill>
            <a:srgbClr val="1F6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345168" y="2724912"/>
            <a:ext cx="1005840" cy="548640"/>
          </a:xfrm>
          <a:prstGeom prst="rect">
            <a:avLst/>
          </a:prstGeom>
          <a:noFill/>
        </p:spPr>
        <p:txBody>
          <a:bodyPr wrap="square" lIns="0" tIns="0" rIns="0" bIns="0" anchor="ctr">
            <a:spAutoFit/>
          </a:bodyPr>
          <a:lstStyle/>
          <a:p>
            <a:pPr algn="ctr"/>
            <a:r>
              <a:rPr sz="1100" b="1">
                <a:solidFill>
                  <a:srgbClr val="FFFFFF"/>
                </a:solidFill>
                <a:latin typeface="Calibri"/>
              </a:rPr>
              <a:t>12+ station hours?</a:t>
            </a:r>
          </a:p>
        </p:txBody>
      </p:sp>
      <p:sp>
        <p:nvSpPr>
          <p:cNvPr id="51" name="Rounded Rectangle 50"/>
          <p:cNvSpPr/>
          <p:nvPr/>
        </p:nvSpPr>
        <p:spPr>
          <a:xfrm>
            <a:off x="10625328" y="1691640"/>
            <a:ext cx="932688" cy="1325880"/>
          </a:xfrm>
          <a:prstGeom prst="roundRect">
            <a:avLst>
              <a:gd name="adj" fmla="val 5000"/>
            </a:avLst>
          </a:prstGeom>
          <a:solidFill>
            <a:srgbClr val="FFFFFF"/>
          </a:solidFill>
          <a:ln w="12700">
            <a:solidFill>
              <a:srgbClr val="D9E3DC"/>
            </a:solidFill>
          </a:ln>
          <a:effectLst>
            <a:outerShdw blurRad="127000" dist="25400" dir="5400000" algn="bl" rotWithShape="0">
              <a:srgbClr val="0E1F17">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661904" y="1783080"/>
            <a:ext cx="859536" cy="274320"/>
          </a:xfrm>
          <a:prstGeom prst="rect">
            <a:avLst/>
          </a:prstGeom>
          <a:noFill/>
        </p:spPr>
        <p:txBody>
          <a:bodyPr wrap="square" lIns="0" tIns="0" rIns="0" bIns="0" anchor="t">
            <a:spAutoFit/>
          </a:bodyPr>
          <a:lstStyle/>
          <a:p>
            <a:pPr algn="ctr"/>
            <a:r>
              <a:rPr sz="1100" b="1">
                <a:solidFill>
                  <a:srgbClr val="2E9E55"/>
                </a:solidFill>
                <a:latin typeface="Calibri"/>
              </a:rPr>
              <a:t>Yes</a:t>
            </a:r>
          </a:p>
        </p:txBody>
      </p:sp>
      <p:sp>
        <p:nvSpPr>
          <p:cNvPr id="53" name="TextBox 52"/>
          <p:cNvSpPr txBox="1"/>
          <p:nvPr/>
        </p:nvSpPr>
        <p:spPr>
          <a:xfrm>
            <a:off x="10661904" y="2057400"/>
            <a:ext cx="859536" cy="868680"/>
          </a:xfrm>
          <a:prstGeom prst="rect">
            <a:avLst/>
          </a:prstGeom>
          <a:noFill/>
        </p:spPr>
        <p:txBody>
          <a:bodyPr wrap="square" lIns="0" tIns="0" rIns="0" bIns="0" anchor="t">
            <a:spAutoFit/>
          </a:bodyPr>
          <a:lstStyle/>
          <a:p>
            <a:pPr algn="ctr"/>
            <a:r>
              <a:rPr sz="1050" b="0">
                <a:solidFill>
                  <a:srgbClr val="14231B"/>
                </a:solidFill>
                <a:latin typeface="Calibri"/>
              </a:rPr>
              <a:t>Station forecast, shown as Live</a:t>
            </a:r>
          </a:p>
        </p:txBody>
      </p:sp>
      <p:sp>
        <p:nvSpPr>
          <p:cNvPr id="54" name="Rounded Rectangle 53"/>
          <p:cNvSpPr/>
          <p:nvPr/>
        </p:nvSpPr>
        <p:spPr>
          <a:xfrm>
            <a:off x="10625328" y="3218688"/>
            <a:ext cx="932688" cy="1325880"/>
          </a:xfrm>
          <a:prstGeom prst="roundRect">
            <a:avLst>
              <a:gd name="adj" fmla="val 5000"/>
            </a:avLst>
          </a:prstGeom>
          <a:solidFill>
            <a:srgbClr val="FFFFFF"/>
          </a:solidFill>
          <a:ln w="12700">
            <a:solidFill>
              <a:srgbClr val="D9E3DC"/>
            </a:solidFill>
          </a:ln>
          <a:effectLst>
            <a:outerShdw blurRad="127000" dist="25400" dir="5400000" algn="bl" rotWithShape="0">
              <a:srgbClr val="0E1F17">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0661904" y="3310128"/>
            <a:ext cx="859536" cy="274320"/>
          </a:xfrm>
          <a:prstGeom prst="rect">
            <a:avLst/>
          </a:prstGeom>
          <a:noFill/>
        </p:spPr>
        <p:txBody>
          <a:bodyPr wrap="square" lIns="0" tIns="0" rIns="0" bIns="0" anchor="t">
            <a:spAutoFit/>
          </a:bodyPr>
          <a:lstStyle/>
          <a:p>
            <a:pPr algn="ctr"/>
            <a:r>
              <a:rPr sz="1100" b="1">
                <a:solidFill>
                  <a:srgbClr val="E4572E"/>
                </a:solidFill>
                <a:latin typeface="Calibri"/>
              </a:rPr>
              <a:t>No</a:t>
            </a:r>
          </a:p>
        </p:txBody>
      </p:sp>
      <p:sp>
        <p:nvSpPr>
          <p:cNvPr id="56" name="TextBox 55"/>
          <p:cNvSpPr txBox="1"/>
          <p:nvPr/>
        </p:nvSpPr>
        <p:spPr>
          <a:xfrm>
            <a:off x="10661904" y="3584448"/>
            <a:ext cx="859536" cy="868680"/>
          </a:xfrm>
          <a:prstGeom prst="rect">
            <a:avLst/>
          </a:prstGeom>
          <a:noFill/>
        </p:spPr>
        <p:txBody>
          <a:bodyPr wrap="square" lIns="0" tIns="0" rIns="0" bIns="0" anchor="t">
            <a:spAutoFit/>
          </a:bodyPr>
          <a:lstStyle/>
          <a:p>
            <a:pPr algn="ctr"/>
            <a:r>
              <a:rPr sz="1050" b="0">
                <a:solidFill>
                  <a:srgbClr val="14231B"/>
                </a:solidFill>
                <a:latin typeface="Calibri"/>
              </a:rPr>
              <a:t>Modelled forecast, labelled Modelled</a:t>
            </a:r>
          </a:p>
        </p:txBody>
      </p:sp>
      <p:cxnSp>
        <p:nvCxnSpPr>
          <p:cNvPr id="57" name="Connector 56"/>
          <p:cNvCxnSpPr/>
          <p:nvPr/>
        </p:nvCxnSpPr>
        <p:spPr>
          <a:xfrm flipV="1">
            <a:off x="9848088" y="2350008"/>
            <a:ext cx="777240" cy="45720"/>
          </a:xfrm>
          <a:prstGeom prst="line">
            <a:avLst/>
          </a:prstGeom>
          <a:ln w="22225">
            <a:solidFill>
              <a:srgbClr val="9CC9A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9848088" y="3584448"/>
            <a:ext cx="777240" cy="292608"/>
          </a:xfrm>
          <a:prstGeom prst="line">
            <a:avLst/>
          </a:prstGeom>
          <a:ln w="22225">
            <a:solidFill>
              <a:srgbClr val="9CC9AC"/>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640080" y="4937760"/>
            <a:ext cx="2560320" cy="685800"/>
          </a:xfrm>
          <a:prstGeom prst="rect">
            <a:avLst/>
          </a:prstGeom>
          <a:noFill/>
        </p:spPr>
        <p:txBody>
          <a:bodyPr wrap="square" lIns="0" tIns="0" rIns="0" bIns="0" anchor="t">
            <a:spAutoFit/>
          </a:bodyPr>
          <a:lstStyle/>
          <a:p>
            <a:pPr algn="l"/>
            <a:r>
              <a:rPr sz="3600" b="1">
                <a:solidFill>
                  <a:srgbClr val="1F6B3A"/>
                </a:solidFill>
                <a:latin typeface="Georgia"/>
              </a:rPr>
              <a:t>12 / 12</a:t>
            </a:r>
          </a:p>
        </p:txBody>
      </p:sp>
      <p:sp>
        <p:nvSpPr>
          <p:cNvPr id="60" name="TextBox 59"/>
          <p:cNvSpPr txBox="1"/>
          <p:nvPr/>
        </p:nvSpPr>
        <p:spPr>
          <a:xfrm>
            <a:off x="640080" y="5623560"/>
            <a:ext cx="2560320" cy="365760"/>
          </a:xfrm>
          <a:prstGeom prst="rect">
            <a:avLst/>
          </a:prstGeom>
          <a:noFill/>
        </p:spPr>
        <p:txBody>
          <a:bodyPr wrap="square" lIns="0" tIns="0" rIns="0" bIns="0" anchor="t">
            <a:spAutoFit/>
          </a:bodyPr>
          <a:lstStyle/>
          <a:p>
            <a:pPr algn="l"/>
            <a:r>
              <a:rPr sz="1250" b="0">
                <a:solidFill>
                  <a:srgbClr val="56655C"/>
                </a:solidFill>
                <a:latin typeface="Calibri"/>
              </a:rPr>
              <a:t>cities with a 24-hour forecast</a:t>
            </a:r>
          </a:p>
        </p:txBody>
      </p:sp>
      <p:sp>
        <p:nvSpPr>
          <p:cNvPr id="61" name="TextBox 60"/>
          <p:cNvSpPr txBox="1"/>
          <p:nvPr/>
        </p:nvSpPr>
        <p:spPr>
          <a:xfrm>
            <a:off x="3429000" y="4937760"/>
            <a:ext cx="2560320" cy="685800"/>
          </a:xfrm>
          <a:prstGeom prst="rect">
            <a:avLst/>
          </a:prstGeom>
          <a:noFill/>
        </p:spPr>
        <p:txBody>
          <a:bodyPr wrap="square" lIns="0" tIns="0" rIns="0" bIns="0" anchor="t">
            <a:spAutoFit/>
          </a:bodyPr>
          <a:lstStyle/>
          <a:p>
            <a:pPr algn="l"/>
            <a:r>
              <a:rPr sz="3600" b="1">
                <a:solidFill>
                  <a:srgbClr val="1F6B3A"/>
                </a:solidFill>
                <a:latin typeface="Georgia"/>
              </a:rPr>
              <a:t>137</a:t>
            </a:r>
          </a:p>
        </p:txBody>
      </p:sp>
      <p:sp>
        <p:nvSpPr>
          <p:cNvPr id="62" name="TextBox 61"/>
          <p:cNvSpPr txBox="1"/>
          <p:nvPr/>
        </p:nvSpPr>
        <p:spPr>
          <a:xfrm>
            <a:off x="3429000" y="5623560"/>
            <a:ext cx="2560320" cy="365760"/>
          </a:xfrm>
          <a:prstGeom prst="rect">
            <a:avLst/>
          </a:prstGeom>
          <a:noFill/>
        </p:spPr>
        <p:txBody>
          <a:bodyPr wrap="square" lIns="0" tIns="0" rIns="0" bIns="0" anchor="t">
            <a:spAutoFit/>
          </a:bodyPr>
          <a:lstStyle/>
          <a:p>
            <a:pPr algn="l"/>
            <a:r>
              <a:rPr sz="1250" b="0">
                <a:solidFill>
                  <a:srgbClr val="56655C"/>
                </a:solidFill>
                <a:latin typeface="Calibri"/>
              </a:rPr>
              <a:t>ground stations live, feeding BigQuery</a:t>
            </a:r>
          </a:p>
        </p:txBody>
      </p:sp>
      <p:sp>
        <p:nvSpPr>
          <p:cNvPr id="63" name="TextBox 62"/>
          <p:cNvSpPr txBox="1"/>
          <p:nvPr/>
        </p:nvSpPr>
        <p:spPr>
          <a:xfrm>
            <a:off x="6217920" y="4937760"/>
            <a:ext cx="2560320" cy="685800"/>
          </a:xfrm>
          <a:prstGeom prst="rect">
            <a:avLst/>
          </a:prstGeom>
          <a:noFill/>
        </p:spPr>
        <p:txBody>
          <a:bodyPr wrap="square" lIns="0" tIns="0" rIns="0" bIns="0" anchor="t">
            <a:spAutoFit/>
          </a:bodyPr>
          <a:lstStyle/>
          <a:p>
            <a:pPr algn="l"/>
            <a:r>
              <a:rPr sz="3600" b="1">
                <a:solidFill>
                  <a:srgbClr val="1F6B3A"/>
                </a:solidFill>
                <a:latin typeface="Georgia"/>
              </a:rPr>
              <a:t>50</a:t>
            </a:r>
          </a:p>
        </p:txBody>
      </p:sp>
      <p:sp>
        <p:nvSpPr>
          <p:cNvPr id="64" name="TextBox 63"/>
          <p:cNvSpPr txBox="1"/>
          <p:nvPr/>
        </p:nvSpPr>
        <p:spPr>
          <a:xfrm>
            <a:off x="6217920" y="5623560"/>
            <a:ext cx="2560320" cy="365760"/>
          </a:xfrm>
          <a:prstGeom prst="rect">
            <a:avLst/>
          </a:prstGeom>
          <a:noFill/>
        </p:spPr>
        <p:txBody>
          <a:bodyPr wrap="square" lIns="0" tIns="0" rIns="0" bIns="0" anchor="t">
            <a:spAutoFit/>
          </a:bodyPr>
          <a:lstStyle/>
          <a:p>
            <a:pPr algn="l"/>
            <a:r>
              <a:rPr sz="1250" b="0">
                <a:solidFill>
                  <a:srgbClr val="56655C"/>
                </a:solidFill>
                <a:latin typeface="Calibri"/>
              </a:rPr>
              <a:t>forecast zones with a week of modelled history</a:t>
            </a:r>
          </a:p>
        </p:txBody>
      </p:sp>
      <p:sp>
        <p:nvSpPr>
          <p:cNvPr id="65" name="TextBox 64"/>
          <p:cNvSpPr txBox="1"/>
          <p:nvPr/>
        </p:nvSpPr>
        <p:spPr>
          <a:xfrm>
            <a:off x="9006839" y="4937760"/>
            <a:ext cx="2560320" cy="685800"/>
          </a:xfrm>
          <a:prstGeom prst="rect">
            <a:avLst/>
          </a:prstGeom>
          <a:noFill/>
        </p:spPr>
        <p:txBody>
          <a:bodyPr wrap="square" lIns="0" tIns="0" rIns="0" bIns="0" anchor="t">
            <a:spAutoFit/>
          </a:bodyPr>
          <a:lstStyle/>
          <a:p>
            <a:pPr algn="l"/>
            <a:r>
              <a:rPr sz="3600" b="1">
                <a:solidFill>
                  <a:srgbClr val="1F6B3A"/>
                </a:solidFill>
                <a:latin typeface="Georgia"/>
              </a:rPr>
              <a:t>17,118</a:t>
            </a:r>
          </a:p>
        </p:txBody>
      </p:sp>
      <p:sp>
        <p:nvSpPr>
          <p:cNvPr id="66" name="TextBox 65"/>
          <p:cNvSpPr txBox="1"/>
          <p:nvPr/>
        </p:nvSpPr>
        <p:spPr>
          <a:xfrm>
            <a:off x="9006839" y="5623560"/>
            <a:ext cx="2560320" cy="365760"/>
          </a:xfrm>
          <a:prstGeom prst="rect">
            <a:avLst/>
          </a:prstGeom>
          <a:noFill/>
        </p:spPr>
        <p:txBody>
          <a:bodyPr wrap="square" lIns="0" tIns="0" rIns="0" bIns="0" anchor="t">
            <a:spAutoFit/>
          </a:bodyPr>
          <a:lstStyle/>
          <a:p>
            <a:pPr algn="l"/>
            <a:r>
              <a:rPr sz="1250" b="0">
                <a:solidFill>
                  <a:srgbClr val="56655C"/>
                </a:solidFill>
                <a:latin typeface="Calibri"/>
              </a:rPr>
              <a:t>modelled hourly rows stored</a:t>
            </a:r>
          </a:p>
        </p:txBody>
      </p:sp>
      <p:sp>
        <p:nvSpPr>
          <p:cNvPr id="67" name="TextBox 66"/>
          <p:cNvSpPr txBox="1"/>
          <p:nvPr/>
        </p:nvSpPr>
        <p:spPr>
          <a:xfrm>
            <a:off x="640080" y="6217920"/>
            <a:ext cx="10058400" cy="274320"/>
          </a:xfrm>
          <a:prstGeom prst="rect">
            <a:avLst/>
          </a:prstGeom>
          <a:noFill/>
        </p:spPr>
        <p:txBody>
          <a:bodyPr wrap="square" lIns="0" tIns="0" rIns="0" bIns="0" anchor="t">
            <a:spAutoFit/>
          </a:bodyPr>
          <a:lstStyle/>
          <a:p>
            <a:pPr algn="l"/>
            <a:r>
              <a:rPr sz="1050" b="0">
                <a:solidFill>
                  <a:srgbClr val="56655C"/>
                </a:solidFill>
                <a:latin typeface="Calibri"/>
              </a:rPr>
              <a:t>Real station readings always win; modelled history is Google's 500 m estimate and never appears as live. Counts as of 29 Sep 2026.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8140E"/>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8229600" cy="274320"/>
          </a:xfrm>
          <a:prstGeom prst="rect">
            <a:avLst/>
          </a:prstGeom>
          <a:noFill/>
        </p:spPr>
        <p:txBody>
          <a:bodyPr wrap="square" lIns="0" tIns="0" rIns="0" bIns="0" anchor="t">
            <a:spAutoFit/>
          </a:bodyPr>
          <a:lstStyle/>
          <a:p>
            <a:pPr algn="l"/>
            <a:r>
              <a:rPr sz="1200" b="1" spc="300">
                <a:solidFill>
                  <a:srgbClr val="7CE3A0"/>
                </a:solidFill>
                <a:latin typeface="Calibri"/>
              </a:rPr>
              <a:t>BUILT FOR INDIA AND BRICS</a:t>
            </a:r>
          </a:p>
        </p:txBody>
      </p:sp>
      <p:sp>
        <p:nvSpPr>
          <p:cNvPr id="3" name="TextBox 2"/>
          <p:cNvSpPr txBox="1"/>
          <p:nvPr/>
        </p:nvSpPr>
        <p:spPr>
          <a:xfrm>
            <a:off x="640080" y="777240"/>
            <a:ext cx="10881360" cy="822960"/>
          </a:xfrm>
          <a:prstGeom prst="rect">
            <a:avLst/>
          </a:prstGeom>
          <a:noFill/>
        </p:spPr>
        <p:txBody>
          <a:bodyPr wrap="square" lIns="0" tIns="0" rIns="0" bIns="0" anchor="t">
            <a:spAutoFit/>
          </a:bodyPr>
          <a:lstStyle/>
          <a:p>
            <a:pPr algn="l"/>
            <a:r>
              <a:rPr sz="3200" b="1">
                <a:solidFill>
                  <a:srgbClr val="FFFFFF"/>
                </a:solidFill>
                <a:latin typeface="Georgia"/>
              </a:rPr>
              <a:t>Twelve cities, seven legal limits, one engine</a:t>
            </a:r>
          </a:p>
        </p:txBody>
      </p:sp>
      <p:sp>
        <p:nvSpPr>
          <p:cNvPr id="4" name="TextBox 3"/>
          <p:cNvSpPr txBox="1"/>
          <p:nvPr/>
        </p:nvSpPr>
        <p:spPr>
          <a:xfrm>
            <a:off x="10908792" y="6446520"/>
            <a:ext cx="640080" cy="228600"/>
          </a:xfrm>
          <a:prstGeom prst="rect">
            <a:avLst/>
          </a:prstGeom>
          <a:noFill/>
        </p:spPr>
        <p:txBody>
          <a:bodyPr wrap="square" lIns="0" tIns="0" rIns="0" bIns="0" anchor="t">
            <a:spAutoFit/>
          </a:bodyPr>
          <a:lstStyle/>
          <a:p>
            <a:pPr algn="r"/>
            <a:r>
              <a:rPr sz="1000" b="0">
                <a:solidFill>
                  <a:srgbClr val="8FB39E"/>
                </a:solidFill>
                <a:latin typeface="Calibri"/>
              </a:rPr>
              <a:t>11 / 12</a:t>
            </a:r>
          </a:p>
        </p:txBody>
      </p:sp>
      <p:pic>
        <p:nvPicPr>
          <p:cNvPr id="5" name="Picture 4" descr="image.png"/>
          <p:cNvPicPr>
            <a:picLocks noChangeAspect="1"/>
          </p:cNvPicPr>
          <p:nvPr/>
        </p:nvPicPr>
        <p:blipFill>
          <a:blip r:embed="rId3"/>
          <a:stretch>
            <a:fillRect/>
          </a:stretch>
        </p:blipFill>
        <p:spPr>
          <a:xfrm>
            <a:off x="640080" y="1645920"/>
            <a:ext cx="6903720" cy="3106674"/>
          </a:xfrm>
          <a:prstGeom prst="rect">
            <a:avLst/>
          </a:prstGeom>
          <a:ln w="12700">
            <a:solidFill>
              <a:srgbClr val="2A4A37"/>
            </a:solidFill>
          </a:ln>
          <a:effectLst>
            <a:outerShdw blurRad="127000" dist="25400" dir="5400000" algn="bl" rotWithShape="0">
              <a:srgbClr val="0E1F17">
                <a:alpha val="9000"/>
              </a:srgbClr>
            </a:outerShdw>
          </a:effectLst>
        </p:spPr>
      </p:pic>
      <p:sp>
        <p:nvSpPr>
          <p:cNvPr id="6" name="Rounded Rectangle 5"/>
          <p:cNvSpPr/>
          <p:nvPr/>
        </p:nvSpPr>
        <p:spPr>
          <a:xfrm>
            <a:off x="7818120" y="1645920"/>
            <a:ext cx="3730752" cy="932688"/>
          </a:xfrm>
          <a:prstGeom prst="roundRect">
            <a:avLst>
              <a:gd name="adj" fmla="val 5000"/>
            </a:avLst>
          </a:prstGeom>
          <a:solidFill>
            <a:srgbClr val="132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0" y="1755648"/>
            <a:ext cx="1828800" cy="685800"/>
          </a:xfrm>
          <a:prstGeom prst="rect">
            <a:avLst/>
          </a:prstGeom>
          <a:noFill/>
        </p:spPr>
        <p:txBody>
          <a:bodyPr wrap="square" lIns="0" tIns="0" rIns="0" bIns="0" anchor="ctr">
            <a:spAutoFit/>
          </a:bodyPr>
          <a:lstStyle/>
          <a:p>
            <a:pPr algn="l"/>
            <a:r>
              <a:rPr sz="3000" b="1">
                <a:solidFill>
                  <a:srgbClr val="7CE3A0"/>
                </a:solidFill>
                <a:latin typeface="Georgia"/>
              </a:rPr>
              <a:t>137</a:t>
            </a:r>
          </a:p>
        </p:txBody>
      </p:sp>
      <p:sp>
        <p:nvSpPr>
          <p:cNvPr id="8" name="TextBox 7"/>
          <p:cNvSpPr txBox="1"/>
          <p:nvPr/>
        </p:nvSpPr>
        <p:spPr>
          <a:xfrm>
            <a:off x="9829800" y="1828800"/>
            <a:ext cx="1645920" cy="640080"/>
          </a:xfrm>
          <a:prstGeom prst="rect">
            <a:avLst/>
          </a:prstGeom>
          <a:noFill/>
        </p:spPr>
        <p:txBody>
          <a:bodyPr wrap="square" lIns="0" tIns="0" rIns="0" bIns="0" anchor="ctr">
            <a:spAutoFit/>
          </a:bodyPr>
          <a:lstStyle/>
          <a:p>
            <a:pPr algn="l"/>
            <a:r>
              <a:rPr sz="1150" b="0">
                <a:solidFill>
                  <a:srgbClr val="D7E6DC"/>
                </a:solidFill>
                <a:latin typeface="Calibri"/>
              </a:rPr>
              <a:t>ground stations live across 12 cities</a:t>
            </a:r>
          </a:p>
        </p:txBody>
      </p:sp>
      <p:sp>
        <p:nvSpPr>
          <p:cNvPr id="9" name="Rounded Rectangle 8"/>
          <p:cNvSpPr/>
          <p:nvPr/>
        </p:nvSpPr>
        <p:spPr>
          <a:xfrm>
            <a:off x="7818120" y="2715768"/>
            <a:ext cx="3730752" cy="932688"/>
          </a:xfrm>
          <a:prstGeom prst="roundRect">
            <a:avLst>
              <a:gd name="adj" fmla="val 5000"/>
            </a:avLst>
          </a:prstGeom>
          <a:solidFill>
            <a:srgbClr val="132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0" y="2825496"/>
            <a:ext cx="1828800" cy="685800"/>
          </a:xfrm>
          <a:prstGeom prst="rect">
            <a:avLst/>
          </a:prstGeom>
          <a:noFill/>
        </p:spPr>
        <p:txBody>
          <a:bodyPr wrap="square" lIns="0" tIns="0" rIns="0" bIns="0" anchor="ctr">
            <a:spAutoFit/>
          </a:bodyPr>
          <a:lstStyle/>
          <a:p>
            <a:pPr algn="l"/>
            <a:r>
              <a:rPr sz="3000" b="1">
                <a:solidFill>
                  <a:srgbClr val="7CE3A0"/>
                </a:solidFill>
                <a:latin typeface="Georgia"/>
              </a:rPr>
              <a:t>53 of 55</a:t>
            </a:r>
          </a:p>
        </p:txBody>
      </p:sp>
      <p:sp>
        <p:nvSpPr>
          <p:cNvPr id="11" name="TextBox 10"/>
          <p:cNvSpPr txBox="1"/>
          <p:nvPr/>
        </p:nvSpPr>
        <p:spPr>
          <a:xfrm>
            <a:off x="9829800" y="2898648"/>
            <a:ext cx="1645920" cy="640080"/>
          </a:xfrm>
          <a:prstGeom prst="rect">
            <a:avLst/>
          </a:prstGeom>
          <a:noFill/>
        </p:spPr>
        <p:txBody>
          <a:bodyPr wrap="square" lIns="0" tIns="0" rIns="0" bIns="0" anchor="ctr">
            <a:spAutoFit/>
          </a:bodyPr>
          <a:lstStyle/>
          <a:p>
            <a:pPr algn="l"/>
            <a:r>
              <a:rPr sz="1150" b="0">
                <a:solidFill>
                  <a:srgbClr val="D7E6DC"/>
                </a:solidFill>
                <a:latin typeface="Calibri"/>
              </a:rPr>
              <a:t>hotspots raised automatically</a:t>
            </a:r>
          </a:p>
        </p:txBody>
      </p:sp>
      <p:sp>
        <p:nvSpPr>
          <p:cNvPr id="12" name="Rounded Rectangle 11"/>
          <p:cNvSpPr/>
          <p:nvPr/>
        </p:nvSpPr>
        <p:spPr>
          <a:xfrm>
            <a:off x="7818120" y="3785615"/>
            <a:ext cx="3730752" cy="932688"/>
          </a:xfrm>
          <a:prstGeom prst="roundRect">
            <a:avLst>
              <a:gd name="adj" fmla="val 5000"/>
            </a:avLst>
          </a:prstGeom>
          <a:solidFill>
            <a:srgbClr val="132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46720" y="3895344"/>
            <a:ext cx="1828800" cy="685800"/>
          </a:xfrm>
          <a:prstGeom prst="rect">
            <a:avLst/>
          </a:prstGeom>
          <a:noFill/>
        </p:spPr>
        <p:txBody>
          <a:bodyPr wrap="square" lIns="0" tIns="0" rIns="0" bIns="0" anchor="ctr">
            <a:spAutoFit/>
          </a:bodyPr>
          <a:lstStyle/>
          <a:p>
            <a:pPr algn="l"/>
            <a:r>
              <a:rPr sz="3000" b="1">
                <a:solidFill>
                  <a:srgbClr val="7CE3A0"/>
                </a:solidFill>
                <a:latin typeface="Georgia"/>
              </a:rPr>
              <a:t>≈71,838</a:t>
            </a:r>
          </a:p>
        </p:txBody>
      </p:sp>
      <p:sp>
        <p:nvSpPr>
          <p:cNvPr id="14" name="TextBox 13"/>
          <p:cNvSpPr txBox="1"/>
          <p:nvPr/>
        </p:nvSpPr>
        <p:spPr>
          <a:xfrm>
            <a:off x="9829800" y="3968496"/>
            <a:ext cx="1645920" cy="640080"/>
          </a:xfrm>
          <a:prstGeom prst="rect">
            <a:avLst/>
          </a:prstGeom>
          <a:noFill/>
        </p:spPr>
        <p:txBody>
          <a:bodyPr wrap="square" lIns="0" tIns="0" rIns="0" bIns="0" anchor="ctr">
            <a:spAutoFit/>
          </a:bodyPr>
          <a:lstStyle/>
          <a:p>
            <a:pPr algn="l"/>
            <a:r>
              <a:rPr sz="1150" b="0">
                <a:solidFill>
                  <a:srgbClr val="D7E6DC"/>
                </a:solidFill>
                <a:latin typeface="Calibri"/>
              </a:rPr>
              <a:t>residents counted near one Beijing landmark</a:t>
            </a:r>
          </a:p>
        </p:txBody>
      </p:sp>
      <p:sp>
        <p:nvSpPr>
          <p:cNvPr id="15" name="Rounded Rectangle 14"/>
          <p:cNvSpPr/>
          <p:nvPr/>
        </p:nvSpPr>
        <p:spPr>
          <a:xfrm>
            <a:off x="640080" y="4983480"/>
            <a:ext cx="1444752" cy="1280160"/>
          </a:xfrm>
          <a:prstGeom prst="roundRect">
            <a:avLst>
              <a:gd name="adj" fmla="val 5000"/>
            </a:avLst>
          </a:prstGeom>
          <a:solidFill>
            <a:srgbClr val="132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image.png"/>
          <p:cNvPicPr>
            <a:picLocks noChangeAspect="1"/>
          </p:cNvPicPr>
          <p:nvPr/>
        </p:nvPicPr>
        <p:blipFill>
          <a:blip r:embed="rId4"/>
          <a:stretch>
            <a:fillRect/>
          </a:stretch>
        </p:blipFill>
        <p:spPr>
          <a:xfrm>
            <a:off x="749808" y="5102352"/>
            <a:ext cx="566928" cy="566928"/>
          </a:xfrm>
          <a:prstGeom prst="rect">
            <a:avLst/>
          </a:prstGeom>
        </p:spPr>
      </p:pic>
      <p:sp>
        <p:nvSpPr>
          <p:cNvPr id="17" name="TextBox 16"/>
          <p:cNvSpPr txBox="1"/>
          <p:nvPr/>
        </p:nvSpPr>
        <p:spPr>
          <a:xfrm>
            <a:off x="1371600" y="5138928"/>
            <a:ext cx="685800" cy="502920"/>
          </a:xfrm>
          <a:prstGeom prst="rect">
            <a:avLst/>
          </a:prstGeom>
          <a:noFill/>
        </p:spPr>
        <p:txBody>
          <a:bodyPr wrap="square" lIns="0" tIns="0" rIns="0" bIns="0" anchor="t">
            <a:spAutoFit/>
          </a:bodyPr>
          <a:lstStyle/>
          <a:p>
            <a:pPr algn="l"/>
            <a:r>
              <a:rPr sz="1050" b="1">
                <a:solidFill>
                  <a:srgbClr val="FFFFFF"/>
                </a:solidFill>
                <a:latin typeface="Calibri"/>
              </a:rPr>
              <a:t>Indian cities</a:t>
            </a:r>
          </a:p>
        </p:txBody>
      </p:sp>
      <p:sp>
        <p:nvSpPr>
          <p:cNvPr id="18" name="TextBox 17"/>
          <p:cNvSpPr txBox="1"/>
          <p:nvPr/>
        </p:nvSpPr>
        <p:spPr>
          <a:xfrm>
            <a:off x="749808" y="5779008"/>
            <a:ext cx="1280160" cy="411480"/>
          </a:xfrm>
          <a:prstGeom prst="rect">
            <a:avLst/>
          </a:prstGeom>
          <a:noFill/>
        </p:spPr>
        <p:txBody>
          <a:bodyPr wrap="square" lIns="0" tIns="0" rIns="0" bIns="0" anchor="t">
            <a:spAutoFit/>
          </a:bodyPr>
          <a:lstStyle/>
          <a:p>
            <a:pPr algn="l"/>
            <a:r>
              <a:rPr sz="950" b="1">
                <a:solidFill>
                  <a:srgbClr val="7CE3A0"/>
                </a:solidFill>
                <a:latin typeface="Calibri"/>
              </a:rPr>
              <a:t>60 µg/m³</a:t>
            </a:r>
          </a:p>
          <a:p>
            <a:pPr algn="l"/>
            <a:r>
              <a:rPr sz="950" b="0">
                <a:solidFill>
                  <a:srgbClr val="8FB39E"/>
                </a:solidFill>
                <a:latin typeface="Calibri"/>
              </a:rPr>
              <a:t>PM2.5 24 h, all six</a:t>
            </a:r>
          </a:p>
        </p:txBody>
      </p:sp>
      <p:sp>
        <p:nvSpPr>
          <p:cNvPr id="19" name="Rounded Rectangle 18"/>
          <p:cNvSpPr/>
          <p:nvPr/>
        </p:nvSpPr>
        <p:spPr>
          <a:xfrm>
            <a:off x="2212848" y="4983480"/>
            <a:ext cx="1444752" cy="1280160"/>
          </a:xfrm>
          <a:prstGeom prst="roundRect">
            <a:avLst>
              <a:gd name="adj" fmla="val 5000"/>
            </a:avLst>
          </a:prstGeom>
          <a:solidFill>
            <a:srgbClr val="132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image.png"/>
          <p:cNvPicPr>
            <a:picLocks noChangeAspect="1"/>
          </p:cNvPicPr>
          <p:nvPr/>
        </p:nvPicPr>
        <p:blipFill>
          <a:blip r:embed="rId5"/>
          <a:stretch>
            <a:fillRect/>
          </a:stretch>
        </p:blipFill>
        <p:spPr>
          <a:xfrm>
            <a:off x="2322576" y="5102352"/>
            <a:ext cx="566928" cy="566928"/>
          </a:xfrm>
          <a:prstGeom prst="rect">
            <a:avLst/>
          </a:prstGeom>
        </p:spPr>
      </p:pic>
      <p:sp>
        <p:nvSpPr>
          <p:cNvPr id="21" name="TextBox 20"/>
          <p:cNvSpPr txBox="1"/>
          <p:nvPr/>
        </p:nvSpPr>
        <p:spPr>
          <a:xfrm>
            <a:off x="2944368" y="5138928"/>
            <a:ext cx="685800" cy="502920"/>
          </a:xfrm>
          <a:prstGeom prst="rect">
            <a:avLst/>
          </a:prstGeom>
          <a:noFill/>
        </p:spPr>
        <p:txBody>
          <a:bodyPr wrap="square" lIns="0" tIns="0" rIns="0" bIns="0" anchor="t">
            <a:spAutoFit/>
          </a:bodyPr>
          <a:lstStyle/>
          <a:p>
            <a:pPr algn="l"/>
            <a:r>
              <a:rPr sz="1050" b="1">
                <a:solidFill>
                  <a:srgbClr val="FFFFFF"/>
                </a:solidFill>
                <a:latin typeface="Calibri"/>
              </a:rPr>
              <a:t>Beijing</a:t>
            </a:r>
          </a:p>
        </p:txBody>
      </p:sp>
      <p:sp>
        <p:nvSpPr>
          <p:cNvPr id="22" name="TextBox 21"/>
          <p:cNvSpPr txBox="1"/>
          <p:nvPr/>
        </p:nvSpPr>
        <p:spPr>
          <a:xfrm>
            <a:off x="2322576" y="5779008"/>
            <a:ext cx="1280160" cy="411480"/>
          </a:xfrm>
          <a:prstGeom prst="rect">
            <a:avLst/>
          </a:prstGeom>
          <a:noFill/>
        </p:spPr>
        <p:txBody>
          <a:bodyPr wrap="square" lIns="0" tIns="0" rIns="0" bIns="0" anchor="t">
            <a:spAutoFit/>
          </a:bodyPr>
          <a:lstStyle/>
          <a:p>
            <a:pPr algn="l"/>
            <a:r>
              <a:rPr sz="950" b="1">
                <a:solidFill>
                  <a:srgbClr val="7CE3A0"/>
                </a:solidFill>
                <a:latin typeface="Calibri"/>
              </a:rPr>
              <a:t>75 µg/m³</a:t>
            </a:r>
          </a:p>
          <a:p>
            <a:pPr algn="l"/>
            <a:r>
              <a:rPr sz="950" b="0">
                <a:solidFill>
                  <a:srgbClr val="8FB39E"/>
                </a:solidFill>
                <a:latin typeface="Calibri"/>
              </a:rPr>
              <a:t>PM2.5 24 h limit</a:t>
            </a:r>
          </a:p>
        </p:txBody>
      </p:sp>
      <p:sp>
        <p:nvSpPr>
          <p:cNvPr id="23" name="Rounded Rectangle 22"/>
          <p:cNvSpPr/>
          <p:nvPr/>
        </p:nvSpPr>
        <p:spPr>
          <a:xfrm>
            <a:off x="3785615" y="4983480"/>
            <a:ext cx="1444752" cy="1280160"/>
          </a:xfrm>
          <a:prstGeom prst="roundRect">
            <a:avLst>
              <a:gd name="adj" fmla="val 5000"/>
            </a:avLst>
          </a:prstGeom>
          <a:solidFill>
            <a:srgbClr val="132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image.png"/>
          <p:cNvPicPr>
            <a:picLocks noChangeAspect="1"/>
          </p:cNvPicPr>
          <p:nvPr/>
        </p:nvPicPr>
        <p:blipFill>
          <a:blip r:embed="rId6"/>
          <a:stretch>
            <a:fillRect/>
          </a:stretch>
        </p:blipFill>
        <p:spPr>
          <a:xfrm>
            <a:off x="3895344" y="5102352"/>
            <a:ext cx="566928" cy="566928"/>
          </a:xfrm>
          <a:prstGeom prst="rect">
            <a:avLst/>
          </a:prstGeom>
        </p:spPr>
      </p:pic>
      <p:sp>
        <p:nvSpPr>
          <p:cNvPr id="25" name="TextBox 24"/>
          <p:cNvSpPr txBox="1"/>
          <p:nvPr/>
        </p:nvSpPr>
        <p:spPr>
          <a:xfrm>
            <a:off x="4517136" y="5138928"/>
            <a:ext cx="685800" cy="502920"/>
          </a:xfrm>
          <a:prstGeom prst="rect">
            <a:avLst/>
          </a:prstGeom>
          <a:noFill/>
        </p:spPr>
        <p:txBody>
          <a:bodyPr wrap="square" lIns="0" tIns="0" rIns="0" bIns="0" anchor="t">
            <a:spAutoFit/>
          </a:bodyPr>
          <a:lstStyle/>
          <a:p>
            <a:pPr algn="l"/>
            <a:r>
              <a:rPr sz="1050" b="1">
                <a:solidFill>
                  <a:srgbClr val="FFFFFF"/>
                </a:solidFill>
                <a:latin typeface="Calibri"/>
              </a:rPr>
              <a:t>Moscow</a:t>
            </a:r>
          </a:p>
        </p:txBody>
      </p:sp>
      <p:sp>
        <p:nvSpPr>
          <p:cNvPr id="26" name="TextBox 25"/>
          <p:cNvSpPr txBox="1"/>
          <p:nvPr/>
        </p:nvSpPr>
        <p:spPr>
          <a:xfrm>
            <a:off x="3895344" y="5779008"/>
            <a:ext cx="1280160" cy="411480"/>
          </a:xfrm>
          <a:prstGeom prst="rect">
            <a:avLst/>
          </a:prstGeom>
          <a:noFill/>
        </p:spPr>
        <p:txBody>
          <a:bodyPr wrap="square" lIns="0" tIns="0" rIns="0" bIns="0" anchor="t">
            <a:spAutoFit/>
          </a:bodyPr>
          <a:lstStyle/>
          <a:p>
            <a:pPr algn="l"/>
            <a:r>
              <a:rPr sz="950" b="1">
                <a:solidFill>
                  <a:srgbClr val="7CE3A0"/>
                </a:solidFill>
                <a:latin typeface="Calibri"/>
              </a:rPr>
              <a:t>35 µg/m³</a:t>
            </a:r>
          </a:p>
          <a:p>
            <a:pPr algn="l"/>
            <a:r>
              <a:rPr sz="950" b="0">
                <a:solidFill>
                  <a:srgbClr val="8FB39E"/>
                </a:solidFill>
                <a:latin typeface="Calibri"/>
              </a:rPr>
              <a:t>PM2.5 24 h limit</a:t>
            </a:r>
          </a:p>
        </p:txBody>
      </p:sp>
      <p:sp>
        <p:nvSpPr>
          <p:cNvPr id="27" name="Rounded Rectangle 26"/>
          <p:cNvSpPr/>
          <p:nvPr/>
        </p:nvSpPr>
        <p:spPr>
          <a:xfrm>
            <a:off x="5358384" y="4983480"/>
            <a:ext cx="1444752" cy="1280160"/>
          </a:xfrm>
          <a:prstGeom prst="roundRect">
            <a:avLst>
              <a:gd name="adj" fmla="val 5000"/>
            </a:avLst>
          </a:prstGeom>
          <a:solidFill>
            <a:srgbClr val="132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image.png"/>
          <p:cNvPicPr>
            <a:picLocks noChangeAspect="1"/>
          </p:cNvPicPr>
          <p:nvPr/>
        </p:nvPicPr>
        <p:blipFill>
          <a:blip r:embed="rId7"/>
          <a:stretch>
            <a:fillRect/>
          </a:stretch>
        </p:blipFill>
        <p:spPr>
          <a:xfrm>
            <a:off x="5468112" y="5102352"/>
            <a:ext cx="566928" cy="566928"/>
          </a:xfrm>
          <a:prstGeom prst="rect">
            <a:avLst/>
          </a:prstGeom>
        </p:spPr>
      </p:pic>
      <p:sp>
        <p:nvSpPr>
          <p:cNvPr id="29" name="TextBox 28"/>
          <p:cNvSpPr txBox="1"/>
          <p:nvPr/>
        </p:nvSpPr>
        <p:spPr>
          <a:xfrm>
            <a:off x="6089904" y="5138928"/>
            <a:ext cx="685800" cy="502920"/>
          </a:xfrm>
          <a:prstGeom prst="rect">
            <a:avLst/>
          </a:prstGeom>
          <a:noFill/>
        </p:spPr>
        <p:txBody>
          <a:bodyPr wrap="square" lIns="0" tIns="0" rIns="0" bIns="0" anchor="t">
            <a:spAutoFit/>
          </a:bodyPr>
          <a:lstStyle/>
          <a:p>
            <a:pPr algn="l"/>
            <a:r>
              <a:rPr sz="1050" b="1">
                <a:solidFill>
                  <a:srgbClr val="FFFFFF"/>
                </a:solidFill>
                <a:latin typeface="Calibri"/>
              </a:rPr>
              <a:t>Pretoria</a:t>
            </a:r>
          </a:p>
        </p:txBody>
      </p:sp>
      <p:sp>
        <p:nvSpPr>
          <p:cNvPr id="30" name="TextBox 29"/>
          <p:cNvSpPr txBox="1"/>
          <p:nvPr/>
        </p:nvSpPr>
        <p:spPr>
          <a:xfrm>
            <a:off x="5468112" y="5779008"/>
            <a:ext cx="1280160" cy="411480"/>
          </a:xfrm>
          <a:prstGeom prst="rect">
            <a:avLst/>
          </a:prstGeom>
          <a:noFill/>
        </p:spPr>
        <p:txBody>
          <a:bodyPr wrap="square" lIns="0" tIns="0" rIns="0" bIns="0" anchor="t">
            <a:spAutoFit/>
          </a:bodyPr>
          <a:lstStyle/>
          <a:p>
            <a:pPr algn="l"/>
            <a:r>
              <a:rPr sz="950" b="1">
                <a:solidFill>
                  <a:srgbClr val="7CE3A0"/>
                </a:solidFill>
                <a:latin typeface="Calibri"/>
              </a:rPr>
              <a:t>40 µg/m³</a:t>
            </a:r>
          </a:p>
          <a:p>
            <a:pPr algn="l"/>
            <a:r>
              <a:rPr sz="950" b="0">
                <a:solidFill>
                  <a:srgbClr val="8FB39E"/>
                </a:solidFill>
                <a:latin typeface="Calibri"/>
              </a:rPr>
              <a:t>PM2.5 24 h limit</a:t>
            </a:r>
          </a:p>
        </p:txBody>
      </p:sp>
      <p:sp>
        <p:nvSpPr>
          <p:cNvPr id="31" name="Rounded Rectangle 30"/>
          <p:cNvSpPr/>
          <p:nvPr/>
        </p:nvSpPr>
        <p:spPr>
          <a:xfrm>
            <a:off x="6931152" y="4983480"/>
            <a:ext cx="1444752" cy="1280160"/>
          </a:xfrm>
          <a:prstGeom prst="roundRect">
            <a:avLst>
              <a:gd name="adj" fmla="val 5000"/>
            </a:avLst>
          </a:prstGeom>
          <a:solidFill>
            <a:srgbClr val="132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Picture 31" descr="image.png"/>
          <p:cNvPicPr>
            <a:picLocks noChangeAspect="1"/>
          </p:cNvPicPr>
          <p:nvPr/>
        </p:nvPicPr>
        <p:blipFill>
          <a:blip r:embed="rId8"/>
          <a:stretch>
            <a:fillRect/>
          </a:stretch>
        </p:blipFill>
        <p:spPr>
          <a:xfrm>
            <a:off x="7040880" y="5102352"/>
            <a:ext cx="566928" cy="566928"/>
          </a:xfrm>
          <a:prstGeom prst="rect">
            <a:avLst/>
          </a:prstGeom>
        </p:spPr>
      </p:pic>
      <p:sp>
        <p:nvSpPr>
          <p:cNvPr id="33" name="TextBox 32"/>
          <p:cNvSpPr txBox="1"/>
          <p:nvPr/>
        </p:nvSpPr>
        <p:spPr>
          <a:xfrm>
            <a:off x="7662672" y="5138928"/>
            <a:ext cx="685800" cy="502920"/>
          </a:xfrm>
          <a:prstGeom prst="rect">
            <a:avLst/>
          </a:prstGeom>
          <a:noFill/>
        </p:spPr>
        <p:txBody>
          <a:bodyPr wrap="square" lIns="0" tIns="0" rIns="0" bIns="0" anchor="t">
            <a:spAutoFit/>
          </a:bodyPr>
          <a:lstStyle/>
          <a:p>
            <a:pPr algn="l"/>
            <a:r>
              <a:rPr sz="1050" b="1">
                <a:solidFill>
                  <a:srgbClr val="FFFFFF"/>
                </a:solidFill>
                <a:latin typeface="Calibri"/>
              </a:rPr>
              <a:t>Abu Dhabi</a:t>
            </a:r>
          </a:p>
        </p:txBody>
      </p:sp>
      <p:sp>
        <p:nvSpPr>
          <p:cNvPr id="34" name="TextBox 33"/>
          <p:cNvSpPr txBox="1"/>
          <p:nvPr/>
        </p:nvSpPr>
        <p:spPr>
          <a:xfrm>
            <a:off x="7040880" y="5779008"/>
            <a:ext cx="1280160" cy="411480"/>
          </a:xfrm>
          <a:prstGeom prst="rect">
            <a:avLst/>
          </a:prstGeom>
          <a:noFill/>
        </p:spPr>
        <p:txBody>
          <a:bodyPr wrap="square" lIns="0" tIns="0" rIns="0" bIns="0" anchor="t">
            <a:spAutoFit/>
          </a:bodyPr>
          <a:lstStyle/>
          <a:p>
            <a:pPr algn="l"/>
            <a:r>
              <a:rPr sz="950" b="1">
                <a:solidFill>
                  <a:srgbClr val="7CE3A0"/>
                </a:solidFill>
                <a:latin typeface="Calibri"/>
              </a:rPr>
              <a:t>60 µg/m³</a:t>
            </a:r>
          </a:p>
          <a:p>
            <a:pPr algn="l"/>
            <a:r>
              <a:rPr sz="950" b="0">
                <a:solidFill>
                  <a:srgbClr val="8FB39E"/>
                </a:solidFill>
                <a:latin typeface="Calibri"/>
              </a:rPr>
              <a:t>PM2.5 24 h limit</a:t>
            </a:r>
          </a:p>
        </p:txBody>
      </p:sp>
      <p:sp>
        <p:nvSpPr>
          <p:cNvPr id="35" name="Rounded Rectangle 34"/>
          <p:cNvSpPr/>
          <p:nvPr/>
        </p:nvSpPr>
        <p:spPr>
          <a:xfrm>
            <a:off x="8503919" y="4983480"/>
            <a:ext cx="1444752" cy="1280160"/>
          </a:xfrm>
          <a:prstGeom prst="roundRect">
            <a:avLst>
              <a:gd name="adj" fmla="val 5000"/>
            </a:avLst>
          </a:prstGeom>
          <a:solidFill>
            <a:srgbClr val="132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Picture 35" descr="image.png"/>
          <p:cNvPicPr>
            <a:picLocks noChangeAspect="1"/>
          </p:cNvPicPr>
          <p:nvPr/>
        </p:nvPicPr>
        <p:blipFill>
          <a:blip r:embed="rId9"/>
          <a:stretch>
            <a:fillRect/>
          </a:stretch>
        </p:blipFill>
        <p:spPr>
          <a:xfrm>
            <a:off x="8613647" y="5102352"/>
            <a:ext cx="566928" cy="566928"/>
          </a:xfrm>
          <a:prstGeom prst="rect">
            <a:avLst/>
          </a:prstGeom>
        </p:spPr>
      </p:pic>
      <p:sp>
        <p:nvSpPr>
          <p:cNvPr id="37" name="TextBox 36"/>
          <p:cNvSpPr txBox="1"/>
          <p:nvPr/>
        </p:nvSpPr>
        <p:spPr>
          <a:xfrm>
            <a:off x="9235440" y="5138928"/>
            <a:ext cx="685800" cy="502920"/>
          </a:xfrm>
          <a:prstGeom prst="rect">
            <a:avLst/>
          </a:prstGeom>
          <a:noFill/>
        </p:spPr>
        <p:txBody>
          <a:bodyPr wrap="square" lIns="0" tIns="0" rIns="0" bIns="0" anchor="t">
            <a:spAutoFit/>
          </a:bodyPr>
          <a:lstStyle/>
          <a:p>
            <a:pPr algn="l"/>
            <a:r>
              <a:rPr sz="1050" b="1">
                <a:solidFill>
                  <a:srgbClr val="FFFFFF"/>
                </a:solidFill>
                <a:latin typeface="Calibri"/>
              </a:rPr>
              <a:t>Jakarta</a:t>
            </a:r>
          </a:p>
        </p:txBody>
      </p:sp>
      <p:sp>
        <p:nvSpPr>
          <p:cNvPr id="38" name="TextBox 37"/>
          <p:cNvSpPr txBox="1"/>
          <p:nvPr/>
        </p:nvSpPr>
        <p:spPr>
          <a:xfrm>
            <a:off x="8613647" y="5779008"/>
            <a:ext cx="1280160" cy="411480"/>
          </a:xfrm>
          <a:prstGeom prst="rect">
            <a:avLst/>
          </a:prstGeom>
          <a:noFill/>
        </p:spPr>
        <p:txBody>
          <a:bodyPr wrap="square" lIns="0" tIns="0" rIns="0" bIns="0" anchor="t">
            <a:spAutoFit/>
          </a:bodyPr>
          <a:lstStyle/>
          <a:p>
            <a:pPr algn="l"/>
            <a:r>
              <a:rPr sz="950" b="1">
                <a:solidFill>
                  <a:srgbClr val="7CE3A0"/>
                </a:solidFill>
                <a:latin typeface="Calibri"/>
              </a:rPr>
              <a:t>55 µg/m³</a:t>
            </a:r>
          </a:p>
          <a:p>
            <a:pPr algn="l"/>
            <a:r>
              <a:rPr sz="950" b="0">
                <a:solidFill>
                  <a:srgbClr val="8FB39E"/>
                </a:solidFill>
                <a:latin typeface="Calibri"/>
              </a:rPr>
              <a:t>PM2.5 24 h limit</a:t>
            </a:r>
          </a:p>
        </p:txBody>
      </p:sp>
      <p:sp>
        <p:nvSpPr>
          <p:cNvPr id="39" name="Rounded Rectangle 38"/>
          <p:cNvSpPr/>
          <p:nvPr/>
        </p:nvSpPr>
        <p:spPr>
          <a:xfrm>
            <a:off x="10076688" y="4983480"/>
            <a:ext cx="1444752" cy="1280160"/>
          </a:xfrm>
          <a:prstGeom prst="roundRect">
            <a:avLst>
              <a:gd name="adj" fmla="val 5000"/>
            </a:avLst>
          </a:prstGeom>
          <a:solidFill>
            <a:srgbClr val="132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0" name="Picture 39" descr="image.png"/>
          <p:cNvPicPr>
            <a:picLocks noChangeAspect="1"/>
          </p:cNvPicPr>
          <p:nvPr/>
        </p:nvPicPr>
        <p:blipFill>
          <a:blip r:embed="rId10"/>
          <a:stretch>
            <a:fillRect/>
          </a:stretch>
        </p:blipFill>
        <p:spPr>
          <a:xfrm>
            <a:off x="10186415" y="5102352"/>
            <a:ext cx="566928" cy="566928"/>
          </a:xfrm>
          <a:prstGeom prst="rect">
            <a:avLst/>
          </a:prstGeom>
        </p:spPr>
      </p:pic>
      <p:sp>
        <p:nvSpPr>
          <p:cNvPr id="41" name="TextBox 40"/>
          <p:cNvSpPr txBox="1"/>
          <p:nvPr/>
        </p:nvSpPr>
        <p:spPr>
          <a:xfrm>
            <a:off x="10808208" y="5138928"/>
            <a:ext cx="685800" cy="502920"/>
          </a:xfrm>
          <a:prstGeom prst="rect">
            <a:avLst/>
          </a:prstGeom>
          <a:noFill/>
        </p:spPr>
        <p:txBody>
          <a:bodyPr wrap="square" lIns="0" tIns="0" rIns="0" bIns="0" anchor="t">
            <a:spAutoFit/>
          </a:bodyPr>
          <a:lstStyle/>
          <a:p>
            <a:pPr algn="l"/>
            <a:r>
              <a:rPr sz="1050" b="1">
                <a:solidFill>
                  <a:srgbClr val="FFFFFF"/>
                </a:solidFill>
                <a:latin typeface="Calibri"/>
              </a:rPr>
              <a:t>Brasília</a:t>
            </a:r>
          </a:p>
        </p:txBody>
      </p:sp>
      <p:sp>
        <p:nvSpPr>
          <p:cNvPr id="42" name="TextBox 41"/>
          <p:cNvSpPr txBox="1"/>
          <p:nvPr/>
        </p:nvSpPr>
        <p:spPr>
          <a:xfrm>
            <a:off x="10186415" y="5779008"/>
            <a:ext cx="1280160" cy="411480"/>
          </a:xfrm>
          <a:prstGeom prst="rect">
            <a:avLst/>
          </a:prstGeom>
          <a:noFill/>
        </p:spPr>
        <p:txBody>
          <a:bodyPr wrap="square" lIns="0" tIns="0" rIns="0" bIns="0" anchor="t">
            <a:spAutoFit/>
          </a:bodyPr>
          <a:lstStyle/>
          <a:p>
            <a:pPr algn="l"/>
            <a:r>
              <a:rPr sz="950" b="1">
                <a:solidFill>
                  <a:srgbClr val="7CE3A0"/>
                </a:solidFill>
                <a:latin typeface="Calibri"/>
              </a:rPr>
              <a:t>50 µg/m³</a:t>
            </a:r>
          </a:p>
          <a:p>
            <a:pPr algn="l"/>
            <a:r>
              <a:rPr sz="950" b="0">
                <a:solidFill>
                  <a:srgbClr val="8FB39E"/>
                </a:solidFill>
                <a:latin typeface="Calibri"/>
              </a:rPr>
              <a:t>PM2.5 24 h limit</a:t>
            </a:r>
          </a:p>
        </p:txBody>
      </p:sp>
      <p:sp>
        <p:nvSpPr>
          <p:cNvPr id="43" name="TextBox 42"/>
          <p:cNvSpPr txBox="1"/>
          <p:nvPr/>
        </p:nvSpPr>
        <p:spPr>
          <a:xfrm>
            <a:off x="640080" y="6446520"/>
            <a:ext cx="9601200" cy="228600"/>
          </a:xfrm>
          <a:prstGeom prst="rect">
            <a:avLst/>
          </a:prstGeom>
          <a:noFill/>
        </p:spPr>
        <p:txBody>
          <a:bodyPr wrap="square" lIns="0" tIns="0" rIns="0" bIns="0" anchor="t">
            <a:spAutoFit/>
          </a:bodyPr>
          <a:lstStyle/>
          <a:p>
            <a:pPr algn="l"/>
            <a:r>
              <a:rPr sz="1000" b="0">
                <a:solidFill>
                  <a:srgbClr val="8FB39E"/>
                </a:solidFill>
                <a:latin typeface="Calibri"/>
              </a:rPr>
              <a:t>Live counts, 29 Sep 2026. The Indian cities card covers Delhi, Mumbai, Kolkata, Chennai, Bengaluru and Hyderabad.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E1F17"/>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8229600" cy="274320"/>
          </a:xfrm>
          <a:prstGeom prst="rect">
            <a:avLst/>
          </a:prstGeom>
          <a:noFill/>
        </p:spPr>
        <p:txBody>
          <a:bodyPr wrap="square" lIns="0" tIns="0" rIns="0" bIns="0" anchor="t">
            <a:spAutoFit/>
          </a:bodyPr>
          <a:lstStyle/>
          <a:p>
            <a:pPr algn="l"/>
            <a:r>
              <a:rPr sz="1200" b="1" spc="300">
                <a:solidFill>
                  <a:srgbClr val="7CE3A0"/>
                </a:solidFill>
                <a:latin typeface="Calibri"/>
              </a:rPr>
              <a:t>WHAT'S NEXT</a:t>
            </a:r>
          </a:p>
        </p:txBody>
      </p:sp>
      <p:sp>
        <p:nvSpPr>
          <p:cNvPr id="3" name="TextBox 2"/>
          <p:cNvSpPr txBox="1"/>
          <p:nvPr/>
        </p:nvSpPr>
        <p:spPr>
          <a:xfrm>
            <a:off x="10908792" y="6446520"/>
            <a:ext cx="640080" cy="228600"/>
          </a:xfrm>
          <a:prstGeom prst="rect">
            <a:avLst/>
          </a:prstGeom>
          <a:noFill/>
        </p:spPr>
        <p:txBody>
          <a:bodyPr wrap="square" lIns="0" tIns="0" rIns="0" bIns="0" anchor="t">
            <a:spAutoFit/>
          </a:bodyPr>
          <a:lstStyle/>
          <a:p>
            <a:pPr algn="r"/>
            <a:r>
              <a:rPr sz="1000" b="0">
                <a:solidFill>
                  <a:srgbClr val="8FB39E"/>
                </a:solidFill>
                <a:latin typeface="Calibri"/>
              </a:rPr>
              <a:t>12 / 12</a:t>
            </a:r>
          </a:p>
        </p:txBody>
      </p:sp>
      <p:sp>
        <p:nvSpPr>
          <p:cNvPr id="4" name="TextBox 3"/>
          <p:cNvSpPr txBox="1"/>
          <p:nvPr/>
        </p:nvSpPr>
        <p:spPr>
          <a:xfrm>
            <a:off x="640080" y="777240"/>
            <a:ext cx="7223760" cy="1463040"/>
          </a:xfrm>
          <a:prstGeom prst="rect">
            <a:avLst/>
          </a:prstGeom>
          <a:noFill/>
        </p:spPr>
        <p:txBody>
          <a:bodyPr wrap="square" lIns="0" tIns="0" rIns="0" bIns="0" anchor="t">
            <a:spAutoFit/>
          </a:bodyPr>
          <a:lstStyle/>
          <a:p>
            <a:pPr algn="l">
              <a:lnSpc>
                <a:spcPct val="100000"/>
              </a:lnSpc>
            </a:pPr>
            <a:r>
              <a:rPr sz="3600" b="1">
                <a:solidFill>
                  <a:srgbClr val="FFFFFF"/>
                </a:solidFill>
                <a:latin typeface="Georgia"/>
              </a:rPr>
              <a:t>Clean air, street by street, across India and BRICS.</a:t>
            </a:r>
          </a:p>
        </p:txBody>
      </p:sp>
      <p:sp>
        <p:nvSpPr>
          <p:cNvPr id="5" name="TextBox 4"/>
          <p:cNvSpPr txBox="1"/>
          <p:nvPr/>
        </p:nvSpPr>
        <p:spPr>
          <a:xfrm>
            <a:off x="640080" y="2468880"/>
            <a:ext cx="5486400" cy="320040"/>
          </a:xfrm>
          <a:prstGeom prst="rect">
            <a:avLst/>
          </a:prstGeom>
          <a:noFill/>
        </p:spPr>
        <p:txBody>
          <a:bodyPr wrap="square" lIns="0" tIns="0" rIns="0" bIns="0" anchor="t">
            <a:spAutoFit/>
          </a:bodyPr>
          <a:lstStyle/>
          <a:p>
            <a:pPr algn="l"/>
            <a:r>
              <a:rPr sz="1500" b="1">
                <a:solidFill>
                  <a:srgbClr val="7CE3A0"/>
                </a:solidFill>
                <a:latin typeface="Calibri"/>
              </a:rPr>
              <a:t>Next 90 days</a:t>
            </a:r>
          </a:p>
        </p:txBody>
      </p:sp>
      <p:sp>
        <p:nvSpPr>
          <p:cNvPr id="6" name="TextBox 5"/>
          <p:cNvSpPr txBox="1"/>
          <p:nvPr/>
        </p:nvSpPr>
        <p:spPr>
          <a:xfrm>
            <a:off x="640080" y="2926080"/>
            <a:ext cx="640080" cy="548640"/>
          </a:xfrm>
          <a:prstGeom prst="rect">
            <a:avLst/>
          </a:prstGeom>
          <a:noFill/>
        </p:spPr>
        <p:txBody>
          <a:bodyPr wrap="square" lIns="0" tIns="0" rIns="0" bIns="0" anchor="t">
            <a:spAutoFit/>
          </a:bodyPr>
          <a:lstStyle/>
          <a:p>
            <a:pPr algn="l"/>
            <a:r>
              <a:rPr sz="2200" b="1">
                <a:solidFill>
                  <a:srgbClr val="7CE3A0"/>
                </a:solidFill>
                <a:latin typeface="Georgia"/>
              </a:rPr>
              <a:t>01</a:t>
            </a:r>
          </a:p>
        </p:txBody>
      </p:sp>
      <p:sp>
        <p:nvSpPr>
          <p:cNvPr id="7" name="TextBox 6"/>
          <p:cNvSpPr txBox="1"/>
          <p:nvPr/>
        </p:nvSpPr>
        <p:spPr>
          <a:xfrm>
            <a:off x="1325880" y="2944368"/>
            <a:ext cx="6035040" cy="292608"/>
          </a:xfrm>
          <a:prstGeom prst="rect">
            <a:avLst/>
          </a:prstGeom>
          <a:noFill/>
        </p:spPr>
        <p:txBody>
          <a:bodyPr wrap="square" lIns="0" tIns="0" rIns="0" bIns="0" anchor="t">
            <a:spAutoFit/>
          </a:bodyPr>
          <a:lstStyle/>
          <a:p>
            <a:pPr algn="l"/>
            <a:r>
              <a:rPr sz="1400" b="1">
                <a:solidFill>
                  <a:srgbClr val="FFFFFF"/>
                </a:solidFill>
                <a:latin typeface="Calibri"/>
              </a:rPr>
              <a:t>Pilot with one municipal team</a:t>
            </a:r>
          </a:p>
        </p:txBody>
      </p:sp>
      <p:sp>
        <p:nvSpPr>
          <p:cNvPr id="8" name="TextBox 7"/>
          <p:cNvSpPr txBox="1"/>
          <p:nvPr/>
        </p:nvSpPr>
        <p:spPr>
          <a:xfrm>
            <a:off x="1325880" y="3255264"/>
            <a:ext cx="6035040" cy="411480"/>
          </a:xfrm>
          <a:prstGeom prst="rect">
            <a:avLst/>
          </a:prstGeom>
          <a:noFill/>
        </p:spPr>
        <p:txBody>
          <a:bodyPr wrap="square" lIns="0" tIns="0" rIns="0" bIns="0" anchor="t">
            <a:spAutoFit/>
          </a:bodyPr>
          <a:lstStyle/>
          <a:p>
            <a:pPr algn="l"/>
            <a:r>
              <a:rPr sz="1200" b="0">
                <a:solidFill>
                  <a:srgbClr val="C9DCD0"/>
                </a:solidFill>
                <a:latin typeface="Calibri"/>
              </a:rPr>
              <a:t>Real dispatches and their response targets, instead of our placeholders.</a:t>
            </a:r>
          </a:p>
        </p:txBody>
      </p:sp>
      <p:sp>
        <p:nvSpPr>
          <p:cNvPr id="9" name="TextBox 8"/>
          <p:cNvSpPr txBox="1"/>
          <p:nvPr/>
        </p:nvSpPr>
        <p:spPr>
          <a:xfrm>
            <a:off x="640080" y="3767328"/>
            <a:ext cx="640080" cy="548640"/>
          </a:xfrm>
          <a:prstGeom prst="rect">
            <a:avLst/>
          </a:prstGeom>
          <a:noFill/>
        </p:spPr>
        <p:txBody>
          <a:bodyPr wrap="square" lIns="0" tIns="0" rIns="0" bIns="0" anchor="t">
            <a:spAutoFit/>
          </a:bodyPr>
          <a:lstStyle/>
          <a:p>
            <a:pPr algn="l"/>
            <a:r>
              <a:rPr sz="2200" b="1">
                <a:solidFill>
                  <a:srgbClr val="7CE3A0"/>
                </a:solidFill>
                <a:latin typeface="Georgia"/>
              </a:rPr>
              <a:t>02</a:t>
            </a:r>
          </a:p>
        </p:txBody>
      </p:sp>
      <p:sp>
        <p:nvSpPr>
          <p:cNvPr id="10" name="TextBox 9"/>
          <p:cNvSpPr txBox="1"/>
          <p:nvPr/>
        </p:nvSpPr>
        <p:spPr>
          <a:xfrm>
            <a:off x="1325880" y="3785615"/>
            <a:ext cx="6035040" cy="292608"/>
          </a:xfrm>
          <a:prstGeom prst="rect">
            <a:avLst/>
          </a:prstGeom>
          <a:noFill/>
        </p:spPr>
        <p:txBody>
          <a:bodyPr wrap="square" lIns="0" tIns="0" rIns="0" bIns="0" anchor="t">
            <a:spAutoFit/>
          </a:bodyPr>
          <a:lstStyle/>
          <a:p>
            <a:pPr algn="l"/>
            <a:r>
              <a:rPr sz="1400" b="1">
                <a:solidFill>
                  <a:srgbClr val="FFFFFF"/>
                </a:solidFill>
                <a:latin typeface="Calibri"/>
              </a:rPr>
              <a:t>Alerts near you</a:t>
            </a:r>
          </a:p>
        </p:txBody>
      </p:sp>
      <p:sp>
        <p:nvSpPr>
          <p:cNvPr id="11" name="TextBox 10"/>
          <p:cNvSpPr txBox="1"/>
          <p:nvPr/>
        </p:nvSpPr>
        <p:spPr>
          <a:xfrm>
            <a:off x="1325880" y="4096512"/>
            <a:ext cx="6035040" cy="411480"/>
          </a:xfrm>
          <a:prstGeom prst="rect">
            <a:avLst/>
          </a:prstGeom>
          <a:noFill/>
        </p:spPr>
        <p:txBody>
          <a:bodyPr wrap="square" lIns="0" tIns="0" rIns="0" bIns="0" anchor="t">
            <a:spAutoFit/>
          </a:bodyPr>
          <a:lstStyle/>
          <a:p>
            <a:pPr algn="l"/>
            <a:r>
              <a:rPr sz="1200" b="0">
                <a:solidFill>
                  <a:srgbClr val="C9DCD0"/>
                </a:solidFill>
                <a:latin typeface="Calibri"/>
              </a:rPr>
              <a:t>A WhatsApp message when a hotspot is confirmed within 1 km.</a:t>
            </a:r>
          </a:p>
        </p:txBody>
      </p:sp>
      <p:sp>
        <p:nvSpPr>
          <p:cNvPr id="12" name="TextBox 11"/>
          <p:cNvSpPr txBox="1"/>
          <p:nvPr/>
        </p:nvSpPr>
        <p:spPr>
          <a:xfrm>
            <a:off x="640080" y="4608576"/>
            <a:ext cx="640080" cy="548640"/>
          </a:xfrm>
          <a:prstGeom prst="rect">
            <a:avLst/>
          </a:prstGeom>
          <a:noFill/>
        </p:spPr>
        <p:txBody>
          <a:bodyPr wrap="square" lIns="0" tIns="0" rIns="0" bIns="0" anchor="t">
            <a:spAutoFit/>
          </a:bodyPr>
          <a:lstStyle/>
          <a:p>
            <a:pPr algn="l"/>
            <a:r>
              <a:rPr sz="2200" b="1">
                <a:solidFill>
                  <a:srgbClr val="7CE3A0"/>
                </a:solidFill>
                <a:latin typeface="Georgia"/>
              </a:rPr>
              <a:t>03</a:t>
            </a:r>
          </a:p>
        </p:txBody>
      </p:sp>
      <p:sp>
        <p:nvSpPr>
          <p:cNvPr id="13" name="TextBox 12"/>
          <p:cNvSpPr txBox="1"/>
          <p:nvPr/>
        </p:nvSpPr>
        <p:spPr>
          <a:xfrm>
            <a:off x="1325880" y="4626864"/>
            <a:ext cx="6035040" cy="292608"/>
          </a:xfrm>
          <a:prstGeom prst="rect">
            <a:avLst/>
          </a:prstGeom>
          <a:noFill/>
        </p:spPr>
        <p:txBody>
          <a:bodyPr wrap="square" lIns="0" tIns="0" rIns="0" bIns="0" anchor="t">
            <a:spAutoFit/>
          </a:bodyPr>
          <a:lstStyle/>
          <a:p>
            <a:pPr algn="l"/>
            <a:r>
              <a:rPr sz="1400" b="1">
                <a:solidFill>
                  <a:srgbClr val="FFFFFF"/>
                </a:solidFill>
                <a:latin typeface="Calibri"/>
              </a:rPr>
              <a:t>Proof of the fix</a:t>
            </a:r>
          </a:p>
        </p:txBody>
      </p:sp>
      <p:sp>
        <p:nvSpPr>
          <p:cNvPr id="14" name="TextBox 13"/>
          <p:cNvSpPr txBox="1"/>
          <p:nvPr/>
        </p:nvSpPr>
        <p:spPr>
          <a:xfrm>
            <a:off x="1325880" y="4937760"/>
            <a:ext cx="6035040" cy="411480"/>
          </a:xfrm>
          <a:prstGeom prst="rect">
            <a:avLst/>
          </a:prstGeom>
          <a:noFill/>
        </p:spPr>
        <p:txBody>
          <a:bodyPr wrap="square" lIns="0" tIns="0" rIns="0" bIns="0" anchor="t">
            <a:spAutoFit/>
          </a:bodyPr>
          <a:lstStyle/>
          <a:p>
            <a:pPr algn="l"/>
            <a:r>
              <a:rPr sz="1200" b="0">
                <a:solidFill>
                  <a:srgbClr val="C9DCD0"/>
                </a:solidFill>
                <a:latin typeface="Calibri"/>
              </a:rPr>
              <a:t>An after-photo from the crew, checked by Gemini against the report.</a:t>
            </a:r>
          </a:p>
        </p:txBody>
      </p:sp>
      <p:sp>
        <p:nvSpPr>
          <p:cNvPr id="15" name="TextBox 14"/>
          <p:cNvSpPr txBox="1"/>
          <p:nvPr/>
        </p:nvSpPr>
        <p:spPr>
          <a:xfrm>
            <a:off x="640080" y="5577840"/>
            <a:ext cx="6858000" cy="274320"/>
          </a:xfrm>
          <a:prstGeom prst="rect">
            <a:avLst/>
          </a:prstGeom>
          <a:noFill/>
        </p:spPr>
        <p:txBody>
          <a:bodyPr wrap="square" lIns="0" tIns="0" rIns="0" bIns="0" anchor="t">
            <a:spAutoFit/>
          </a:bodyPr>
          <a:lstStyle/>
          <a:p>
            <a:pPr algn="l"/>
            <a:r>
              <a:rPr sz="1200" b="1">
                <a:solidFill>
                  <a:srgbClr val="7CE3A0"/>
                </a:solidFill>
                <a:latin typeface="Calibri"/>
              </a:rPr>
              <a:t>Built on Google Cloud</a:t>
            </a:r>
          </a:p>
        </p:txBody>
      </p:sp>
      <p:sp>
        <p:nvSpPr>
          <p:cNvPr id="16" name="Rounded Rectangle 15"/>
          <p:cNvSpPr/>
          <p:nvPr/>
        </p:nvSpPr>
        <p:spPr>
          <a:xfrm>
            <a:off x="640080" y="5925312"/>
            <a:ext cx="592531" cy="329184"/>
          </a:xfrm>
          <a:prstGeom prst="roundRect">
            <a:avLst>
              <a:gd name="adj" fmla="val 50000"/>
            </a:avLst>
          </a:prstGeom>
          <a:solidFill>
            <a:srgbClr val="0E1F17"/>
          </a:solidFill>
          <a:ln w="12700">
            <a:solidFill>
              <a:srgbClr val="3D6B5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50" b="1">
                <a:solidFill>
                  <a:srgbClr val="FFFFFF"/>
                </a:solidFill>
                <a:latin typeface="Calibri"/>
              </a:rPr>
              <a:t>Gemini</a:t>
            </a:r>
          </a:p>
        </p:txBody>
      </p:sp>
      <p:sp>
        <p:nvSpPr>
          <p:cNvPr id="17" name="Rounded Rectangle 16"/>
          <p:cNvSpPr/>
          <p:nvPr/>
        </p:nvSpPr>
        <p:spPr>
          <a:xfrm>
            <a:off x="1305763" y="5925312"/>
            <a:ext cx="965606" cy="329184"/>
          </a:xfrm>
          <a:prstGeom prst="roundRect">
            <a:avLst>
              <a:gd name="adj" fmla="val 50000"/>
            </a:avLst>
          </a:prstGeom>
          <a:solidFill>
            <a:srgbClr val="0E1F17"/>
          </a:solidFill>
          <a:ln w="12700">
            <a:solidFill>
              <a:srgbClr val="3D6B5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50" b="1">
                <a:solidFill>
                  <a:srgbClr val="FFFFFF"/>
                </a:solidFill>
                <a:latin typeface="Calibri"/>
              </a:rPr>
              <a:t>Earth Engine</a:t>
            </a:r>
          </a:p>
        </p:txBody>
      </p:sp>
      <p:sp>
        <p:nvSpPr>
          <p:cNvPr id="18" name="Rounded Rectangle 17"/>
          <p:cNvSpPr/>
          <p:nvPr/>
        </p:nvSpPr>
        <p:spPr>
          <a:xfrm>
            <a:off x="2344521" y="5925312"/>
            <a:ext cx="903427" cy="329184"/>
          </a:xfrm>
          <a:prstGeom prst="roundRect">
            <a:avLst>
              <a:gd name="adj" fmla="val 50000"/>
            </a:avLst>
          </a:prstGeom>
          <a:solidFill>
            <a:srgbClr val="0E1F17"/>
          </a:solidFill>
          <a:ln w="12700">
            <a:solidFill>
              <a:srgbClr val="3D6B5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50" b="1">
                <a:solidFill>
                  <a:srgbClr val="FFFFFF"/>
                </a:solidFill>
                <a:latin typeface="Calibri"/>
              </a:rPr>
              <a:t>BigQuery ML</a:t>
            </a:r>
          </a:p>
        </p:txBody>
      </p:sp>
      <p:sp>
        <p:nvSpPr>
          <p:cNvPr id="19" name="Rounded Rectangle 18"/>
          <p:cNvSpPr/>
          <p:nvPr/>
        </p:nvSpPr>
        <p:spPr>
          <a:xfrm>
            <a:off x="3321100" y="5925312"/>
            <a:ext cx="716889" cy="329184"/>
          </a:xfrm>
          <a:prstGeom prst="roundRect">
            <a:avLst>
              <a:gd name="adj" fmla="val 50000"/>
            </a:avLst>
          </a:prstGeom>
          <a:solidFill>
            <a:srgbClr val="0E1F17"/>
          </a:solidFill>
          <a:ln w="12700">
            <a:solidFill>
              <a:srgbClr val="3D6B5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50" b="1">
                <a:solidFill>
                  <a:srgbClr val="FFFFFF"/>
                </a:solidFill>
                <a:latin typeface="Calibri"/>
              </a:rPr>
              <a:t>Firebase</a:t>
            </a:r>
          </a:p>
        </p:txBody>
      </p:sp>
      <p:sp>
        <p:nvSpPr>
          <p:cNvPr id="20" name="Rounded Rectangle 19"/>
          <p:cNvSpPr/>
          <p:nvPr/>
        </p:nvSpPr>
        <p:spPr>
          <a:xfrm>
            <a:off x="4111142" y="5925312"/>
            <a:ext cx="1027785" cy="329184"/>
          </a:xfrm>
          <a:prstGeom prst="roundRect">
            <a:avLst>
              <a:gd name="adj" fmla="val 50000"/>
            </a:avLst>
          </a:prstGeom>
          <a:solidFill>
            <a:srgbClr val="0E1F17"/>
          </a:solidFill>
          <a:ln w="12700">
            <a:solidFill>
              <a:srgbClr val="3D6B5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50" b="1">
                <a:solidFill>
                  <a:srgbClr val="FFFFFF"/>
                </a:solidFill>
                <a:latin typeface="Calibri"/>
              </a:rPr>
              <a:t>Maps Platform</a:t>
            </a:r>
          </a:p>
        </p:txBody>
      </p:sp>
      <p:sp>
        <p:nvSpPr>
          <p:cNvPr id="21" name="Rounded Rectangle 20"/>
          <p:cNvSpPr/>
          <p:nvPr/>
        </p:nvSpPr>
        <p:spPr>
          <a:xfrm>
            <a:off x="5212080" y="5925312"/>
            <a:ext cx="1152144" cy="329184"/>
          </a:xfrm>
          <a:prstGeom prst="roundRect">
            <a:avLst>
              <a:gd name="adj" fmla="val 50000"/>
            </a:avLst>
          </a:prstGeom>
          <a:solidFill>
            <a:srgbClr val="0E1F17"/>
          </a:solidFill>
          <a:ln w="12700">
            <a:solidFill>
              <a:srgbClr val="3D6B5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50" b="1">
                <a:solidFill>
                  <a:srgbClr val="FFFFFF"/>
                </a:solidFill>
                <a:latin typeface="Calibri"/>
              </a:rPr>
              <a:t>Air Quality API</a:t>
            </a:r>
          </a:p>
        </p:txBody>
      </p:sp>
      <p:sp>
        <p:nvSpPr>
          <p:cNvPr id="22" name="Rounded Rectangle 21"/>
          <p:cNvSpPr/>
          <p:nvPr/>
        </p:nvSpPr>
        <p:spPr>
          <a:xfrm>
            <a:off x="6437376" y="5925312"/>
            <a:ext cx="1152144" cy="329184"/>
          </a:xfrm>
          <a:prstGeom prst="roundRect">
            <a:avLst>
              <a:gd name="adj" fmla="val 50000"/>
            </a:avLst>
          </a:prstGeom>
          <a:solidFill>
            <a:srgbClr val="0E1F17"/>
          </a:solidFill>
          <a:ln w="12700">
            <a:solidFill>
              <a:srgbClr val="3D6B50"/>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50" b="1">
                <a:solidFill>
                  <a:srgbClr val="FFFFFF"/>
                </a:solidFill>
                <a:latin typeface="Calibri"/>
              </a:rPr>
              <a:t>Cloud Scheduler</a:t>
            </a:r>
          </a:p>
        </p:txBody>
      </p:sp>
      <p:sp>
        <p:nvSpPr>
          <p:cNvPr id="23" name="Rounded Rectangle 22"/>
          <p:cNvSpPr/>
          <p:nvPr/>
        </p:nvSpPr>
        <p:spPr>
          <a:xfrm>
            <a:off x="8229600" y="914400"/>
            <a:ext cx="3319272" cy="5349240"/>
          </a:xfrm>
          <a:prstGeom prst="roundRect">
            <a:avLst>
              <a:gd name="adj" fmla="val 5000"/>
            </a:avLst>
          </a:prstGeom>
          <a:solidFill>
            <a:srgbClr val="1329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503920" y="1188720"/>
            <a:ext cx="2834640" cy="365760"/>
          </a:xfrm>
          <a:prstGeom prst="rect">
            <a:avLst/>
          </a:prstGeom>
          <a:noFill/>
        </p:spPr>
        <p:txBody>
          <a:bodyPr wrap="square" lIns="0" tIns="0" rIns="0" bIns="0" anchor="t">
            <a:spAutoFit/>
          </a:bodyPr>
          <a:lstStyle/>
          <a:p>
            <a:pPr algn="l"/>
            <a:r>
              <a:rPr sz="2000" b="1">
                <a:solidFill>
                  <a:srgbClr val="FFFFFF"/>
                </a:solidFill>
                <a:latin typeface="Georgia"/>
              </a:rPr>
              <a:t>Citizens</a:t>
            </a:r>
          </a:p>
        </p:txBody>
      </p:sp>
      <p:sp>
        <p:nvSpPr>
          <p:cNvPr id="25" name="TextBox 24"/>
          <p:cNvSpPr txBox="1"/>
          <p:nvPr/>
        </p:nvSpPr>
        <p:spPr>
          <a:xfrm>
            <a:off x="8503920" y="1627632"/>
            <a:ext cx="2834640" cy="640080"/>
          </a:xfrm>
          <a:prstGeom prst="rect">
            <a:avLst/>
          </a:prstGeom>
          <a:noFill/>
        </p:spPr>
        <p:txBody>
          <a:bodyPr wrap="square" lIns="0" tIns="0" rIns="0" bIns="0" anchor="t">
            <a:spAutoFit/>
          </a:bodyPr>
          <a:lstStyle/>
          <a:p>
            <a:pPr algn="l"/>
            <a:r>
              <a:rPr sz="1250" b="0">
                <a:solidFill>
                  <a:srgbClr val="C9DCD0"/>
                </a:solidFill>
                <a:latin typeface="Calibri"/>
              </a:rPr>
              <a:t>report in their language and see what happened</a:t>
            </a:r>
          </a:p>
        </p:txBody>
      </p:sp>
      <p:sp>
        <p:nvSpPr>
          <p:cNvPr id="26" name="TextBox 25"/>
          <p:cNvSpPr txBox="1"/>
          <p:nvPr/>
        </p:nvSpPr>
        <p:spPr>
          <a:xfrm>
            <a:off x="8503920" y="2560320"/>
            <a:ext cx="2834640" cy="365760"/>
          </a:xfrm>
          <a:prstGeom prst="rect">
            <a:avLst/>
          </a:prstGeom>
          <a:noFill/>
        </p:spPr>
        <p:txBody>
          <a:bodyPr wrap="square" lIns="0" tIns="0" rIns="0" bIns="0" anchor="t">
            <a:spAutoFit/>
          </a:bodyPr>
          <a:lstStyle/>
          <a:p>
            <a:pPr algn="l"/>
            <a:r>
              <a:rPr sz="2000" b="1">
                <a:solidFill>
                  <a:srgbClr val="FFFFFF"/>
                </a:solidFill>
                <a:latin typeface="Georgia"/>
              </a:rPr>
              <a:t>Operators</a:t>
            </a:r>
          </a:p>
        </p:txBody>
      </p:sp>
      <p:sp>
        <p:nvSpPr>
          <p:cNvPr id="27" name="TextBox 26"/>
          <p:cNvSpPr txBox="1"/>
          <p:nvPr/>
        </p:nvSpPr>
        <p:spPr>
          <a:xfrm>
            <a:off x="8503920" y="2999232"/>
            <a:ext cx="2834640" cy="640080"/>
          </a:xfrm>
          <a:prstGeom prst="rect">
            <a:avLst/>
          </a:prstGeom>
          <a:noFill/>
        </p:spPr>
        <p:txBody>
          <a:bodyPr wrap="square" lIns="0" tIns="0" rIns="0" bIns="0" anchor="t">
            <a:spAutoFit/>
          </a:bodyPr>
          <a:lstStyle/>
          <a:p>
            <a:pPr algn="l"/>
            <a:r>
              <a:rPr sz="1250" b="0">
                <a:solidFill>
                  <a:srgbClr val="C9DCD0"/>
                </a:solidFill>
                <a:latin typeface="Calibri"/>
              </a:rPr>
              <a:t>act on ranked, evidence-backed hotspots</a:t>
            </a:r>
          </a:p>
        </p:txBody>
      </p:sp>
      <p:sp>
        <p:nvSpPr>
          <p:cNvPr id="28" name="TextBox 27"/>
          <p:cNvSpPr txBox="1"/>
          <p:nvPr/>
        </p:nvSpPr>
        <p:spPr>
          <a:xfrm>
            <a:off x="8503920" y="3931920"/>
            <a:ext cx="2834640" cy="365760"/>
          </a:xfrm>
          <a:prstGeom prst="rect">
            <a:avLst/>
          </a:prstGeom>
          <a:noFill/>
        </p:spPr>
        <p:txBody>
          <a:bodyPr wrap="square" lIns="0" tIns="0" rIns="0" bIns="0" anchor="t">
            <a:spAutoFit/>
          </a:bodyPr>
          <a:lstStyle/>
          <a:p>
            <a:pPr algn="l"/>
            <a:r>
              <a:rPr sz="2000" b="1">
                <a:solidFill>
                  <a:srgbClr val="FFFFFF"/>
                </a:solidFill>
                <a:latin typeface="Georgia"/>
              </a:rPr>
              <a:t>Nations</a:t>
            </a:r>
          </a:p>
        </p:txBody>
      </p:sp>
      <p:sp>
        <p:nvSpPr>
          <p:cNvPr id="29" name="TextBox 28"/>
          <p:cNvSpPr txBox="1"/>
          <p:nvPr/>
        </p:nvSpPr>
        <p:spPr>
          <a:xfrm>
            <a:off x="8503920" y="4370831"/>
            <a:ext cx="2834640" cy="640080"/>
          </a:xfrm>
          <a:prstGeom prst="rect">
            <a:avLst/>
          </a:prstGeom>
          <a:noFill/>
        </p:spPr>
        <p:txBody>
          <a:bodyPr wrap="square" lIns="0" tIns="0" rIns="0" bIns="0" anchor="t">
            <a:spAutoFit/>
          </a:bodyPr>
          <a:lstStyle/>
          <a:p>
            <a:pPr algn="l"/>
            <a:r>
              <a:rPr sz="1250" b="0">
                <a:solidFill>
                  <a:srgbClr val="C9DCD0"/>
                </a:solidFill>
                <a:latin typeface="Calibri"/>
              </a:rPr>
              <a:t>share one engine and keep their own rules</a:t>
            </a:r>
          </a:p>
        </p:txBody>
      </p:sp>
      <p:cxnSp>
        <p:nvCxnSpPr>
          <p:cNvPr id="30" name="Connector 29"/>
          <p:cNvCxnSpPr/>
          <p:nvPr/>
        </p:nvCxnSpPr>
        <p:spPr>
          <a:xfrm>
            <a:off x="8503920" y="5074920"/>
            <a:ext cx="2770632" cy="0"/>
          </a:xfrm>
          <a:prstGeom prst="line">
            <a:avLst/>
          </a:prstGeom>
          <a:ln w="12700">
            <a:solidFill>
              <a:srgbClr val="2A4A37"/>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503920" y="5303520"/>
            <a:ext cx="2834640" cy="548640"/>
          </a:xfrm>
          <a:prstGeom prst="rect">
            <a:avLst/>
          </a:prstGeom>
          <a:noFill/>
        </p:spPr>
        <p:txBody>
          <a:bodyPr wrap="square" lIns="0" tIns="0" rIns="0" bIns="0" anchor="t">
            <a:spAutoFit/>
          </a:bodyPr>
          <a:lstStyle/>
          <a:p>
            <a:pPr algn="l"/>
            <a:r>
              <a:rPr sz="2600" b="1">
                <a:solidFill>
                  <a:srgbClr val="7CE3A0"/>
                </a:solidFill>
                <a:latin typeface="Georgia"/>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2306</Words>
  <Application>Microsoft Office PowerPoint</Application>
  <PresentationFormat>Widescreen</PresentationFormat>
  <Paragraphs>289</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VayuSetu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VayuSetu — hyperlocal air-pollution intelligence for BRICS capitals</dc:title>
  <dc:subject>PptxGenJS Presentation</dc:subject>
  <dc:creator>PptxGenJS</dc:creator>
  <cp:lastModifiedBy>Harshit .A</cp:lastModifiedBy>
  <cp:revision>4</cp:revision>
  <dcterms:created xsi:type="dcterms:W3CDTF">2026-09-26T14:36:01Z</dcterms:created>
  <dcterms:modified xsi:type="dcterms:W3CDTF">2026-09-29T07:38:36Z</dcterms:modified>
</cp:coreProperties>
</file>