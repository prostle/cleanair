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65" r:id="rId13"/>
    <p:sldId id="270" r:id="rId14"/>
    <p:sldId id="271" r:id="rId15"/>
    <p:sldId id="266" r:id="rId16"/>
    <p:sldId id="267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1337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VayuSetu, 'bridge of air'. Finds pollution hotspots street by street in BRICS capitals, proves each one with independent evidence, and makes sure somebody fixes it. (20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city-wide AQI hides the air people breathe: one monitor can sit kilometres from a garbage fire. Smoke crosses borders. Data rarely reaches a crew: nobody is told which street or which department. (40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Four steps: sense, verify, fuse, act. Photo + voice + pin; Gemini checks the photo; scored against station, Sentinel-5P, NASA fires and wind; routed with a work order. Point at: 4 streams, ~0.7 km2 cells, 6 tiers, 13 languages. (40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Live in seven capitals: New Delhi, Beijing, Moscow, Pretoria, Abu Dhabi, Jakarta, Brasilia. Each uses its own country's legal limits, on one shared engine. (25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Dashboards show one number for the city. We work at street level, combine five kinds of evidence, check every report, and end with an action, not a chart. (30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Every alert needs independent evidence. Report, then Gemini classification, then an integrity check (EXIF time/GPS, duplicates, screenshots), then fusion. Six tiers, strongest first. A scan every 30 min raises hotspots from stations and satellites alone. (40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DEMO 1, tab /report: Open camera or choose image, then What are you seeing?, then Detect my location (or Search / Use map picker), then Speak (optional), then Submit Report, then Track this report, then point at About this area. (1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DEMO 2, tab /map, city Beijing: station pins coloured by PM2.5; Map view: 3D then 2D; tick Show satellite fires; click a pin, then View this area. (40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DEMO 3, tab /dashboard (signed in beforehand): Response queue with Repeat hotspot / Overdue / Disputed chips; Review; Evidence trail; Last 30 days; Field context, Load; Work order, Draft with Gemini. Do NOT resolve a real incident. Optional: Operations copilot suggestion. (1 min 15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NEW. DEMO 4, tab /zone/8831aa42b7fffff: Right now (station 0.27 km, 75 ug/m3 limit); What's happening (Gemini), press Read aloud; Health advice, open sensitive groups; Last 30 days; Who's affected (~71,838 residents). Optional: globe EN, switch to Hindi. (1 min)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7136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NEW. Most systems stop at 'resolved'. Reporters get 72 h to answer 'Is it fixed?' on the web, or FIXED/STILL on WhatsApp. 'Still there' reopens it as Disputed. Every step is logged, so repeat spots (3+ episodes, 3+ report days, or a failed fix) are flagged, and the work order asks for action at the source. Response clock: 4 / 24 / 72 h. (50 s)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9257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Gemini checks photos, answers operators from live data, and writes work orders. Forecasting on BigQuery + BigQuery ML, tested against a simple baseline. Cross-border attribution: live wind + NASA fires upwind (Punjab-Haryana for Delhi, Hebei for Beijing). (40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NEW. Every 30 min Cloud Scheduler pulls every station into BigQuery. Under 12 hours of a station's own data, the forecast uses Google's modelled history from a separate table, labelled 'Modelled data'; real readings always win. DEMO 5, tab /forecast: point at the Modelled data badge and History source. (50 s)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09915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NEW. Live numbers, 29 Sep 2026: 7 capitals, 77 stations streaming, 46 of 48 hotspots raised automatically, ~71,838 residents near the Temple of Heaven, 72 h fix-check window, 43 automated tests. Refresh before a later pitch (see PITCH-SCRIPT.md, section 6). (30 s)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127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Each nation keeps its own rules and language. A new capital is one configuration entry: boundary, stations, limits, fire region, agencies, languages. No code changes. (25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Citizens get a voice in their language, operators a ranked, evidence-backed list, nations one engine that keeps their own rules. Clean air, verified street by street, across BRICS. Thank you. (20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6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2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33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640080"/>
            <a:ext cx="2377440" cy="365760"/>
          </a:xfrm>
          <a:prstGeom prst="roundRect">
            <a:avLst>
              <a:gd name="adj" fmla="val 50000"/>
            </a:avLst>
          </a:prstGeom>
          <a:ln w="12700">
            <a:solidFill>
              <a:srgbClr val="B8F5CB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8F5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BRICS · SUSTAINABILITY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4173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VayuSetu</a:t>
            </a:r>
            <a:endParaRPr lang="en-US" sz="7200" dirty="0">
              <a:solidFill>
                <a:schemeClr val="bg1"/>
              </a:solidFill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640080" y="269748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B8F5C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Federated, hyperlocal air-pollution intelligence for BRICS capitals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9319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photos, ground stations and satellites fused into verified street-level hotspots, and routed to the authority that can clear them.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40080" y="5760720"/>
            <a:ext cx="868680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57607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645920" y="5760720"/>
            <a:ext cx="1444752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645920" y="576072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Engine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27832" y="5760720"/>
            <a:ext cx="1348740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27832" y="5760720"/>
            <a:ext cx="13487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ML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713732" y="5760720"/>
            <a:ext cx="1060704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13732" y="5760720"/>
            <a:ext cx="106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911596" y="5760720"/>
            <a:ext cx="1540764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11596" y="5760720"/>
            <a:ext cx="15407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Platform</a:t>
            </a:r>
            <a:endParaRPr lang="en-US" sz="1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E4A4325-7C3D-112F-959A-6609F5B3747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" y="0"/>
            <a:ext cx="12188760" cy="67553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city-wide AQI hides the air people actually breathe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66928" cy="566928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47912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23134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Hyperlocal sources go unseen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fires, construction dust and industrial stacks sit kilometres from the nearest monitor, so they vanish into the city average.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657600"/>
            <a:ext cx="566928" cy="566928"/>
          </a:xfrm>
          <a:prstGeom prst="ellipse">
            <a:avLst/>
          </a:prstGeom>
          <a:solidFill>
            <a:srgbClr val="117C72"/>
          </a:solidFill>
          <a:ln w="12700">
            <a:solidFill>
              <a:srgbClr val="117C7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3805001"/>
            <a:ext cx="272125" cy="27212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3639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crosses borders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40233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Crop-residue burning and trans-boundary haze drift across state and national lines faster than any single agency can track.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983480"/>
            <a:ext cx="566928" cy="566928"/>
          </a:xfrm>
          <a:prstGeom prst="ellipse">
            <a:avLst/>
          </a:prstGeom>
          <a:solidFill>
            <a:srgbClr val="1F6B3A"/>
          </a:solidFill>
          <a:ln w="12700">
            <a:solidFill>
              <a:srgbClr val="1F6B3A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81" y="5130881"/>
            <a:ext cx="272125" cy="27212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49651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rarely reaches a crew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417320" y="5349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publish numbers, but no one is told which street to inspect or which department owns the fix.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720840" y="4800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monitor, many invisible sources, and smoke that does not stop at the border.</a:t>
            </a:r>
            <a:endParaRPr lang="en-US" sz="1300" dirty="0"/>
          </a:p>
        </p:txBody>
      </p:sp>
      <p:pic>
        <p:nvPicPr>
          <p:cNvPr id="18" name="Picture 17" descr="Air Pollution - Diccionario de Salud Global">
            <a:extLst>
              <a:ext uri="{FF2B5EF4-FFF2-40B4-BE49-F238E27FC236}">
                <a16:creationId xmlns:a16="http://schemas.microsoft.com/office/drawing/2014/main" id="{B67641CC-AF5D-7A65-2682-681BCFAF65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2464994"/>
            <a:ext cx="4846320" cy="22898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citizen's photo to a dispatched crew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56032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640080" cy="64008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23152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SENSE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3375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report with a photo, a voice note in their own language and a pin. Stations and satellites watch continuously.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29000" y="1874520"/>
            <a:ext cx="256032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703320" y="2148840"/>
            <a:ext cx="640080" cy="64008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741" y="23152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70332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VERIFY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703320" y="33375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confirms smoke, dust, fire or haze, and flags screenshots, stock images and duplicate photos.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0" y="1874520"/>
            <a:ext cx="256032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92240" y="2148840"/>
            <a:ext cx="640080" cy="64008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661" y="23152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FUSE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33375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report is scored against the nearest station, Sentinel-5P NO₂ and aerosol, NASA FIRMS fires and live wind.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9006840" y="1874520"/>
            <a:ext cx="256032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81160" y="2148840"/>
            <a:ext cx="640080" cy="64008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7581" y="231526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8116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ACT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9281160" y="33375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hotspots are ranked and dispatched, with Gemini-drafted work orders and WhatsApp updates to reporters.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4983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F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669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evidence streams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3429000" y="4983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F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~0.7 km²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3429000" y="5669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hotspot cells, street scale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217920" y="4983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F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600" dirty="0"/>
          </a:p>
        </p:txBody>
      </p:sp>
      <p:sp>
        <p:nvSpPr>
          <p:cNvPr id="29" name="Text 23"/>
          <p:cNvSpPr txBox="1"/>
          <p:nvPr/>
        </p:nvSpPr>
        <p:spPr>
          <a:xfrm>
            <a:off x="6217920" y="5669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promotion tiers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9006840" y="4983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F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600" dirty="0"/>
          </a:p>
        </p:txBody>
      </p:sp>
      <p:sp>
        <p:nvSpPr>
          <p:cNvPr id="31" name="Text 25"/>
          <p:cNvSpPr txBox="1"/>
          <p:nvPr/>
        </p:nvSpPr>
        <p:spPr>
          <a:xfrm>
            <a:off x="9006840" y="5669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languages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4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CE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BRICS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capitals, one shared engine</a:t>
            </a:r>
            <a:endParaRPr lang="en-US" sz="3400" dirty="0"/>
          </a:p>
        </p:txBody>
      </p:sp>
      <p:pic>
        <p:nvPicPr>
          <p:cNvPr id="4" name="Image 0" descr="C:\Users\HP\AppData\Local\Temp\claude\c--Lang-CleanAir\56a71f3b-c363-4f11-88d5-1ceb8490b8f6\scratchpad\deck\gfx\bric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00200"/>
            <a:ext cx="8503920" cy="38267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0" y="1783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7CE3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144000" y="2514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BRICS capitals live: New Delhi, Beijing, Moscow, Pretoria, Abu Dhabi, Jakarta, Brasília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7CE3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9144000" y="4114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air-quality standards applied, each country's own legal limits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7CE3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9144000" y="57150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data model, H3 grid and API across every city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989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FB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Highlighted: BRICS member states. Lines: the federated network of live capitals.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another AQI dashboard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7C6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AQI dashboards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VayuSetu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 scale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65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city-wide average from a few monitors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Street-level H3 cells of ~0.7 km²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65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sensor feed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Citizen photos + ground stations + Sentinel-5P + NASA FIRMS + wind, fused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65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taken at face 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vision, EXIF, duplicate and screenshot checks; promotion needs independent agreement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65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Displays a number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Ranked queue, dispatch and resolve; work orders routed to the responsible agency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65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Stops at the city limit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Upwind attribution with live wind and regional fire detection for every capital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665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country, one standard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3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nation's limits, agencies and languages on one shared engine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HOTSPOT IS VERIFIED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alert is backed by independent evidence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234440" y="1783080"/>
            <a:ext cx="822960" cy="82296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410" y="1997050"/>
            <a:ext cx="395021" cy="3950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606040" y="2075688"/>
            <a:ext cx="301752" cy="237744"/>
          </a:xfrm>
          <a:prstGeom prst="rightArrow">
            <a:avLst/>
          </a:prstGeom>
          <a:solidFill>
            <a:srgbClr val="CFE8D8"/>
          </a:solidFill>
          <a:ln w="12700">
            <a:solidFill>
              <a:srgbClr val="CFE8D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27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hazard type, voice note and pin from the web app or WhatsApp.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61004" y="1783080"/>
            <a:ext cx="822960" cy="82296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974" y="1997050"/>
            <a:ext cx="395021" cy="39502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832604" y="2075688"/>
            <a:ext cx="301752" cy="237744"/>
          </a:xfrm>
          <a:prstGeom prst="rightArrow">
            <a:avLst/>
          </a:prstGeom>
          <a:solidFill>
            <a:srgbClr val="CFE8D8"/>
          </a:solidFill>
          <a:ln w="12700">
            <a:solidFill>
              <a:srgbClr val="CFE8D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866644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2912364" y="3127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labels smoke, dust, fire or haze and judges authenticity.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87568" y="1783080"/>
            <a:ext cx="822960" cy="82296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1538" y="1997050"/>
            <a:ext cx="395021" cy="395021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7059168" y="2075688"/>
            <a:ext cx="301752" cy="237744"/>
          </a:xfrm>
          <a:prstGeom prst="rightArrow">
            <a:avLst/>
          </a:prstGeom>
          <a:solidFill>
            <a:srgbClr val="CFE8D8"/>
          </a:solidFill>
          <a:ln w="12700">
            <a:solidFill>
              <a:srgbClr val="CFE8D8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093208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5138928" y="3127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EXIF time and GPS, duplicate photos and screenshots are screened out.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914132" y="1783080"/>
            <a:ext cx="822960" cy="82296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102" y="1997050"/>
            <a:ext cx="395021" cy="395021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9285732" y="2075688"/>
            <a:ext cx="301752" cy="237744"/>
          </a:xfrm>
          <a:prstGeom prst="rightArrow">
            <a:avLst/>
          </a:prstGeom>
          <a:solidFill>
            <a:srgbClr val="CFE8D8"/>
          </a:solidFill>
          <a:ln w="12700">
            <a:solidFill>
              <a:srgbClr val="CFE8D8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319772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365492" y="3127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station vs national limit, Sentinel-5P anomaly, FIRMS fires, wind.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10140696" y="1783080"/>
            <a:ext cx="822960" cy="8229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4666" y="1997050"/>
            <a:ext cx="395021" cy="3950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546336" y="2743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9592056" y="31272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hotspots join the ranked queue with a draft work order.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0080" y="4434840"/>
            <a:ext cx="10908792" cy="1783080"/>
          </a:xfrm>
          <a:prstGeom prst="roundRect">
            <a:avLst>
              <a:gd name="adj" fmla="val 7179"/>
            </a:avLst>
          </a:prstGeom>
          <a:solidFill>
            <a:srgbClr val="F4F8F5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914400" y="4617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tiers, strongest first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914400" y="5029200"/>
            <a:ext cx="1609344" cy="384048"/>
          </a:xfrm>
          <a:prstGeom prst="roundRect">
            <a:avLst>
              <a:gd name="adj" fmla="val 50000"/>
            </a:avLst>
          </a:prstGeom>
          <a:solidFill>
            <a:srgbClr val="1F6B3A"/>
          </a:solidFill>
          <a:ln w="12700">
            <a:solidFill>
              <a:srgbClr val="1F6B3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14400" y="50292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+ satellite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2651760" y="5029200"/>
            <a:ext cx="1609344" cy="384048"/>
          </a:xfrm>
          <a:prstGeom prst="roundRect">
            <a:avLst>
              <a:gd name="adj" fmla="val 50000"/>
            </a:avLst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2651760" y="50292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 verified (3+)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4389120" y="5029200"/>
            <a:ext cx="1609344" cy="384048"/>
          </a:xfrm>
          <a:prstGeom prst="roundRect">
            <a:avLst>
              <a:gd name="adj" fmla="val 50000"/>
            </a:avLst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4389120" y="50292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+ sensor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126480" y="5029200"/>
            <a:ext cx="1609344" cy="384048"/>
          </a:xfrm>
          <a:prstGeom prst="roundRect">
            <a:avLst>
              <a:gd name="adj" fmla="val 50000"/>
            </a:avLst>
          </a:prstGeom>
          <a:solidFill>
            <a:srgbClr val="117C72"/>
          </a:solidFill>
          <a:ln w="12700">
            <a:solidFill>
              <a:srgbClr val="117C72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126480" y="50292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+ satellite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7863840" y="5029200"/>
            <a:ext cx="1609344" cy="384048"/>
          </a:xfrm>
          <a:prstGeom prst="roundRect">
            <a:avLst>
              <a:gd name="adj" fmla="val 50000"/>
            </a:avLst>
          </a:prstGeom>
          <a:solidFill>
            <a:srgbClr val="5E8F74"/>
          </a:solidFill>
          <a:ln w="12700">
            <a:solidFill>
              <a:srgbClr val="5E8F74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7863840" y="50292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detected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9601200" y="5029200"/>
            <a:ext cx="1609344" cy="384048"/>
          </a:xfrm>
          <a:prstGeom prst="roundRect">
            <a:avLst>
              <a:gd name="adj" fmla="val 50000"/>
            </a:avLst>
          </a:prstGeom>
          <a:solidFill>
            <a:srgbClr val="5E8F74"/>
          </a:solidFill>
          <a:ln w="12700">
            <a:solidFill>
              <a:srgbClr val="5E8F74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9601200" y="50292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detected</a:t>
            </a:r>
            <a:endParaRPr lang="en-US" sz="1100" dirty="0"/>
          </a:p>
        </p:txBody>
      </p:sp>
      <p:sp>
        <p:nvSpPr>
          <p:cNvPr id="42" name="Text 35"/>
          <p:cNvSpPr txBox="1"/>
          <p:nvPr/>
        </p:nvSpPr>
        <p:spPr>
          <a:xfrm>
            <a:off x="914400" y="5577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and satellites also raise hotspots on their own: an automatic scan checks every city every 30 minutes, with no photo needed.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CITIZEN REPORTING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 in seconds, in your own language</a:t>
            </a:r>
            <a:endParaRPr lang="en-US" sz="3400" dirty="0"/>
          </a:p>
        </p:txBody>
      </p:sp>
      <p:pic>
        <p:nvPicPr>
          <p:cNvPr id="4" name="Image 0" descr="C:\Users\HP\AppData\Local\Temp\claude\c--Lang-CleanAir\56a71f3b-c363-4f11-88d5-1ceb8490b8f6\scratchpad\deck\gfx\f-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63040"/>
            <a:ext cx="6470284" cy="5074920"/>
          </a:xfrm>
          <a:prstGeom prst="rect">
            <a:avLst/>
          </a:prstGeom>
        </p:spPr>
      </p:pic>
      <p:pic>
        <p:nvPicPr>
          <p:cNvPr id="5" name="Image 1" descr="C:\Users\HP\AppData\Local\Temp\claude\c--Lang-CleanAir\56a71f3b-c363-4f11-88d5-1ceb8490b8f6\scratchpad\deck\gfx\f-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828800"/>
            <a:ext cx="2463250" cy="47548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183880" y="1600200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4639" y="1730959"/>
            <a:ext cx="241402" cy="24140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869680" y="15819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first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8869680" y="191109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checks the image before anyone sees it on the map.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8183880" y="2834640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4639" y="2965399"/>
            <a:ext cx="241402" cy="24140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869680" y="2816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notes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8869680" y="314553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Transcribed in the city's language: Hindi, Chinese, Russian, Portuguese, Arabic, Indonesian and more.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8183880" y="4069080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4639" y="4199839"/>
            <a:ext cx="241402" cy="2414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69680" y="40507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City-aware location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869680" y="437997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GPS or a pin, scoped to the selected capital.</a:t>
            </a:r>
            <a:endParaRPr lang="en-US" sz="1250" dirty="0"/>
          </a:p>
        </p:txBody>
      </p:sp>
      <p:sp>
        <p:nvSpPr>
          <p:cNvPr id="18" name="Shape 11"/>
          <p:cNvSpPr/>
          <p:nvPr/>
        </p:nvSpPr>
        <p:spPr>
          <a:xfrm>
            <a:off x="8183880" y="5303520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4639" y="5434279"/>
            <a:ext cx="241402" cy="24140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8869680" y="5285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loop</a:t>
            </a:r>
            <a:endParaRPr lang="en-US" sz="1500" dirty="0"/>
          </a:p>
        </p:txBody>
      </p:sp>
      <p:sp>
        <p:nvSpPr>
          <p:cNvPr id="21" name="Text 13"/>
          <p:cNvSpPr txBox="1"/>
          <p:nvPr/>
        </p:nvSpPr>
        <p:spPr>
          <a:xfrm>
            <a:off x="8869680" y="561441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status page for every report; reporters confirm or dispute the fix.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LIVE 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station, hotspot and fire on a live 3D map</a:t>
            </a:r>
            <a:endParaRPr lang="en-US" sz="3400" dirty="0"/>
          </a:p>
        </p:txBody>
      </p:sp>
      <p:pic>
        <p:nvPicPr>
          <p:cNvPr id="4" name="Image 0" descr="C:\Users\HP\AppData\Local\Temp\claude\c--Lang-CleanAir\56a71f3b-c363-4f11-88d5-1ceb8490b8f6\scratchpad\deck\gfx\f-map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17320"/>
            <a:ext cx="6983984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Moscow, 3D view: 25 official stations reporting live</a:t>
            </a:r>
            <a:endParaRPr lang="en-US" sz="1100" dirty="0"/>
          </a:p>
        </p:txBody>
      </p:sp>
      <p:pic>
        <p:nvPicPr>
          <p:cNvPr id="6" name="Image 1" descr="C:\Users\HP\AppData\Local\Temp\claude\c--Lang-CleanAir\56a71f3b-c363-4f11-88d5-1ceb8490b8f6\scratchpad\deck\gfx\f-map-beij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325880"/>
            <a:ext cx="4251960" cy="311752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095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Beijing: 35 live stations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480060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drawn at their published coordinates, coloured by PM2.5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buildings in 3D; one-tap switch to 2D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city boundary, NASA FIRMS fire layer and live hotspot feed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COMMAND CENTER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Operators see what to fix first, and why</a:t>
            </a:r>
            <a:endParaRPr lang="en-US" sz="3400" dirty="0"/>
          </a:p>
        </p:txBody>
      </p:sp>
      <p:pic>
        <p:nvPicPr>
          <p:cNvPr id="4" name="Image 0" descr="C:\Users\HP\AppData\Local\Temp\claude\c--Lang-CleanAir\56a71f3b-c363-4f11-88d5-1ceb8490b8f6\scratchpad\deck\gfx\f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63040"/>
            <a:ext cx="7589520" cy="4866710"/>
          </a:xfrm>
          <a:prstGeom prst="rect">
            <a:avLst/>
          </a:prstGeom>
        </p:spPr>
      </p:pic>
      <p:pic>
        <p:nvPicPr>
          <p:cNvPr id="5" name="Image 1" descr="C:\Users\HP\AppData\Local\Temp\claude\c--Lang-CleanAir\56a71f3b-c363-4f11-88d5-1ceb8490b8f6\scratchpad\deck\gfx\f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371600"/>
            <a:ext cx="3886200" cy="334267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75320" y="48920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queue  </a:t>
            </a:r>
            <a:r>
              <a:rPr lang="en-US" sz="125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by evidence tier and fused confidence.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8275320" y="542239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 evidence  </a:t>
            </a:r>
            <a:r>
              <a:rPr lang="en-US" sz="125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reading vs national limit, satellite window, citizen reports.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8275320" y="595274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action  </a:t>
            </a:r>
            <a:r>
              <a:rPr lang="en-US" sz="125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Dispatch, resolve or mark false positive; reporters are notified.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63550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 Dhabi, live: three particulate hotspots detected automatically from official EAD stations, judged against the UAE limit.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300">
                <a:solidFill>
                  <a:srgbClr val="2E9E55"/>
                </a:solidFill>
                <a:latin typeface="Calibri"/>
              </a:rPr>
              <a:t>PRODUCT · AREA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4231B"/>
                </a:solidFill>
                <a:latin typeface="Georgia"/>
              </a:rPr>
              <a:t>Every neighbourhood gets its own page</a:t>
            </a:r>
          </a:p>
        </p:txBody>
      </p:sp>
      <p:pic>
        <p:nvPicPr>
          <p:cNvPr id="4" name="Picture 3" descr="zon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6415956" cy="4572000"/>
          </a:xfrm>
          <a:prstGeom prst="rect">
            <a:avLst/>
          </a:prstGeom>
          <a:ln w="12700">
            <a:solidFill>
              <a:srgbClr val="D9E3DC"/>
            </a:solidFill>
          </a:ln>
        </p:spPr>
      </p:pic>
      <p:sp>
        <p:nvSpPr>
          <p:cNvPr id="5" name="Oval 4"/>
          <p:cNvSpPr/>
          <p:nvPr/>
        </p:nvSpPr>
        <p:spPr>
          <a:xfrm>
            <a:off x="7635240" y="1600200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use-chimney-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5999" y="1730959"/>
            <a:ext cx="241401" cy="2414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58191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4231B"/>
                </a:solidFill>
                <a:latin typeface="Calibri"/>
              </a:rPr>
              <a:t>Right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11095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56655C"/>
                </a:solidFill>
                <a:latin typeface="Calibri"/>
              </a:rPr>
              <a:t>Open hotspots in the area and the nearest station against the national limit.</a:t>
            </a:r>
          </a:p>
        </p:txBody>
      </p:sp>
      <p:sp>
        <p:nvSpPr>
          <p:cNvPr id="9" name="Oval 8"/>
          <p:cNvSpPr/>
          <p:nvPr/>
        </p:nvSpPr>
        <p:spPr>
          <a:xfrm>
            <a:off x="7635240" y="2532888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999" y="2663647"/>
            <a:ext cx="241401" cy="241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0" y="25146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4231B"/>
                </a:solidFill>
                <a:latin typeface="Calibri"/>
              </a:rPr>
              <a:t>Gemini explains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43784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56655C"/>
                </a:solidFill>
                <a:latin typeface="Calibri"/>
              </a:rPr>
              <a:t>A plain-language summary built only from the evidence on the page, with read-aloud.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3465576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eart-pul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5999" y="3596335"/>
            <a:ext cx="241401" cy="24140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447288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4231B"/>
                </a:solidFill>
                <a:latin typeface="Calibri"/>
              </a:rPr>
              <a:t>Health advice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776472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56655C"/>
                </a:solidFill>
                <a:latin typeface="Calibri"/>
              </a:rPr>
              <a:t>Google Air Quality guidance for everyone and six sensitive groups.</a:t>
            </a:r>
          </a:p>
        </p:txBody>
      </p:sp>
      <p:sp>
        <p:nvSpPr>
          <p:cNvPr id="17" name="Oval 16"/>
          <p:cNvSpPr/>
          <p:nvPr/>
        </p:nvSpPr>
        <p:spPr>
          <a:xfrm>
            <a:off x="7635240" y="4398264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alendar-da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5999" y="4529023"/>
            <a:ext cx="241401" cy="24140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4379976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4231B"/>
                </a:solidFill>
                <a:latin typeface="Calibri"/>
              </a:rPr>
              <a:t>Last 30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709160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56655C"/>
                </a:solidFill>
                <a:latin typeface="Calibri"/>
              </a:rPr>
              <a:t>Confirmed episodes and report days; repeat hotspots are flagged.</a:t>
            </a:r>
          </a:p>
        </p:txBody>
      </p:sp>
      <p:sp>
        <p:nvSpPr>
          <p:cNvPr id="21" name="Oval 20"/>
          <p:cNvSpPr/>
          <p:nvPr/>
        </p:nvSpPr>
        <p:spPr>
          <a:xfrm>
            <a:off x="7635240" y="5330952"/>
            <a:ext cx="502920" cy="50292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us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5999" y="5461711"/>
            <a:ext cx="241401" cy="24140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21040" y="5312664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4231B"/>
                </a:solidFill>
                <a:latin typeface="Calibri"/>
              </a:rPr>
              <a:t>Who's affected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5641848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56655C"/>
                </a:solidFill>
                <a:latin typeface="Calibri"/>
              </a:rPr>
              <a:t>WorldPop residents within 1 km, plus nearby schools and hospitals.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76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6655C"/>
                </a:solidFill>
                <a:latin typeface="Calibri"/>
              </a:rPr>
              <a:t>Beijing, live: Temple of Heaven area. Nearest station 0.27 km away; ≈71,838 residents within 1 km (WorldPop 2020).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300">
                <a:solidFill>
                  <a:srgbClr val="2E9E55"/>
                </a:solidFill>
                <a:latin typeface="Calibri"/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4231B"/>
                </a:solidFill>
                <a:latin typeface="Georgia"/>
              </a:rPr>
              <a:t>A fix counts only when residents confirm it</a:t>
            </a:r>
          </a:p>
        </p:txBody>
      </p:sp>
      <p:sp>
        <p:nvSpPr>
          <p:cNvPr id="4" name="Oval 3"/>
          <p:cNvSpPr/>
          <p:nvPr/>
        </p:nvSpPr>
        <p:spPr>
          <a:xfrm>
            <a:off x="1234440" y="1737360"/>
            <a:ext cx="822960" cy="82296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409" y="1951329"/>
            <a:ext cx="395020" cy="395020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2606040" y="2029968"/>
            <a:ext cx="301752" cy="237744"/>
          </a:xfrm>
          <a:prstGeom prst="rightArrow">
            <a:avLst/>
          </a:prstGeom>
          <a:solidFill>
            <a:srgbClr val="CFE8D8"/>
          </a:solidFill>
          <a:ln>
            <a:solidFill>
              <a:srgbClr val="CF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14231B"/>
                </a:solidFill>
                <a:latin typeface="Calibri"/>
              </a:rPr>
              <a:t>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8152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>
                <a:solidFill>
                  <a:srgbClr val="56655C"/>
                </a:solidFill>
                <a:latin typeface="Calibri"/>
              </a:rPr>
              <a:t>Photo, voice note and pin, or the automatic station scan.</a:t>
            </a:r>
          </a:p>
        </p:txBody>
      </p:sp>
      <p:sp>
        <p:nvSpPr>
          <p:cNvPr id="9" name="Oval 8"/>
          <p:cNvSpPr/>
          <p:nvPr/>
        </p:nvSpPr>
        <p:spPr>
          <a:xfrm>
            <a:off x="3465576" y="1737360"/>
            <a:ext cx="822960" cy="82296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9545" y="1951329"/>
            <a:ext cx="395020" cy="395020"/>
          </a:xfrm>
          <a:prstGeom prst="rect">
            <a:avLst/>
          </a:prstGeom>
        </p:spPr>
      </p:pic>
      <p:sp>
        <p:nvSpPr>
          <p:cNvPr id="11" name="Right Arrow 10"/>
          <p:cNvSpPr/>
          <p:nvPr/>
        </p:nvSpPr>
        <p:spPr>
          <a:xfrm>
            <a:off x="4837176" y="2029968"/>
            <a:ext cx="301752" cy="237744"/>
          </a:xfrm>
          <a:prstGeom prst="rightArrow">
            <a:avLst/>
          </a:prstGeom>
          <a:solidFill>
            <a:srgbClr val="CFE8D8"/>
          </a:solidFill>
          <a:ln>
            <a:solidFill>
              <a:srgbClr val="CF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71216" y="26974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14231B"/>
                </a:solidFill>
                <a:latin typeface="Calibri"/>
              </a:rPr>
              <a:t>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308152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>
                <a:solidFill>
                  <a:srgbClr val="56655C"/>
                </a:solidFill>
                <a:latin typeface="Calibri"/>
              </a:rPr>
              <a:t>Promoted only on independent evidence.</a:t>
            </a:r>
          </a:p>
        </p:txBody>
      </p:sp>
      <p:sp>
        <p:nvSpPr>
          <p:cNvPr id="14" name="Oval 13"/>
          <p:cNvSpPr/>
          <p:nvPr/>
        </p:nvSpPr>
        <p:spPr>
          <a:xfrm>
            <a:off x="5687568" y="1737360"/>
            <a:ext cx="822960" cy="82296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1537" y="1951329"/>
            <a:ext cx="395020" cy="395020"/>
          </a:xfrm>
          <a:prstGeom prst="rect">
            <a:avLst/>
          </a:prstGeom>
        </p:spPr>
      </p:pic>
      <p:sp>
        <p:nvSpPr>
          <p:cNvPr id="16" name="Right Arrow 15"/>
          <p:cNvSpPr/>
          <p:nvPr/>
        </p:nvSpPr>
        <p:spPr>
          <a:xfrm>
            <a:off x="7059168" y="2029968"/>
            <a:ext cx="301752" cy="237744"/>
          </a:xfrm>
          <a:prstGeom prst="rightArrow">
            <a:avLst/>
          </a:prstGeom>
          <a:solidFill>
            <a:srgbClr val="CFE8D8"/>
          </a:solidFill>
          <a:ln>
            <a:solidFill>
              <a:srgbClr val="CF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93207" y="26974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14231B"/>
                </a:solidFill>
                <a:latin typeface="Calibri"/>
              </a:rPr>
              <a:t>Dispatched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308152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>
                <a:solidFill>
                  <a:srgbClr val="56655C"/>
                </a:solidFill>
                <a:latin typeface="Calibri"/>
              </a:rPr>
              <a:t>Work order routed; overdue after 4 / 24 / 72 h.</a:t>
            </a:r>
          </a:p>
        </p:txBody>
      </p:sp>
      <p:sp>
        <p:nvSpPr>
          <p:cNvPr id="19" name="Oval 18"/>
          <p:cNvSpPr/>
          <p:nvPr/>
        </p:nvSpPr>
        <p:spPr>
          <a:xfrm>
            <a:off x="7909560" y="1737360"/>
            <a:ext cx="822960" cy="82296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3529" y="1951329"/>
            <a:ext cx="395020" cy="395020"/>
          </a:xfrm>
          <a:prstGeom prst="rect">
            <a:avLst/>
          </a:prstGeom>
        </p:spPr>
      </p:pic>
      <p:sp>
        <p:nvSpPr>
          <p:cNvPr id="21" name="Right Arrow 20"/>
          <p:cNvSpPr/>
          <p:nvPr/>
        </p:nvSpPr>
        <p:spPr>
          <a:xfrm>
            <a:off x="9281160" y="2029968"/>
            <a:ext cx="301752" cy="237744"/>
          </a:xfrm>
          <a:prstGeom prst="rightArrow">
            <a:avLst/>
          </a:prstGeom>
          <a:solidFill>
            <a:srgbClr val="CFE8D8"/>
          </a:solidFill>
          <a:ln>
            <a:solidFill>
              <a:srgbClr val="CF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0" y="26974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14231B"/>
                </a:solidFill>
                <a:latin typeface="Calibri"/>
              </a:rPr>
              <a:t>Resolved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08152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>
                <a:solidFill>
                  <a:srgbClr val="56655C"/>
                </a:solidFill>
                <a:latin typeface="Calibri"/>
              </a:rPr>
              <a:t>The operator marks the hotspot fixed.</a:t>
            </a:r>
          </a:p>
        </p:txBody>
      </p:sp>
      <p:sp>
        <p:nvSpPr>
          <p:cNvPr id="24" name="Oval 23"/>
          <p:cNvSpPr/>
          <p:nvPr/>
        </p:nvSpPr>
        <p:spPr>
          <a:xfrm>
            <a:off x="10140696" y="1737360"/>
            <a:ext cx="822960" cy="8229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4665" y="1951329"/>
            <a:ext cx="395020" cy="3950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6336" y="269748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14231B"/>
                </a:solidFill>
                <a:latin typeface="Calibri"/>
              </a:rPr>
              <a:t>Is it fixed?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92056" y="308152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>
                <a:solidFill>
                  <a:srgbClr val="56655C"/>
                </a:solidFill>
                <a:latin typeface="Calibri"/>
              </a:rPr>
              <a:t>Reporters are asked for 72 h, on the web or WhatsApp.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343400"/>
            <a:ext cx="224028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7132320" y="4544568"/>
            <a:ext cx="457200" cy="45720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circle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1192" y="466344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699248" y="459028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6B3A"/>
                </a:solidFill>
                <a:latin typeface="Calibri"/>
              </a:rPr>
              <a:t>Yes, fixed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5138928"/>
            <a:ext cx="1828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14231B"/>
                </a:solidFill>
                <a:latin typeface="Calibri"/>
              </a:rPr>
              <a:t>Counted as a resident-confirmed fix on the model quality card.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08592" y="4343400"/>
            <a:ext cx="224028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Oval 33"/>
          <p:cNvSpPr/>
          <p:nvPr/>
        </p:nvSpPr>
        <p:spPr>
          <a:xfrm>
            <a:off x="9537192" y="4544568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rotate-lef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6064" y="4663440"/>
            <a:ext cx="219456" cy="21945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104120" y="459028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B4432C"/>
                </a:solidFill>
                <a:latin typeface="Calibri"/>
              </a:rPr>
              <a:t>Still there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37192" y="5138928"/>
            <a:ext cx="1828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14231B"/>
                </a:solidFill>
                <a:latin typeface="Calibri"/>
              </a:rPr>
              <a:t>Reopens as Disputed and goes back to the operator queue.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552176" y="3858768"/>
            <a:ext cx="0" cy="219456"/>
          </a:xfrm>
          <a:prstGeom prst="line">
            <a:avLst/>
          </a:prstGeom>
          <a:ln w="22225">
            <a:solidFill>
              <a:srgbClr val="9C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028431" y="4078224"/>
            <a:ext cx="2523745" cy="0"/>
          </a:xfrm>
          <a:prstGeom prst="line">
            <a:avLst/>
          </a:prstGeom>
          <a:ln w="22225">
            <a:solidFill>
              <a:srgbClr val="9CC9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028431" y="4078224"/>
            <a:ext cx="0" cy="246888"/>
          </a:xfrm>
          <a:prstGeom prst="line">
            <a:avLst/>
          </a:prstGeom>
          <a:ln w="22225">
            <a:solidFill>
              <a:srgbClr val="9CC9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424160" y="4078224"/>
            <a:ext cx="0" cy="246888"/>
          </a:xfrm>
          <a:prstGeom prst="line">
            <a:avLst/>
          </a:prstGeom>
          <a:ln w="22225">
            <a:solidFill>
              <a:srgbClr val="9CC9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40080" y="4343400"/>
            <a:ext cx="603504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F6B3A"/>
                </a:solidFill>
                <a:latin typeface="Calibri"/>
              </a:rPr>
              <a:t>Every step is logged, so repeats show up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" y="4956048"/>
            <a:ext cx="727862" cy="310896"/>
          </a:xfrm>
          <a:prstGeom prst="roundRect">
            <a:avLst>
              <a:gd name="adj" fmla="val 50000"/>
            </a:avLst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promoted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733702" y="4956048"/>
            <a:ext cx="727862" cy="310896"/>
          </a:xfrm>
          <a:prstGeom prst="roundRect">
            <a:avLst>
              <a:gd name="adj" fmla="val 50000"/>
            </a:avLst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reopened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53004" y="4956048"/>
            <a:ext cx="859536" cy="310896"/>
          </a:xfrm>
          <a:prstGeom prst="roundRect">
            <a:avLst>
              <a:gd name="adj" fmla="val 50000"/>
            </a:avLst>
          </a:prstGeom>
          <a:solidFill>
            <a:srgbClr val="11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dispatched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3980" y="4956048"/>
            <a:ext cx="727862" cy="310896"/>
          </a:xfrm>
          <a:prstGeom prst="roundRect">
            <a:avLst>
              <a:gd name="adj" fmla="val 50000"/>
            </a:avLst>
          </a:prstGeom>
          <a:solidFill>
            <a:srgbClr val="11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3283" y="4956048"/>
            <a:ext cx="1057046" cy="310896"/>
          </a:xfrm>
          <a:prstGeom prst="roundRect">
            <a:avLst>
              <a:gd name="adj" fmla="val 50000"/>
            </a:avLst>
          </a:prstGeom>
          <a:solidFill>
            <a:srgbClr val="1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fix confirmed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71769" y="4956048"/>
            <a:ext cx="727862" cy="310896"/>
          </a:xfrm>
          <a:prstGeom prst="roundRect">
            <a:avLst>
              <a:gd name="adj" fmla="val 50000"/>
            </a:avLst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disputed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468112"/>
            <a:ext cx="5532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4231B"/>
                </a:solidFill>
                <a:latin typeface="Calibri"/>
              </a:rPr>
              <a:t>Repeat hotspot: </a:t>
            </a:r>
            <a:r>
              <a:rPr sz="1200" b="0">
                <a:solidFill>
                  <a:srgbClr val="14231B"/>
                </a:solidFill>
                <a:latin typeface="Calibri"/>
              </a:rPr>
              <a:t>3+ episodes in 30 days, reports on 3+ days, or a fix that did not hold. Work orders then ask for action at the source, not another clean-up.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LAYER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that shows its evidence and looks ahead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74720" cy="36118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57400"/>
            <a:ext cx="685800" cy="68580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" y="22357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97180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classifier for smoke, dust, fire and haze, with authenticity checks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copilot using function calls over live incidents, stations, wind, fires and forecasts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in English and the local language, addressed to the responsible agency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57116" y="1783080"/>
            <a:ext cx="3474720" cy="36118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77156" y="2057400"/>
            <a:ext cx="685800" cy="68580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22357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45836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Forecasting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77156" y="297180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24-hour PM2.5 outlook for each zone from live station history in BigQuery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ML ARIMA_PLUS model per station, backtested against persistence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Air Quality cross-check in each country's own AQI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74152" y="1783080"/>
            <a:ext cx="3474720" cy="361188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94192" y="2057400"/>
            <a:ext cx="685800" cy="685800"/>
          </a:xfrm>
          <a:prstGeom prst="ellipse">
            <a:avLst/>
          </a:prstGeom>
          <a:solidFill>
            <a:srgbClr val="117C72"/>
          </a:solidFill>
          <a:ln w="12700">
            <a:solidFill>
              <a:srgbClr val="117C72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2357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62872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attribution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94192" y="297180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wind plus NASA FIRMS fires across each capital's upwind region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Punjab–Haryana for Delhi, Hebei for Beijing, the Cerrado for Brasília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likely sources: landfills, industrial areas, active fires, open incidents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40080" y="5669280"/>
            <a:ext cx="457200" cy="457200"/>
          </a:xfrm>
          <a:prstGeom prst="ellipse">
            <a:avLst/>
          </a:prstGeom>
          <a:solidFill>
            <a:srgbClr val="1F6B3A"/>
          </a:solidFill>
          <a:ln w="12700">
            <a:solidFill>
              <a:srgbClr val="1F6B3A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578815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5687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not generated: every copilot answer lists the live tools it called, and every work order cites the evidence behind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300">
                <a:solidFill>
                  <a:srgbClr val="2E9E55"/>
                </a:solidFill>
                <a:latin typeface="Calibri"/>
              </a:rPr>
              <a:t>HOW FORECASTS REACH EVERY CAPITAL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4231B"/>
                </a:solidFill>
                <a:latin typeface="Georgia"/>
              </a:rPr>
              <a:t>From raw feeds to a labelled 24-hour outlook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819656"/>
            <a:ext cx="384048" cy="384048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ower-broad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92" y="1919508"/>
            <a:ext cx="184343" cy="1843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176479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4231B"/>
                </a:solidFill>
                <a:latin typeface="Calibri"/>
              </a:rPr>
              <a:t>Ground stations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02082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6655C"/>
                </a:solidFill>
                <a:latin typeface="Calibri"/>
              </a:rPr>
              <a:t>CPCB for Delhi, WAQI for six capitals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50592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578608"/>
            <a:ext cx="384048" cy="384048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heart-pul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092" y="2678460"/>
            <a:ext cx="184343" cy="18434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0160" y="252374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4231B"/>
                </a:solidFill>
                <a:latin typeface="Calibri"/>
              </a:rPr>
              <a:t>Google Air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79776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6655C"/>
                </a:solidFill>
                <a:latin typeface="Calibri"/>
              </a:rPr>
              <a:t>Hourly history and health advice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09544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337560"/>
            <a:ext cx="384048" cy="384048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satellite-di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092" y="3437412"/>
            <a:ext cx="184343" cy="18434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3282696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4231B"/>
                </a:solidFill>
                <a:latin typeface="Calibri"/>
              </a:rPr>
              <a:t>Earth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538727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6655C"/>
                </a:solidFill>
                <a:latin typeface="Calibri"/>
              </a:rPr>
              <a:t>Sentinel-5P, FIRMS fires, WorldPop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68496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096511"/>
            <a:ext cx="384048" cy="384048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92" y="4196364"/>
            <a:ext cx="184343" cy="18434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0160" y="40416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4231B"/>
                </a:solidFill>
                <a:latin typeface="Calibri"/>
              </a:rPr>
              <a:t>Open-Meteo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76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56655C"/>
                </a:solidFill>
                <a:latin typeface="Calibri"/>
              </a:rPr>
              <a:t>Live wind for attribution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456432" y="2871216"/>
            <a:ext cx="301752" cy="237744"/>
          </a:xfrm>
          <a:prstGeom prst="rightArrow">
            <a:avLst/>
          </a:prstGeom>
          <a:solidFill>
            <a:srgbClr val="CFE8D8"/>
          </a:solidFill>
          <a:ln>
            <a:solidFill>
              <a:srgbClr val="CF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886200" y="2148840"/>
            <a:ext cx="155448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Oval 25"/>
          <p:cNvSpPr/>
          <p:nvPr/>
        </p:nvSpPr>
        <p:spPr>
          <a:xfrm>
            <a:off x="4389120" y="2331720"/>
            <a:ext cx="548640" cy="54864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1766" y="2474366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931920" y="297180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>
                <a:solidFill>
                  <a:srgbClr val="14231B"/>
                </a:solidFill>
                <a:latin typeface="Calibri"/>
              </a:rPr>
              <a:t>Cloud Scheduler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32735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56655C"/>
                </a:solidFill>
                <a:latin typeface="Calibri"/>
              </a:rPr>
              <a:t>every 30 minutes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559552" y="2871216"/>
            <a:ext cx="301752" cy="237744"/>
          </a:xfrm>
          <a:prstGeom prst="rightArrow">
            <a:avLst/>
          </a:prstGeom>
          <a:solidFill>
            <a:srgbClr val="CFE8D8"/>
          </a:solidFill>
          <a:ln>
            <a:solidFill>
              <a:srgbClr val="CF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989320" y="1691640"/>
            <a:ext cx="2743200" cy="2852928"/>
          </a:xfrm>
          <a:prstGeom prst="roundRect">
            <a:avLst>
              <a:gd name="adj" fmla="val 5000"/>
            </a:avLst>
          </a:prstGeom>
          <a:solidFill>
            <a:srgbClr val="F4F8F5"/>
          </a:solidFill>
          <a:ln w="12700">
            <a:solidFill>
              <a:srgbClr val="D9E3DC"/>
            </a:solidFill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6172200" y="1847088"/>
            <a:ext cx="457200" cy="457200"/>
          </a:xfrm>
          <a:prstGeom prst="ellipse">
            <a:avLst/>
          </a:prstGeom>
          <a:solidFill>
            <a:srgbClr val="2E9E55"/>
          </a:solidFill>
          <a:ln w="12700">
            <a:solidFill>
              <a:srgbClr val="2E9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data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1072" y="1965960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720840" y="192024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1F6B3A"/>
                </a:solidFill>
                <a:latin typeface="Calibri"/>
              </a:rPr>
              <a:t>BigQuery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2468880"/>
            <a:ext cx="237744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6291072" y="2679192"/>
            <a:ext cx="146304" cy="146304"/>
          </a:xfrm>
          <a:prstGeom prst="ellipse">
            <a:avLst/>
          </a:prstGeom>
          <a:solidFill>
            <a:srgbClr val="2E9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10528" y="2532888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4231B"/>
                </a:solidFill>
                <a:latin typeface="Calibri"/>
              </a:rPr>
              <a:t>Station readings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2770632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6655C"/>
                </a:solidFill>
                <a:latin typeface="Calibri"/>
              </a:rPr>
              <a:t>77 stations · ARIMA_PLUS trains here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3136392"/>
            <a:ext cx="237744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Oval 39"/>
          <p:cNvSpPr/>
          <p:nvPr/>
        </p:nvSpPr>
        <p:spPr>
          <a:xfrm>
            <a:off x="6291072" y="3346704"/>
            <a:ext cx="146304" cy="146304"/>
          </a:xfrm>
          <a:prstGeom prst="ellipse">
            <a:avLst/>
          </a:prstGeom>
          <a:solidFill>
            <a:srgbClr val="11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10528" y="3200400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4231B"/>
                </a:solidFill>
                <a:latin typeface="Calibri"/>
              </a:rPr>
              <a:t>google_aq_history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343814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6655C"/>
                </a:solidFill>
                <a:latin typeface="Calibri"/>
              </a:rPr>
              <a:t>Modelled PM, kept in its own table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3803904"/>
            <a:ext cx="237744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Oval 43"/>
          <p:cNvSpPr/>
          <p:nvPr/>
        </p:nvSpPr>
        <p:spPr>
          <a:xfrm>
            <a:off x="6291072" y="4014216"/>
            <a:ext cx="146304" cy="146304"/>
          </a:xfrm>
          <a:prstGeom prst="ellipse">
            <a:avLst/>
          </a:prstGeom>
          <a:solidFill>
            <a:srgbClr val="5E8F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10528" y="3867912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4231B"/>
                </a:solidFill>
                <a:latin typeface="Calibri"/>
              </a:rPr>
              <a:t>Delhi archive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0528" y="4105656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6655C"/>
                </a:solidFill>
                <a:latin typeface="Calibri"/>
              </a:rPr>
              <a:t>Optional 2015–2020 CPCB history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8851392" y="2871216"/>
            <a:ext cx="301752" cy="237744"/>
          </a:xfrm>
          <a:prstGeom prst="rightArrow">
            <a:avLst/>
          </a:prstGeom>
          <a:solidFill>
            <a:srgbClr val="CFE8D8"/>
          </a:solidFill>
          <a:ln>
            <a:solidFill>
              <a:srgbClr val="CFE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Diamond 47"/>
          <p:cNvSpPr/>
          <p:nvPr/>
        </p:nvSpPr>
        <p:spPr>
          <a:xfrm>
            <a:off x="9253728" y="2395728"/>
            <a:ext cx="1188720" cy="1188720"/>
          </a:xfrm>
          <a:prstGeom prst="diamond">
            <a:avLst/>
          </a:prstGeom>
          <a:solidFill>
            <a:srgbClr val="1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345168" y="2724912"/>
            <a:ext cx="1005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12+ station hours?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625328" y="1691640"/>
            <a:ext cx="932688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661904" y="1783080"/>
            <a:ext cx="8595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2E9E55"/>
                </a:solidFill>
                <a:latin typeface="Calibri"/>
              </a:rPr>
              <a:t>Yes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61904" y="2057400"/>
            <a:ext cx="85953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14231B"/>
                </a:solidFill>
                <a:latin typeface="Calibri"/>
              </a:rPr>
              <a:t>Station forecast, shown as Live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625328" y="3218688"/>
            <a:ext cx="932688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3DC"/>
            </a:solidFill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661904" y="3310128"/>
            <a:ext cx="8595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E4572E"/>
                </a:solidFill>
                <a:latin typeface="Calibri"/>
              </a:rPr>
              <a:t>No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61904" y="3584448"/>
            <a:ext cx="85953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14231B"/>
                </a:solidFill>
                <a:latin typeface="Calibri"/>
              </a:rPr>
              <a:t>Modelled forecast, labelled Modelled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9848088" y="2350008"/>
            <a:ext cx="777240" cy="45720"/>
          </a:xfrm>
          <a:prstGeom prst="bentConnector3">
            <a:avLst/>
          </a:prstGeom>
          <a:ln w="22225">
            <a:solidFill>
              <a:srgbClr val="9CC9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848088" y="3584448"/>
            <a:ext cx="777240" cy="292608"/>
          </a:xfrm>
          <a:prstGeom prst="bentConnector3">
            <a:avLst/>
          </a:prstGeom>
          <a:ln w="22225">
            <a:solidFill>
              <a:srgbClr val="9CC9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40080" y="498348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F6B3A"/>
                </a:solidFill>
                <a:latin typeface="Georgia"/>
              </a:rPr>
              <a:t>7 / 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66928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6655C"/>
                </a:solidFill>
                <a:latin typeface="Calibri"/>
              </a:rPr>
              <a:t>capitals with a 24-hour forecast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29000" y="498348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F6B3A"/>
                </a:solidFill>
                <a:latin typeface="Georgia"/>
              </a:rPr>
              <a:t>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29000" y="566928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6655C"/>
                </a:solidFill>
                <a:latin typeface="Calibri"/>
              </a:rPr>
              <a:t>ground stations streaming into BigQuery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498348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F6B3A"/>
                </a:solidFill>
                <a:latin typeface="Georgia"/>
              </a:rPr>
              <a:t>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66928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6655C"/>
                </a:solidFill>
                <a:latin typeface="Calibri"/>
              </a:rPr>
              <a:t>forecast zones with a week of modelled history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6839" y="498348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F6B3A"/>
                </a:solidFill>
                <a:latin typeface="Georgia"/>
              </a:rPr>
              <a:t>9,191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6839" y="566928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6655C"/>
                </a:solidFill>
                <a:latin typeface="Calibri"/>
              </a:rPr>
              <a:t>modelled hourly rows stored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6655C"/>
                </a:solidFill>
                <a:latin typeface="Calibri"/>
              </a:rPr>
              <a:t>Real station readings always win; modelled history is Google's 500 m estimate and never appears as live. Counts as of 29 Sep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4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300">
                <a:solidFill>
                  <a:srgbClr val="7CE3A0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What the live system is doing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560320" cy="1965960"/>
          </a:xfrm>
          <a:prstGeom prst="roundRect">
            <a:avLst>
              <a:gd name="adj" fmla="val 5000"/>
            </a:avLst>
          </a:prstGeom>
          <a:solidFill>
            <a:srgbClr val="132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984248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7CE3A0"/>
                </a:solidFill>
                <a:latin typeface="Georgi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D7E6DC"/>
                </a:solidFill>
                <a:latin typeface="Calibri"/>
              </a:rPr>
              <a:t>BRICS capitals, each with its own limits, languages and forecast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83080"/>
            <a:ext cx="2560320" cy="1965960"/>
          </a:xfrm>
          <a:prstGeom prst="roundRect">
            <a:avLst>
              <a:gd name="adj" fmla="val 5000"/>
            </a:avLst>
          </a:prstGeom>
          <a:solidFill>
            <a:srgbClr val="132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984248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7CE3A0"/>
                </a:solidFill>
                <a:latin typeface="Georgia"/>
              </a:rPr>
              <a:t>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74320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D7E6DC"/>
                </a:solidFill>
                <a:latin typeface="Calibri"/>
              </a:rPr>
              <a:t>ground stations streaming into BigQuery every 30 minutes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560320" cy="1965960"/>
          </a:xfrm>
          <a:prstGeom prst="roundRect">
            <a:avLst>
              <a:gd name="adj" fmla="val 5000"/>
            </a:avLst>
          </a:prstGeom>
          <a:solidFill>
            <a:srgbClr val="132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984248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7CE3A0"/>
                </a:solidFill>
                <a:latin typeface="Georgia"/>
              </a:rPr>
              <a:t>46 of 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D7E6DC"/>
                </a:solidFill>
                <a:latin typeface="Calibri"/>
              </a:rPr>
              <a:t>hotspots raised automatically from stations and satellites, no photo needed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39" y="1783080"/>
            <a:ext cx="2560320" cy="1965960"/>
          </a:xfrm>
          <a:prstGeom prst="roundRect">
            <a:avLst>
              <a:gd name="adj" fmla="val 5000"/>
            </a:avLst>
          </a:prstGeom>
          <a:solidFill>
            <a:srgbClr val="132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39" y="1984248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7CE3A0"/>
                </a:solidFill>
                <a:latin typeface="Georgia"/>
              </a:rPr>
              <a:t>≈71,838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39" y="274320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D7E6DC"/>
                </a:solidFill>
                <a:latin typeface="Calibri"/>
              </a:rPr>
              <a:t>residents within 1 km of Beijing's Temple of Heaven, from WorldPop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2560320" cy="1965960"/>
          </a:xfrm>
          <a:prstGeom prst="roundRect">
            <a:avLst>
              <a:gd name="adj" fmla="val 5000"/>
            </a:avLst>
          </a:prstGeom>
          <a:solidFill>
            <a:srgbClr val="132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224528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7CE3A0"/>
                </a:solidFill>
                <a:latin typeface="Georgia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98348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D7E6DC"/>
                </a:solidFill>
                <a:latin typeface="Calibri"/>
              </a:rPr>
              <a:t>interface languages, with read-aloud where the device has a voice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4023360"/>
            <a:ext cx="2560320" cy="1965960"/>
          </a:xfrm>
          <a:prstGeom prst="roundRect">
            <a:avLst>
              <a:gd name="adj" fmla="val 5000"/>
            </a:avLst>
          </a:prstGeom>
          <a:solidFill>
            <a:srgbClr val="132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4224528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7CE3A0"/>
                </a:solidFill>
                <a:latin typeface="Georgia"/>
              </a:rPr>
              <a:t>72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98348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D7E6DC"/>
                </a:solidFill>
                <a:latin typeface="Calibri"/>
              </a:rPr>
              <a:t>window for residents to confirm or dispute a fix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23360"/>
            <a:ext cx="2560320" cy="1965960"/>
          </a:xfrm>
          <a:prstGeom prst="roundRect">
            <a:avLst>
              <a:gd name="adj" fmla="val 5000"/>
            </a:avLst>
          </a:prstGeom>
          <a:solidFill>
            <a:srgbClr val="132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4224528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7CE3A0"/>
                </a:solidFill>
                <a:latin typeface="Georg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98348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D7E6DC"/>
                </a:solidFill>
                <a:latin typeface="Calibri"/>
              </a:rPr>
              <a:t>signals behind a repeat-hotspot flag: episodes, report days, failed fixes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39" y="4023360"/>
            <a:ext cx="2560320" cy="1965960"/>
          </a:xfrm>
          <a:prstGeom prst="roundRect">
            <a:avLst>
              <a:gd name="adj" fmla="val 5000"/>
            </a:avLst>
          </a:prstGeom>
          <a:solidFill>
            <a:srgbClr val="132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439" y="4224528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7CE3A0"/>
                </a:solidFill>
                <a:latin typeface="Georgia"/>
              </a:rPr>
              <a:t>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39" y="4983480"/>
            <a:ext cx="2148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D7E6DC"/>
                </a:solidFill>
                <a:latin typeface="Calibri"/>
              </a:rPr>
              <a:t>automated tests, plus a live end-to-end check of the fix-check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FB39E"/>
                </a:solidFill>
                <a:latin typeface="Calibri"/>
              </a:rPr>
              <a:t>Live counts from BigQuery and Firestore on 29 Sep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9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BY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3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nation keeps its own rules and language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603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pic>
        <p:nvPicPr>
          <p:cNvPr id="5" name="Image 0" descr="C:\Users\HP\AppData\Local\Temp\claude\c--Lang-CleanAir\56a71f3b-c363-4f11-88d5-1ceb8490b8f6\scratchpad\deck\gfx\city-del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Delhi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2286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718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limit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µg/m³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/ DPCC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83864" y="1645920"/>
            <a:ext cx="25603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pic>
        <p:nvPicPr>
          <p:cNvPr id="10" name="Image 1" descr="C:\Users\HP\AppData\Local\Temp\claude\c--Lang-CleanAir\56a71f3b-c363-4f11-88d5-1ceb8490b8f6\scratchpad\deck\gfx\city-beij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024" y="1783080"/>
            <a:ext cx="1051560" cy="10515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64024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Beijing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764024" y="2286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666744" y="29718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limit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µg/m³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network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327648" y="1645920"/>
            <a:ext cx="25603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pic>
        <p:nvPicPr>
          <p:cNvPr id="15" name="Image 2" descr="C:\Users\HP\AppData\Local\Temp\claude\c--Lang-CleanAir\56a71f3b-c363-4f11-88d5-1ceb8490b8f6\scratchpad\deck\gfx\city-mosc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1783080"/>
            <a:ext cx="1051560" cy="10515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607808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7607808" y="2286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510528" y="29718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limit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µg/m³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Russian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Mosecomonitoring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171432" y="1645920"/>
            <a:ext cx="25603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pic>
        <p:nvPicPr>
          <p:cNvPr id="20" name="Image 3" descr="C:\Users\HP\AppData\Local\Temp\claude\c--Lang-CleanAir\56a71f3b-c363-4f11-88d5-1ceb8490b8f6\scratchpad\deck\gfx\city-pretor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8592" y="1783080"/>
            <a:ext cx="1051560" cy="10515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451592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Pretoria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10451592" y="2286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9354312" y="29718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limit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µg/m³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SAAQIS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4206240"/>
            <a:ext cx="25603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pic>
        <p:nvPicPr>
          <p:cNvPr id="25" name="Image 4" descr="C:\Users\HP\AppData\Local\Temp\claude\c--Lang-CleanAir\56a71f3b-c363-4f11-88d5-1ceb8490b8f6\scratchpad\deck\gfx\city-abu-dhab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343400"/>
            <a:ext cx="1051560" cy="10515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920240" y="4480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 Dhabi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92024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55321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limit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µg/m³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3483864" y="4206240"/>
            <a:ext cx="25603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pic>
        <p:nvPicPr>
          <p:cNvPr id="30" name="Image 5" descr="C:\Users\HP\AppData\Local\Temp\claude\c--Lang-CleanAir\56a71f3b-c363-4f11-88d5-1ceb8490b8f6\scratchpad\deck\gfx\city-jakart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1024" y="4343400"/>
            <a:ext cx="1051560" cy="10515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764024" y="4480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4764024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3666744" y="55321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limit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µg/m³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Indonesian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KLHK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6327648" y="4206240"/>
            <a:ext cx="25603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D9E3DC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pic>
        <p:nvPicPr>
          <p:cNvPr id="35" name="Image 6" descr="C:\Users\HP\AppData\Local\Temp\claude\c--Lang-CleanAir\56a71f3b-c363-4f11-88d5-1ceb8490b8f6\scratchpad\deck\gfx\city-brasili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4808" y="4343400"/>
            <a:ext cx="1051560" cy="10515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607808" y="4480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Brasília</a:t>
            </a:r>
            <a:endParaRPr lang="en-US" sz="1600" dirty="0"/>
          </a:p>
        </p:txBody>
      </p:sp>
      <p:sp>
        <p:nvSpPr>
          <p:cNvPr id="37" name="Text 28"/>
          <p:cNvSpPr txBox="1"/>
          <p:nvPr/>
        </p:nvSpPr>
        <p:spPr>
          <a:xfrm>
            <a:off x="7607808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6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6510528" y="55321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limit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µg/m³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 </a:t>
            </a:r>
            <a:r>
              <a:rPr lang="en-US" sz="1200" dirty="0">
                <a:solidFill>
                  <a:srgbClr val="1423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 network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9171432" y="4206240"/>
            <a:ext cx="2560320" cy="2331720"/>
          </a:xfrm>
          <a:prstGeom prst="roundRect">
            <a:avLst>
              <a:gd name="adj" fmla="val 5490"/>
            </a:avLst>
          </a:prstGeom>
          <a:solidFill>
            <a:srgbClr val="0E1F17"/>
          </a:solidFill>
          <a:ln w="12700">
            <a:solidFill>
              <a:srgbClr val="0E1F17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40" name="Text 31"/>
          <p:cNvSpPr txBox="1"/>
          <p:nvPr/>
        </p:nvSpPr>
        <p:spPr>
          <a:xfrm>
            <a:off x="9400032" y="4434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capital is one configuration entry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9400032" y="530352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Boundary, station network, legal limits, fire region, agencies, languages and time zone. No code changes.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P\AppData\Local\Temp\claude\c--Lang-CleanAir\56a71f3b-c363-4f11-88d5-1ceb8490b8f6\scratchpad\deck\gfx\cover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17">
              <a:alpha val="65000"/>
            </a:srgbClr>
          </a:solidFill>
          <a:ln w="12700">
            <a:solidFill>
              <a:srgbClr val="0E1F17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CE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VAYUSETU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 air, verified street by street, across BRICS.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063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7CE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Google Cloud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520440"/>
            <a:ext cx="811987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8119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580083" y="3520440"/>
            <a:ext cx="1349654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80083" y="3520440"/>
            <a:ext cx="13496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Engine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057754" y="3520440"/>
            <a:ext cx="1260043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57754" y="3520440"/>
            <a:ext cx="12600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ML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445813" y="3520440"/>
            <a:ext cx="1708099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45813" y="3520440"/>
            <a:ext cx="17080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&amp; Auth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20440"/>
            <a:ext cx="1260043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81928" y="3520440"/>
            <a:ext cx="12600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Hosting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3995928"/>
            <a:ext cx="1439266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3995928"/>
            <a:ext cx="1439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&amp; Places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207362" y="3995928"/>
            <a:ext cx="1618488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07362" y="3995928"/>
            <a:ext cx="161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API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953866" y="3995928"/>
            <a:ext cx="1528877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953866" y="3995928"/>
            <a:ext cx="1528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10758" y="3995928"/>
            <a:ext cx="1618488" cy="365760"/>
          </a:xfrm>
          <a:prstGeom prst="roundRect">
            <a:avLst>
              <a:gd name="adj" fmla="val 50000"/>
            </a:avLst>
          </a:prstGeom>
          <a:ln w="12700">
            <a:solidFill>
              <a:srgbClr val="6FA18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10758" y="3995928"/>
            <a:ext cx="161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46360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7CE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40080" y="5093208"/>
            <a:ext cx="1170432" cy="365760"/>
          </a:xfrm>
          <a:prstGeom prst="roundRect">
            <a:avLst>
              <a:gd name="adj" fmla="val 50000"/>
            </a:avLst>
          </a:prstGeom>
          <a:ln w="12700">
            <a:solidFill>
              <a:srgbClr val="4E7A6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" y="5093208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938528" y="5093208"/>
            <a:ext cx="2245766" cy="365760"/>
          </a:xfrm>
          <a:prstGeom prst="roundRect">
            <a:avLst>
              <a:gd name="adj" fmla="val 50000"/>
            </a:avLst>
          </a:prstGeom>
          <a:ln w="12700">
            <a:solidFill>
              <a:srgbClr val="4E7A6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938528" y="5093208"/>
            <a:ext cx="22457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Sentinel-5P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312310" y="5093208"/>
            <a:ext cx="632765" cy="365760"/>
          </a:xfrm>
          <a:prstGeom prst="roundRect">
            <a:avLst>
              <a:gd name="adj" fmla="val 50000"/>
            </a:avLst>
          </a:prstGeom>
          <a:ln w="12700">
            <a:solidFill>
              <a:srgbClr val="4E7A6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312310" y="5093208"/>
            <a:ext cx="632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WAQI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073091" y="5093208"/>
            <a:ext cx="632765" cy="365760"/>
          </a:xfrm>
          <a:prstGeom prst="roundRect">
            <a:avLst>
              <a:gd name="adj" fmla="val 50000"/>
            </a:avLst>
          </a:prstGeom>
          <a:ln w="12700">
            <a:solidFill>
              <a:srgbClr val="4E7A6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3091" y="5093208"/>
            <a:ext cx="632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833872" y="5093208"/>
            <a:ext cx="1439266" cy="365760"/>
          </a:xfrm>
          <a:prstGeom prst="roundRect">
            <a:avLst>
              <a:gd name="adj" fmla="val 50000"/>
            </a:avLst>
          </a:prstGeom>
          <a:ln w="12700">
            <a:solidFill>
              <a:srgbClr val="4E7A6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833872" y="5093208"/>
            <a:ext cx="14392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0080" y="5568696"/>
            <a:ext cx="1170432" cy="365760"/>
          </a:xfrm>
          <a:prstGeom prst="roundRect">
            <a:avLst>
              <a:gd name="adj" fmla="val 50000"/>
            </a:avLst>
          </a:prstGeom>
          <a:ln w="12700">
            <a:solidFill>
              <a:srgbClr val="4E7A6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0080" y="5568696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7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229600" y="1188720"/>
            <a:ext cx="3337560" cy="4480560"/>
          </a:xfrm>
          <a:prstGeom prst="roundRect">
            <a:avLst>
              <a:gd name="adj" fmla="val 3836"/>
            </a:avLst>
          </a:prstGeom>
          <a:solidFill>
            <a:srgbClr val="13291D"/>
          </a:solidFill>
          <a:ln w="12700">
            <a:solidFill>
              <a:srgbClr val="2B5A40"/>
            </a:solidFill>
            <a:prstDash val="solid"/>
          </a:ln>
          <a:effectLst>
            <a:outerShdw blurRad="127000" dist="25400" dir="5400000" algn="bl" rotWithShape="0">
              <a:srgbClr val="0E1F17">
                <a:alpha val="8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8503920" y="1463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Citizens</a:t>
            </a:r>
            <a:endParaRPr 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8503920" y="19019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9D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 their language and see what happened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8503920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Operators</a:t>
            </a:r>
            <a:endParaRPr lang="en-US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8503920" y="32735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9D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ranked, evidence-backed hotspots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8503920" y="4206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Nations</a:t>
            </a:r>
            <a:endParaRPr lang="en-US" sz="2000" dirty="0"/>
          </a:p>
        </p:txBody>
      </p:sp>
      <p:sp>
        <p:nvSpPr>
          <p:cNvPr id="44" name="Text 41"/>
          <p:cNvSpPr txBox="1"/>
          <p:nvPr/>
        </p:nvSpPr>
        <p:spPr>
          <a:xfrm>
            <a:off x="8503920" y="46451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9D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one engine and keep their own rules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8229600" y="58978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CE3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2528</Words>
  <Application>Microsoft Office PowerPoint</Application>
  <PresentationFormat>Widescreen</PresentationFormat>
  <Paragraphs>307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VayuSetu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VayuSetu — hyperlocal air-pollution intelligence for BRICS capitals</dc:title>
  <dc:subject>PptxGenJS Presentation</dc:subject>
  <dc:creator>PptxGenJS</dc:creator>
  <cp:lastModifiedBy>Harshit .A</cp:lastModifiedBy>
  <cp:revision>3</cp:revision>
  <dcterms:created xsi:type="dcterms:W3CDTF">2026-09-26T14:36:01Z</dcterms:created>
  <dcterms:modified xsi:type="dcterms:W3CDTF">2026-09-28T22:21:06Z</dcterms:modified>
</cp:coreProperties>
</file>